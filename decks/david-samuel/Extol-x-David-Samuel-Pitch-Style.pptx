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4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5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6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7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Reactions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Posts with real people</c:v>
                  </c:pt>
                  <c:pt idx="1">
                    <c:v>Framework posts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69</c:v>
                </c:pt>
                <c:pt idx="1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0000"/>
              </a:solidFill>
              <a:effectLst/>
            </c:spPr>
          </c:dPt>
          <c:dPt>
            <c:idx val="1"/>
            <c:bubble3D val="0"/>
            <c:spPr>
              <a:solidFill>
                <a:srgbClr val="BDBDB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DM San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Just “congrats”</c:v>
                </c:pt>
                <c:pt idx="1">
                  <c:v>Made a real point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76</c:v>
                </c:pt>
                <c:pt idx="1">
                  <c:v>24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0000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0000"/>
              </a:solidFill>
              <a:effectLst/>
            </c:spPr>
          </c:dPt>
          <c:dPt>
            <c:idx val="1"/>
            <c:bubble3D val="0"/>
            <c:spPr>
              <a:solidFill>
                <a:srgbClr val="6B6B6B"/>
              </a:solidFill>
              <a:effectLst/>
            </c:spPr>
          </c:dPt>
          <c:dPt>
            <c:idx val="2"/>
            <c:bubble3D val="0"/>
            <c:spPr>
              <a:solidFill>
                <a:srgbClr val="BDBDB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DM San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Weekly call</c:v>
                </c:pt>
                <c:pt idx="1">
                  <c:v>Approvals</c:v>
                </c:pt>
                <c:pt idx="2">
                  <c:v>Raw note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</c:v>
                </c:pt>
                <c:pt idx="1">
                  <c:v>50</c:v>
                </c:pt>
                <c:pt idx="2">
                  <c:v>30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400">
              <a:solidFill>
                <a:srgbClr val="00000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 month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Requests</c:v>
                  </c:pt>
                  <c:pt idx="1">
                    <c:v>Accepted</c:v>
                  </c:pt>
                  <c:pt idx="2">
                    <c:v>Replied</c:v>
                  </c:pt>
                  <c:pt idx="3">
                    <c:v>Calls booked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400</c:v>
                </c:pt>
                <c:pt idx="1">
                  <c:v>150</c:v>
                </c:pt>
                <c:pt idx="2">
                  <c:v>27</c:v>
                </c:pt>
                <c:pt idx="3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Leads</c:v>
                </c:pt>
              </c:strCache>
            </c:strRef>
          </c:tx>
          <c:spPr>
            <a:solidFill>
              <a:srgbClr val="000000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Month 1</c:v>
                  </c:pt>
                  <c:pt idx="1">
                    <c:v>Month 3</c:v>
                  </c:pt>
                  <c:pt idx="2">
                    <c:v>Month 6</c:v>
                  </c:pt>
                  <c:pt idx="3">
                    <c:v>Month 12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</c:v>
                </c:pt>
                <c:pt idx="1">
                  <c:v>71</c:v>
                </c:pt>
                <c:pt idx="2">
                  <c:v>101</c:v>
                </c:pt>
                <c:pt idx="3">
                  <c:v>126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00000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fee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1.5</c:v>
                </c:pt>
                <c:pt idx="1">
                  <c:v>2.7</c:v>
                </c:pt>
                <c:pt idx="2">
                  <c:v>3.9</c:v>
                </c:pt>
                <c:pt idx="3">
                  <c:v>6.4</c:v>
                </c:pt>
                <c:pt idx="4">
                  <c:v>8.9</c:v>
                </c:pt>
                <c:pt idx="5">
                  <c:v>11.4</c:v>
                </c:pt>
                <c:pt idx="6">
                  <c:v>13.9</c:v>
                </c:pt>
                <c:pt idx="7">
                  <c:v>16.4</c:v>
                </c:pt>
                <c:pt idx="8">
                  <c:v>18.9</c:v>
                </c:pt>
                <c:pt idx="9">
                  <c:v>21.4</c:v>
                </c:pt>
                <c:pt idx="10">
                  <c:v>23.9</c:v>
                </c:pt>
                <c:pt idx="11">
                  <c:v>26.4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£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£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Year-one fee</c:v>
                  </c:pt>
                  <c:pt idx="1">
                    <c:v>Small advisory piece</c:v>
                  </c:pt>
                  <c:pt idx="2">
                    <c:v>Mid-size engagement</c:v>
                  </c:pt>
                  <c:pt idx="3">
                    <c:v>Two engagements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26400</c:v>
                </c:pt>
                <c:pt idx="1">
                  <c:v>50000</c:v>
                </c:pt>
                <c:pt idx="2">
                  <c:v>150000</c:v>
                </c:pt>
                <c:pt idx="3">
                  <c:v>500000</c:v>
                </c:pt>
              </c:numCache>
            </c:numRef>
          </c:val>
        </c:ser>
        <c:dLbls>
          <c:numFmt formatCode="£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agree how David works alongside Extol to advise, guide and bring in new 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Extol is two founders plus AI agents we built ourselves. Agents do the work; people approve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from a real October audit of a client (name kept private).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3D Images AI and Bloggerly are public. The consultancy is under 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Thought leadership is the strategy; every channel serves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Pace stays well under LinkedIn's limits: 5 requests a day, rising to 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platform gets its own version, never a copy-paste.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Buyer sessions sell the expertise; community sessions build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Taste is Extol's creative-direction library, curated by our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answers the most common worry: 'I don't have time.'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Founding-client price. Prices exclude VAT.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David which of the three he wants to lead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honest about our gaps gets better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Terms deliberately left open to agree in the meeting. Decide our walk-away numbers beforehand.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asking: which market do you know best, and who comes to mind first?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DM Sans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DM Sans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DM Sans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DM Sans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DM Sans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DM Sans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DM Sans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DM Sans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DM Sans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1"/>
          <p:cNvSpPr txBox="1"/>
          <p:nvPr/>
        </p:nvSpPr>
        <p:spPr>
          <a:xfrm>
            <a:off x="585216" y="15727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Working together to win new clients.</a:t>
            </a:r>
            <a:endParaRPr lang="en-US" sz="2100" dirty="0"/>
          </a:p>
        </p:txBody>
      </p:sp>
      <p:sp>
        <p:nvSpPr>
          <p:cNvPr id="4" name="text-2"/>
          <p:cNvSpPr txBox="1"/>
          <p:nvPr/>
        </p:nvSpPr>
        <p:spPr>
          <a:xfrm>
            <a:off x="530352" y="1965960"/>
            <a:ext cx="11155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Extol × David</a:t>
            </a:r>
            <a:endParaRPr lang="en-US" sz="11200" dirty="0"/>
          </a:p>
        </p:txBody>
      </p:sp>
      <p:sp>
        <p:nvSpPr>
          <p:cNvPr id="5" name="text-3"/>
          <p:cNvSpPr txBox="1"/>
          <p:nvPr/>
        </p:nvSpPr>
        <p:spPr>
          <a:xfrm>
            <a:off x="585216" y="56509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26 October 2026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Partner briefing</a:t>
            </a:r>
            <a:endParaRPr lang="en-US" sz="1500" dirty="0"/>
          </a:p>
        </p:txBody>
      </p:sp>
      <p:sp>
        <p:nvSpPr>
          <p:cNvPr id="6" name="text-4"/>
          <p:cNvSpPr txBox="1"/>
          <p:nvPr/>
        </p:nvSpPr>
        <p:spPr>
          <a:xfrm>
            <a:off x="4315968" y="56509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David Samuel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Advisor</a:t>
            </a:r>
            <a:endParaRPr lang="en-US" sz="1500" dirty="0"/>
          </a:p>
        </p:txBody>
      </p:sp>
      <p:sp>
        <p:nvSpPr>
          <p:cNvPr id="7" name="text-5"/>
          <p:cNvSpPr txBox="1"/>
          <p:nvPr/>
        </p:nvSpPr>
        <p:spPr>
          <a:xfrm>
            <a:off x="8046720" y="56509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 Affiliates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Growth systems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6"/>
          <p:cNvSpPr txBox="1"/>
          <p:nvPr/>
        </p:nvSpPr>
        <p:spPr>
          <a:xfrm>
            <a:off x="585216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 Affiliates</a:t>
            </a:r>
            <a:endParaRPr lang="en-US" sz="1300" dirty="0"/>
          </a:p>
        </p:txBody>
      </p:sp>
      <p:sp>
        <p:nvSpPr>
          <p:cNvPr id="3" name="text-7"/>
          <p:cNvSpPr txBox="1"/>
          <p:nvPr/>
        </p:nvSpPr>
        <p:spPr>
          <a:xfrm>
            <a:off x="7946136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Partner Briefing</a:t>
            </a:r>
            <a:endParaRPr lang="en-US" sz="1300" dirty="0"/>
          </a:p>
        </p:txBody>
      </p:sp>
      <p:sp>
        <p:nvSpPr>
          <p:cNvPr id="4" name="text-8"/>
          <p:cNvSpPr txBox="1"/>
          <p:nvPr/>
        </p:nvSpPr>
        <p:spPr>
          <a:xfrm>
            <a:off x="0" y="2331720"/>
            <a:ext cx="121916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 — D</a:t>
            </a:r>
            <a:endParaRPr lang="en-US" sz="11800" dirty="0"/>
          </a:p>
        </p:txBody>
      </p:sp>
      <p:sp>
        <p:nvSpPr>
          <p:cNvPr id="5" name="text-9"/>
          <p:cNvSpPr txBox="1"/>
          <p:nvPr/>
        </p:nvSpPr>
        <p:spPr>
          <a:xfrm>
            <a:off x="585216" y="5870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October 2026</a:t>
            </a:r>
            <a:endParaRPr lang="en-US" sz="1300" dirty="0"/>
          </a:p>
        </p:txBody>
      </p:sp>
      <p:sp>
        <p:nvSpPr>
          <p:cNvPr id="6" name="text-10"/>
          <p:cNvSpPr txBox="1"/>
          <p:nvPr/>
        </p:nvSpPr>
        <p:spPr>
          <a:xfrm>
            <a:off x="7946136" y="5870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Confidential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1"/>
          <p:cNvSpPr txBox="1"/>
          <p:nvPr/>
        </p:nvSpPr>
        <p:spPr>
          <a:xfrm>
            <a:off x="548640" y="384048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Agenda</a:t>
            </a:r>
            <a:endParaRPr lang="en-US" sz="8800" dirty="0"/>
          </a:p>
        </p:txBody>
      </p:sp>
      <p:sp>
        <p:nvSpPr>
          <p:cNvPr id="3" name="text-12"/>
          <p:cNvSpPr txBox="1"/>
          <p:nvPr/>
        </p:nvSpPr>
        <p:spPr>
          <a:xfrm>
            <a:off x="585216" y="43159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</a:t>
            </a:r>
            <a:endParaRPr lang="en-US" sz="1500" dirty="0"/>
          </a:p>
        </p:txBody>
      </p:sp>
      <p:sp>
        <p:nvSpPr>
          <p:cNvPr id="4" name="text-13"/>
          <p:cNvSpPr txBox="1"/>
          <p:nvPr/>
        </p:nvSpPr>
        <p:spPr>
          <a:xfrm>
            <a:off x="3383280" y="4279392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 Who we are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What we’ve done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 What we offer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4. Results and pricing</a:t>
            </a:r>
            <a:endParaRPr lang="en-US" sz="1800" dirty="0"/>
          </a:p>
        </p:txBody>
      </p:sp>
      <p:sp>
        <p:nvSpPr>
          <p:cNvPr id="5" name="text-14"/>
          <p:cNvSpPr txBox="1"/>
          <p:nvPr/>
        </p:nvSpPr>
        <p:spPr>
          <a:xfrm>
            <a:off x="6190488" y="43159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Together</a:t>
            </a:r>
            <a:endParaRPr lang="en-US" sz="1500" dirty="0"/>
          </a:p>
        </p:txBody>
      </p:sp>
      <p:sp>
        <p:nvSpPr>
          <p:cNvPr id="6" name="text-15"/>
          <p:cNvSpPr txBox="1"/>
          <p:nvPr/>
        </p:nvSpPr>
        <p:spPr>
          <a:xfrm>
            <a:off x="8988552" y="4279392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 Your role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Where you can help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 How we work together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4. The first 90 days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6"/>
          <p:cNvSpPr txBox="1"/>
          <p:nvPr/>
        </p:nvSpPr>
        <p:spPr>
          <a:xfrm>
            <a:off x="585216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 Affiliates</a:t>
            </a:r>
            <a:endParaRPr lang="en-US" sz="1300" dirty="0"/>
          </a:p>
        </p:txBody>
      </p:sp>
      <p:sp>
        <p:nvSpPr>
          <p:cNvPr id="3" name="text-17"/>
          <p:cNvSpPr txBox="1"/>
          <p:nvPr/>
        </p:nvSpPr>
        <p:spPr>
          <a:xfrm>
            <a:off x="7406640" y="658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October 2026</a:t>
            </a:r>
            <a:endParaRPr lang="en-US" sz="1300" dirty="0"/>
          </a:p>
        </p:txBody>
      </p:sp>
      <p:sp>
        <p:nvSpPr>
          <p:cNvPr id="4" name="text-18"/>
          <p:cNvSpPr txBox="1"/>
          <p:nvPr/>
        </p:nvSpPr>
        <p:spPr>
          <a:xfrm>
            <a:off x="9317736" y="658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Confidential</a:t>
            </a:r>
            <a:endParaRPr lang="en-US" sz="1300" dirty="0"/>
          </a:p>
        </p:txBody>
      </p:sp>
      <p:sp>
        <p:nvSpPr>
          <p:cNvPr id="5" name="text-19"/>
          <p:cNvSpPr txBox="1"/>
          <p:nvPr/>
        </p:nvSpPr>
        <p:spPr>
          <a:xfrm>
            <a:off x="548640" y="2926080"/>
            <a:ext cx="9326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6000"/>
              </a:lnSpc>
              <a:buNone/>
            </a:pPr>
            <a:r>
              <a:rPr lang="en-US" sz="112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</a:t>
            </a:r>
            <a:endParaRPr lang="en-US" sz="11200" dirty="0"/>
          </a:p>
          <a:p>
            <a:pPr indent="0" marL="0">
              <a:lnSpc>
                <a:spcPct val="86000"/>
              </a:lnSpc>
              <a:buNone/>
            </a:pPr>
            <a:r>
              <a:rPr lang="en-US" sz="112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are</a:t>
            </a:r>
            <a:endParaRPr lang="en-US" sz="11200" dirty="0"/>
          </a:p>
        </p:txBody>
      </p:sp>
      <p:sp>
        <p:nvSpPr>
          <p:cNvPr id="6" name="arrow-20"/>
          <p:cNvSpPr/>
          <p:nvPr/>
        </p:nvSpPr>
        <p:spPr>
          <a:xfrm>
            <a:off x="10927080" y="5440680"/>
            <a:ext cx="658368" cy="658368"/>
          </a:xfrm>
          <a:prstGeom prst="line">
            <a:avLst/>
          </a:prstGeom>
          <a:noFill/>
          <a:ln w="88900">
            <a:solidFill>
              <a:schemeClr val="tx1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21"/>
          <p:cNvSpPr txBox="1"/>
          <p:nvPr/>
        </p:nvSpPr>
        <p:spPr>
          <a:xfrm>
            <a:off x="585216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 Affiliates</a:t>
            </a:r>
            <a:endParaRPr lang="en-US" sz="1500" dirty="0"/>
          </a:p>
        </p:txBody>
      </p:sp>
      <p:sp>
        <p:nvSpPr>
          <p:cNvPr id="4" name="text-22"/>
          <p:cNvSpPr txBox="1"/>
          <p:nvPr/>
        </p:nvSpPr>
        <p:spPr>
          <a:xfrm>
            <a:off x="5202936" y="6583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We make experts the name buyers think of first.</a:t>
            </a:r>
            <a:endParaRPr lang="en-US" sz="1500" dirty="0"/>
          </a:p>
        </p:txBody>
      </p:sp>
      <p:sp>
        <p:nvSpPr>
          <p:cNvPr id="5" name="text-23"/>
          <p:cNvSpPr txBox="1"/>
          <p:nvPr/>
        </p:nvSpPr>
        <p:spPr>
          <a:xfrm>
            <a:off x="685800" y="25146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2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9200" dirty="0"/>
          </a:p>
        </p:txBody>
      </p:sp>
      <p:sp>
        <p:nvSpPr>
          <p:cNvPr id="6" name="text-24"/>
          <p:cNvSpPr txBox="1"/>
          <p:nvPr/>
        </p:nvSpPr>
        <p:spPr>
          <a:xfrm>
            <a:off x="685800" y="3840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Founders</a:t>
            </a:r>
            <a:endParaRPr lang="en-US" sz="1800" dirty="0"/>
          </a:p>
        </p:txBody>
      </p:sp>
      <p:sp>
        <p:nvSpPr>
          <p:cNvPr id="7" name="text-25"/>
          <p:cNvSpPr txBox="1"/>
          <p:nvPr/>
        </p:nvSpPr>
        <p:spPr>
          <a:xfrm>
            <a:off x="4343400" y="25146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2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9200" dirty="0"/>
          </a:p>
        </p:txBody>
      </p:sp>
      <p:sp>
        <p:nvSpPr>
          <p:cNvPr id="8" name="text-26"/>
          <p:cNvSpPr txBox="1"/>
          <p:nvPr/>
        </p:nvSpPr>
        <p:spPr>
          <a:xfrm>
            <a:off x="4343400" y="3840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Platforms per client</a:t>
            </a:r>
            <a:endParaRPr lang="en-US" sz="1800" dirty="0"/>
          </a:p>
        </p:txBody>
      </p:sp>
      <p:sp>
        <p:nvSpPr>
          <p:cNvPr id="9" name="text-27"/>
          <p:cNvSpPr txBox="1"/>
          <p:nvPr/>
        </p:nvSpPr>
        <p:spPr>
          <a:xfrm>
            <a:off x="8001000" y="25146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2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2½h</a:t>
            </a:r>
            <a:endParaRPr lang="en-US" sz="9200" dirty="0"/>
          </a:p>
        </p:txBody>
      </p:sp>
      <p:sp>
        <p:nvSpPr>
          <p:cNvPr id="10" name="text-28"/>
          <p:cNvSpPr txBox="1"/>
          <p:nvPr/>
        </p:nvSpPr>
        <p:spPr>
          <a:xfrm>
            <a:off x="8001000" y="3840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week of client time</a:t>
            </a:r>
            <a:endParaRPr lang="en-US" sz="1800" dirty="0"/>
          </a:p>
        </p:txBody>
      </p:sp>
      <p:sp>
        <p:nvSpPr>
          <p:cNvPr id="11" name="text-29"/>
          <p:cNvSpPr txBox="1"/>
          <p:nvPr/>
        </p:nvSpPr>
        <p:spPr>
          <a:xfrm>
            <a:off x="0" y="585216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Devasya Dwivedi · Anshul Mikita Prajapati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30"/>
          <p:cNvSpPr txBox="1"/>
          <p:nvPr/>
        </p:nvSpPr>
        <p:spPr>
          <a:xfrm>
            <a:off x="585216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 Affiliates</a:t>
            </a:r>
            <a:endParaRPr lang="en-US" sz="1300" dirty="0"/>
          </a:p>
        </p:txBody>
      </p:sp>
      <p:sp>
        <p:nvSpPr>
          <p:cNvPr id="4" name="text-31"/>
          <p:cNvSpPr txBox="1"/>
          <p:nvPr/>
        </p:nvSpPr>
        <p:spPr>
          <a:xfrm>
            <a:off x="6117336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Who we are</a:t>
            </a:r>
            <a:endParaRPr lang="en-US" sz="1300" dirty="0"/>
          </a:p>
        </p:txBody>
      </p:sp>
      <p:sp>
        <p:nvSpPr>
          <p:cNvPr id="5" name="text-32"/>
          <p:cNvSpPr txBox="1"/>
          <p:nvPr/>
        </p:nvSpPr>
        <p:spPr>
          <a:xfrm>
            <a:off x="566928" y="1097280"/>
            <a:ext cx="11018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problem: buyers don’t know great experts exist</a:t>
            </a:r>
            <a:endParaRPr lang="en-US" sz="4000" dirty="0"/>
          </a:p>
        </p:txBody>
      </p:sp>
      <p:sp>
        <p:nvSpPr>
          <p:cNvPr id="6" name="rule-33"/>
          <p:cNvSpPr/>
          <p:nvPr/>
        </p:nvSpPr>
        <p:spPr>
          <a:xfrm>
            <a:off x="585216" y="27432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7" name="text-34"/>
          <p:cNvSpPr txBox="1"/>
          <p:nvPr/>
        </p:nvSpPr>
        <p:spPr>
          <a:xfrm>
            <a:off x="585216" y="29260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-35"/>
          <p:cNvSpPr txBox="1"/>
          <p:nvPr/>
        </p:nvSpPr>
        <p:spPr>
          <a:xfrm>
            <a:off x="585216" y="33375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time</a:t>
            </a:r>
            <a:endParaRPr lang="en-US" sz="2400" dirty="0"/>
          </a:p>
        </p:txBody>
      </p:sp>
      <p:sp>
        <p:nvSpPr>
          <p:cNvPr id="9" name="text-36"/>
          <p:cNvSpPr txBox="1"/>
          <p:nvPr/>
        </p:nvSpPr>
        <p:spPr>
          <a:xfrm>
            <a:off x="585216" y="416052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Experts are busy doing the work. Marketing comes last.</a:t>
            </a:r>
            <a:endParaRPr lang="en-US" sz="1500" dirty="0"/>
          </a:p>
        </p:txBody>
      </p:sp>
      <p:sp>
        <p:nvSpPr>
          <p:cNvPr id="10" name="rule-37"/>
          <p:cNvSpPr/>
          <p:nvPr/>
        </p:nvSpPr>
        <p:spPr>
          <a:xfrm>
            <a:off x="4379976" y="27432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1" name="text-38"/>
          <p:cNvSpPr txBox="1"/>
          <p:nvPr/>
        </p:nvSpPr>
        <p:spPr>
          <a:xfrm>
            <a:off x="4379976" y="29260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-39"/>
          <p:cNvSpPr txBox="1"/>
          <p:nvPr/>
        </p:nvSpPr>
        <p:spPr>
          <a:xfrm>
            <a:off x="4379976" y="33375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system</a:t>
            </a:r>
            <a:endParaRPr lang="en-US" sz="2400" dirty="0"/>
          </a:p>
        </p:txBody>
      </p:sp>
      <p:sp>
        <p:nvSpPr>
          <p:cNvPr id="13" name="text-40"/>
          <p:cNvSpPr txBox="1"/>
          <p:nvPr/>
        </p:nvSpPr>
        <p:spPr>
          <a:xfrm>
            <a:off x="4379976" y="416052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 work comes only from referrals, so growth can’t be planned.</a:t>
            </a:r>
            <a:endParaRPr lang="en-US" sz="1500" dirty="0"/>
          </a:p>
        </p:txBody>
      </p:sp>
      <p:sp>
        <p:nvSpPr>
          <p:cNvPr id="14" name="rule-41"/>
          <p:cNvSpPr/>
          <p:nvPr/>
        </p:nvSpPr>
        <p:spPr>
          <a:xfrm>
            <a:off x="8174736" y="27432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5" name="text-42"/>
          <p:cNvSpPr txBox="1"/>
          <p:nvPr/>
        </p:nvSpPr>
        <p:spPr>
          <a:xfrm>
            <a:off x="8174736" y="29260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-43"/>
          <p:cNvSpPr txBox="1"/>
          <p:nvPr/>
        </p:nvSpPr>
        <p:spPr>
          <a:xfrm>
            <a:off x="8174736" y="33375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 much noise</a:t>
            </a:r>
            <a:endParaRPr lang="en-US" sz="2400" dirty="0"/>
          </a:p>
        </p:txBody>
      </p:sp>
      <p:sp>
        <p:nvSpPr>
          <p:cNvPr id="17" name="text-44"/>
          <p:cNvSpPr txBox="1"/>
          <p:nvPr/>
        </p:nvSpPr>
        <p:spPr>
          <a:xfrm>
            <a:off x="8174736" y="416052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Buyers ignore generic, AI-written posts and messages.</a:t>
            </a:r>
            <a:endParaRPr lang="en-US" sz="1500" dirty="0"/>
          </a:p>
        </p:txBody>
      </p:sp>
      <p:sp>
        <p:nvSpPr>
          <p:cNvPr id="18" name="text-45"/>
          <p:cNvSpPr txBox="1"/>
          <p:nvPr/>
        </p:nvSpPr>
        <p:spPr>
          <a:xfrm>
            <a:off x="585216" y="5760720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Real example: a former Big Four partner had 1,597 LinkedIn followers and 9 reactions per post.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46"/>
          <p:cNvSpPr txBox="1"/>
          <p:nvPr/>
        </p:nvSpPr>
        <p:spPr>
          <a:xfrm>
            <a:off x="585216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 Affiliates</a:t>
            </a:r>
            <a:endParaRPr lang="en-US" sz="1300" dirty="0"/>
          </a:p>
        </p:txBody>
      </p:sp>
      <p:sp>
        <p:nvSpPr>
          <p:cNvPr id="3" name="text-47"/>
          <p:cNvSpPr txBox="1"/>
          <p:nvPr/>
        </p:nvSpPr>
        <p:spPr>
          <a:xfrm>
            <a:off x="6117336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Who we are</a:t>
            </a:r>
            <a:endParaRPr lang="en-US" sz="1300" dirty="0"/>
          </a:p>
        </p:txBody>
      </p:sp>
      <p:sp>
        <p:nvSpPr>
          <p:cNvPr id="4" name="text-48"/>
          <p:cNvSpPr txBox="1"/>
          <p:nvPr/>
        </p:nvSpPr>
        <p:spPr>
          <a:xfrm>
            <a:off x="566928" y="1097280"/>
            <a:ext cx="11018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audit shows it: real stories get 6× more attention</a:t>
            </a:r>
            <a:endParaRPr lang="en-US" sz="4000" dirty="0"/>
          </a:p>
        </p:txBody>
      </p:sp>
      <p:sp>
        <p:nvSpPr>
          <p:cNvPr id="5" name="text-49"/>
          <p:cNvSpPr txBox="1"/>
          <p:nvPr/>
        </p:nvSpPr>
        <p:spPr>
          <a:xfrm>
            <a:off x="585216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Insights</a:t>
            </a:r>
            <a:endParaRPr lang="en-US" sz="1300" dirty="0"/>
          </a:p>
        </p:txBody>
      </p:sp>
      <p:sp>
        <p:nvSpPr>
          <p:cNvPr id="6" name="rule-50"/>
          <p:cNvSpPr/>
          <p:nvPr/>
        </p:nvSpPr>
        <p:spPr>
          <a:xfrm>
            <a:off x="585216" y="3017520"/>
            <a:ext cx="329184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7" name="text-51"/>
          <p:cNvSpPr txBox="1"/>
          <p:nvPr/>
        </p:nvSpPr>
        <p:spPr>
          <a:xfrm>
            <a:off x="585216" y="320040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Posts with named people got 69 reactions on average. Framework posts got 11.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76% of their comments were just “congrats”.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expertise is there. It isn’t reaching buyers.</a:t>
            </a:r>
            <a:endParaRPr lang="en-US" sz="1500" dirty="0"/>
          </a:p>
        </p:txBody>
      </p:sp>
      <p:sp>
        <p:nvSpPr>
          <p:cNvPr id="8" name="text-52"/>
          <p:cNvSpPr txBox="1"/>
          <p:nvPr/>
        </p:nvSpPr>
        <p:spPr>
          <a:xfrm>
            <a:off x="4480560" y="26517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Average reactions per post</a:t>
            </a:r>
            <a:endParaRPr lang="en-US" sz="1300" dirty="0"/>
          </a:p>
        </p:txBody>
      </p:sp>
      <p:graphicFrame>
        <p:nvGraphicFramePr>
          <p:cNvPr id="9" name="stories-chart" descr=""/>
          <p:cNvGraphicFramePr/>
          <p:nvPr/>
        </p:nvGraphicFramePr>
        <p:xfrm>
          <a:off x="4480560" y="2971800"/>
          <a:ext cx="41148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-53"/>
          <p:cNvSpPr txBox="1"/>
          <p:nvPr/>
        </p:nvSpPr>
        <p:spPr>
          <a:xfrm>
            <a:off x="4480560" y="61722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Source: Extol LinkedIn audit, October 2026 (client name kept private)</a:t>
            </a:r>
            <a:endParaRPr lang="en-US" sz="1000" dirty="0"/>
          </a:p>
        </p:txBody>
      </p:sp>
      <p:sp>
        <p:nvSpPr>
          <p:cNvPr id="11" name="text-54"/>
          <p:cNvSpPr txBox="1"/>
          <p:nvPr/>
        </p:nvSpPr>
        <p:spPr>
          <a:xfrm>
            <a:off x="8915400" y="26517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What their comments said</a:t>
            </a:r>
            <a:endParaRPr lang="en-US" sz="1300" dirty="0"/>
          </a:p>
        </p:txBody>
      </p:sp>
      <p:graphicFrame>
        <p:nvGraphicFramePr>
          <p:cNvPr id="12" name="comments-chart" descr=""/>
          <p:cNvGraphicFramePr/>
          <p:nvPr/>
        </p:nvGraphicFramePr>
        <p:xfrm>
          <a:off x="8778240" y="2971800"/>
          <a:ext cx="28346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55"/>
          <p:cNvSpPr txBox="1"/>
          <p:nvPr/>
        </p:nvSpPr>
        <p:spPr>
          <a:xfrm>
            <a:off x="585216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 Affiliates</a:t>
            </a:r>
            <a:endParaRPr lang="en-US" sz="1300" dirty="0"/>
          </a:p>
        </p:txBody>
      </p:sp>
      <p:sp>
        <p:nvSpPr>
          <p:cNvPr id="3" name="text-56"/>
          <p:cNvSpPr txBox="1"/>
          <p:nvPr/>
        </p:nvSpPr>
        <p:spPr>
          <a:xfrm>
            <a:off x="7406640" y="658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October 2026</a:t>
            </a:r>
            <a:endParaRPr lang="en-US" sz="1300" dirty="0"/>
          </a:p>
        </p:txBody>
      </p:sp>
      <p:sp>
        <p:nvSpPr>
          <p:cNvPr id="4" name="text-57"/>
          <p:cNvSpPr txBox="1"/>
          <p:nvPr/>
        </p:nvSpPr>
        <p:spPr>
          <a:xfrm>
            <a:off x="9317736" y="658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Confidential</a:t>
            </a:r>
            <a:endParaRPr lang="en-US" sz="1300" dirty="0"/>
          </a:p>
        </p:txBody>
      </p:sp>
      <p:sp>
        <p:nvSpPr>
          <p:cNvPr id="5" name="text-58"/>
          <p:cNvSpPr txBox="1"/>
          <p:nvPr/>
        </p:nvSpPr>
        <p:spPr>
          <a:xfrm>
            <a:off x="548640" y="2926080"/>
            <a:ext cx="9326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6000"/>
              </a:lnSpc>
              <a:buNone/>
            </a:pPr>
            <a:r>
              <a:rPr lang="en-US" sz="112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</a:t>
            </a:r>
            <a:endParaRPr lang="en-US" sz="11200" dirty="0"/>
          </a:p>
          <a:p>
            <a:pPr indent="0" marL="0">
              <a:lnSpc>
                <a:spcPct val="86000"/>
              </a:lnSpc>
              <a:buNone/>
            </a:pPr>
            <a:r>
              <a:rPr lang="en-US" sz="112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we’ve done</a:t>
            </a:r>
            <a:endParaRPr lang="en-US" sz="11200" dirty="0"/>
          </a:p>
        </p:txBody>
      </p:sp>
      <p:sp>
        <p:nvSpPr>
          <p:cNvPr id="6" name="arrow-59"/>
          <p:cNvSpPr/>
          <p:nvPr/>
        </p:nvSpPr>
        <p:spPr>
          <a:xfrm>
            <a:off x="10927080" y="5440680"/>
            <a:ext cx="658368" cy="658368"/>
          </a:xfrm>
          <a:prstGeom prst="line">
            <a:avLst/>
          </a:prstGeom>
          <a:noFill/>
          <a:ln w="88900">
            <a:solidFill>
              <a:schemeClr val="tx1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60"/>
          <p:cNvSpPr txBox="1"/>
          <p:nvPr/>
        </p:nvSpPr>
        <p:spPr>
          <a:xfrm>
            <a:off x="585216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 Affiliates</a:t>
            </a:r>
            <a:endParaRPr lang="en-US" sz="1300" dirty="0"/>
          </a:p>
        </p:txBody>
      </p:sp>
      <p:sp>
        <p:nvSpPr>
          <p:cNvPr id="4" name="text-61"/>
          <p:cNvSpPr txBox="1"/>
          <p:nvPr/>
        </p:nvSpPr>
        <p:spPr>
          <a:xfrm>
            <a:off x="6117336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What we’ve done</a:t>
            </a:r>
            <a:endParaRPr lang="en-US" sz="1300" dirty="0"/>
          </a:p>
        </p:txBody>
      </p:sp>
      <p:sp>
        <p:nvSpPr>
          <p:cNvPr id="5" name="text-62"/>
          <p:cNvSpPr txBox="1"/>
          <p:nvPr/>
        </p:nvSpPr>
        <p:spPr>
          <a:xfrm>
            <a:off x="566928" y="1097280"/>
            <a:ext cx="11018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clients, three markets, one method</a:t>
            </a:r>
            <a:endParaRPr lang="en-US" sz="4000" dirty="0"/>
          </a:p>
        </p:txBody>
      </p:sp>
      <p:graphicFrame>
        <p:nvGraphicFramePr>
          <p:cNvPr id="10" name="table-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" y="2651760"/>
          <a:ext cx="110185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566160"/>
                <a:gridCol w="4709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DM Mono" pitchFamily="34" charset="0"/>
                          <a:ea typeface="DM Mono" pitchFamily="34" charset="-122"/>
                          <a:cs typeface="DM Mono" pitchFamily="34" charset="-120"/>
                        </a:rPr>
                        <a:t>Client</a:t>
                      </a:r>
                      <a:endParaRPr lang="en-US" sz="1200" dirty="0">
                        <a:latin typeface="DM Mono" charset="0"/>
                        <a:ea typeface="DM Mono" charset="0"/>
                        <a:cs typeface="DM Mono" charset="0"/>
                      </a:endParaRPr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DM Mono" pitchFamily="34" charset="0"/>
                          <a:ea typeface="DM Mono" pitchFamily="34" charset="-122"/>
                          <a:cs typeface="DM Mono" pitchFamily="34" charset="-120"/>
                        </a:rPr>
                        <a:t>What they sell</a:t>
                      </a:r>
                      <a:endParaRPr lang="en-US" sz="1200" dirty="0">
                        <a:latin typeface="DM Mono" charset="0"/>
                        <a:ea typeface="DM Mono" charset="0"/>
                        <a:cs typeface="DM Mono" charset="0"/>
                      </a:endParaRPr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DM Mono" pitchFamily="34" charset="0"/>
                          <a:ea typeface="DM Mono" pitchFamily="34" charset="-122"/>
                          <a:cs typeface="DM Mono" pitchFamily="34" charset="-120"/>
                        </a:rPr>
                        <a:t>What we did</a:t>
                      </a:r>
                      <a:endParaRPr lang="en-US" sz="1200" dirty="0">
                        <a:latin typeface="DM Mono" charset="0"/>
                        <a:ea typeface="DM Mono" charset="0"/>
                        <a:cs typeface="DM Mono" charset="0"/>
                      </a:endParaRPr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3D Images AI</a:t>
                      </a:r>
                      <a:endParaRPr lang="en-US" sz="18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3D product models for Amazon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Outreach to 2,100+ Amazon brand owners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Bloggerly</a:t>
                      </a:r>
                      <a:endParaRPr lang="en-US" sz="18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SEO articles for businesses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LinkedIn campaign; leads now asking for calls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UK consultancy</a:t>
                      </a:r>
                      <a:endParaRPr lang="en-US" sz="18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Finance and SAP advice (under NDA)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Full growth plan, delivered the day after the first call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rule-64"/>
          <p:cNvSpPr/>
          <p:nvPr/>
        </p:nvSpPr>
        <p:spPr>
          <a:xfrm>
            <a:off x="585216" y="5166360"/>
            <a:ext cx="1101852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text-65"/>
          <p:cNvSpPr txBox="1"/>
          <p:nvPr/>
        </p:nvSpPr>
        <p:spPr>
          <a:xfrm>
            <a:off x="585216" y="5349240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own proof: when Extol’s LinkedIn page reached about 50 followers, new clients started coming to us.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66"/>
          <p:cNvSpPr txBox="1"/>
          <p:nvPr/>
        </p:nvSpPr>
        <p:spPr>
          <a:xfrm>
            <a:off x="585216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 Affiliates</a:t>
            </a:r>
            <a:endParaRPr lang="en-US" sz="1300" dirty="0"/>
          </a:p>
        </p:txBody>
      </p:sp>
      <p:sp>
        <p:nvSpPr>
          <p:cNvPr id="3" name="text-67"/>
          <p:cNvSpPr txBox="1"/>
          <p:nvPr/>
        </p:nvSpPr>
        <p:spPr>
          <a:xfrm>
            <a:off x="7406640" y="658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October 2026</a:t>
            </a:r>
            <a:endParaRPr lang="en-US" sz="1300" dirty="0"/>
          </a:p>
        </p:txBody>
      </p:sp>
      <p:sp>
        <p:nvSpPr>
          <p:cNvPr id="4" name="text-68"/>
          <p:cNvSpPr txBox="1"/>
          <p:nvPr/>
        </p:nvSpPr>
        <p:spPr>
          <a:xfrm>
            <a:off x="9317736" y="658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Confidential</a:t>
            </a:r>
            <a:endParaRPr lang="en-US" sz="1300" dirty="0"/>
          </a:p>
        </p:txBody>
      </p:sp>
      <p:sp>
        <p:nvSpPr>
          <p:cNvPr id="5" name="text-69"/>
          <p:cNvSpPr txBox="1"/>
          <p:nvPr/>
        </p:nvSpPr>
        <p:spPr>
          <a:xfrm>
            <a:off x="548640" y="2926080"/>
            <a:ext cx="9326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6000"/>
              </a:lnSpc>
              <a:buNone/>
            </a:pPr>
            <a:r>
              <a:rPr lang="en-US" sz="112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</a:t>
            </a:r>
            <a:endParaRPr lang="en-US" sz="11200" dirty="0"/>
          </a:p>
          <a:p>
            <a:pPr indent="0" marL="0">
              <a:lnSpc>
                <a:spcPct val="86000"/>
              </a:lnSpc>
              <a:buNone/>
            </a:pPr>
            <a:r>
              <a:rPr lang="en-US" sz="112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offer</a:t>
            </a:r>
            <a:endParaRPr lang="en-US" sz="11200" dirty="0"/>
          </a:p>
        </p:txBody>
      </p:sp>
      <p:sp>
        <p:nvSpPr>
          <p:cNvPr id="6" name="arrow-70"/>
          <p:cNvSpPr/>
          <p:nvPr/>
        </p:nvSpPr>
        <p:spPr>
          <a:xfrm>
            <a:off x="10927080" y="5440680"/>
            <a:ext cx="658368" cy="658368"/>
          </a:xfrm>
          <a:prstGeom prst="line">
            <a:avLst/>
          </a:prstGeom>
          <a:noFill/>
          <a:ln w="88900">
            <a:solidFill>
              <a:schemeClr val="tx1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71"/>
          <p:cNvSpPr txBox="1"/>
          <p:nvPr/>
        </p:nvSpPr>
        <p:spPr>
          <a:xfrm>
            <a:off x="585216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 Affiliates</a:t>
            </a:r>
            <a:endParaRPr lang="en-US" sz="1300" dirty="0"/>
          </a:p>
        </p:txBody>
      </p:sp>
      <p:sp>
        <p:nvSpPr>
          <p:cNvPr id="4" name="text-72"/>
          <p:cNvSpPr txBox="1"/>
          <p:nvPr/>
        </p:nvSpPr>
        <p:spPr>
          <a:xfrm>
            <a:off x="6117336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What we offer</a:t>
            </a:r>
            <a:endParaRPr lang="en-US" sz="1300" dirty="0"/>
          </a:p>
        </p:txBody>
      </p:sp>
      <p:sp>
        <p:nvSpPr>
          <p:cNvPr id="5" name="text-73"/>
          <p:cNvSpPr txBox="1"/>
          <p:nvPr/>
        </p:nvSpPr>
        <p:spPr>
          <a:xfrm>
            <a:off x="566928" y="1097280"/>
            <a:ext cx="11018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goal: position the client as a thoughtful leader</a:t>
            </a:r>
            <a:endParaRPr lang="en-US" sz="4000" dirty="0"/>
          </a:p>
        </p:txBody>
      </p:sp>
      <p:sp>
        <p:nvSpPr>
          <p:cNvPr id="6" name="rule-74"/>
          <p:cNvSpPr/>
          <p:nvPr/>
        </p:nvSpPr>
        <p:spPr>
          <a:xfrm>
            <a:off x="585216" y="269748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7" name="text-75"/>
          <p:cNvSpPr txBox="1"/>
          <p:nvPr/>
        </p:nvSpPr>
        <p:spPr>
          <a:xfrm>
            <a:off x="585216" y="28803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Layer 01</a:t>
            </a:r>
            <a:endParaRPr lang="en-US" sz="1300" dirty="0"/>
          </a:p>
        </p:txBody>
      </p:sp>
      <p:sp>
        <p:nvSpPr>
          <p:cNvPr id="8" name="text-76"/>
          <p:cNvSpPr txBox="1"/>
          <p:nvPr/>
        </p:nvSpPr>
        <p:spPr>
          <a:xfrm>
            <a:off x="585216" y="32918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signature idea</a:t>
            </a:r>
            <a:endParaRPr lang="en-US" sz="2400" dirty="0"/>
          </a:p>
        </p:txBody>
      </p:sp>
      <p:sp>
        <p:nvSpPr>
          <p:cNvPr id="9" name="text-77"/>
          <p:cNvSpPr txBox="1"/>
          <p:nvPr/>
        </p:nvSpPr>
        <p:spPr>
          <a:xfrm>
            <a:off x="585216" y="411480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line people remember and repeat. Every post leans on it.</a:t>
            </a:r>
            <a:endParaRPr lang="en-US" sz="1500" dirty="0"/>
          </a:p>
        </p:txBody>
      </p:sp>
      <p:sp>
        <p:nvSpPr>
          <p:cNvPr id="10" name="rule-78"/>
          <p:cNvSpPr/>
          <p:nvPr/>
        </p:nvSpPr>
        <p:spPr>
          <a:xfrm>
            <a:off x="4379976" y="269748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1" name="text-79"/>
          <p:cNvSpPr txBox="1"/>
          <p:nvPr/>
        </p:nvSpPr>
        <p:spPr>
          <a:xfrm>
            <a:off x="4379976" y="28803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Layer 02</a:t>
            </a:r>
            <a:endParaRPr lang="en-US" sz="1300" dirty="0"/>
          </a:p>
        </p:txBody>
      </p:sp>
      <p:sp>
        <p:nvSpPr>
          <p:cNvPr id="12" name="text-80"/>
          <p:cNvSpPr txBox="1"/>
          <p:nvPr/>
        </p:nvSpPr>
        <p:spPr>
          <a:xfrm>
            <a:off x="4379976" y="32918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clear point of view</a:t>
            </a:r>
            <a:endParaRPr lang="en-US" sz="2400" dirty="0"/>
          </a:p>
        </p:txBody>
      </p:sp>
      <p:sp>
        <p:nvSpPr>
          <p:cNvPr id="13" name="text-81"/>
          <p:cNvSpPr txBox="1"/>
          <p:nvPr/>
        </p:nvSpPr>
        <p:spPr>
          <a:xfrm>
            <a:off x="4379976" y="411480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Weekly posts that take a side, in the client’s own voice.</a:t>
            </a:r>
            <a:endParaRPr lang="en-US" sz="1500" dirty="0"/>
          </a:p>
        </p:txBody>
      </p:sp>
      <p:sp>
        <p:nvSpPr>
          <p:cNvPr id="14" name="rule-82"/>
          <p:cNvSpPr/>
          <p:nvPr/>
        </p:nvSpPr>
        <p:spPr>
          <a:xfrm>
            <a:off x="8174736" y="269748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5" name="text-83"/>
          <p:cNvSpPr txBox="1"/>
          <p:nvPr/>
        </p:nvSpPr>
        <p:spPr>
          <a:xfrm>
            <a:off x="8174736" y="28803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Layer 03</a:t>
            </a:r>
            <a:endParaRPr lang="en-US" sz="1300" dirty="0"/>
          </a:p>
        </p:txBody>
      </p:sp>
      <p:sp>
        <p:nvSpPr>
          <p:cNvPr id="16" name="text-84"/>
          <p:cNvSpPr txBox="1"/>
          <p:nvPr/>
        </p:nvSpPr>
        <p:spPr>
          <a:xfrm>
            <a:off x="8174736" y="32918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Proof and presence</a:t>
            </a:r>
            <a:endParaRPr lang="en-US" sz="2400" dirty="0"/>
          </a:p>
        </p:txBody>
      </p:sp>
      <p:sp>
        <p:nvSpPr>
          <p:cNvPr id="17" name="text-85"/>
          <p:cNvSpPr txBox="1"/>
          <p:nvPr/>
        </p:nvSpPr>
        <p:spPr>
          <a:xfrm>
            <a:off x="8174736" y="411480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 stories, named only with permission, seen in feeds, inboxes, webinars and communities.</a:t>
            </a:r>
            <a:endParaRPr lang="en-US" sz="1500" dirty="0"/>
          </a:p>
        </p:txBody>
      </p:sp>
      <p:sp>
        <p:nvSpPr>
          <p:cNvPr id="18" name="text-86"/>
          <p:cNvSpPr txBox="1"/>
          <p:nvPr/>
        </p:nvSpPr>
        <p:spPr>
          <a:xfrm>
            <a:off x="585216" y="5760720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Not an influencer. A voice buyers trust.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87"/>
          <p:cNvSpPr txBox="1"/>
          <p:nvPr/>
        </p:nvSpPr>
        <p:spPr>
          <a:xfrm>
            <a:off x="585216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 Affiliates</a:t>
            </a:r>
            <a:endParaRPr lang="en-US" sz="1300" dirty="0"/>
          </a:p>
        </p:txBody>
      </p:sp>
      <p:sp>
        <p:nvSpPr>
          <p:cNvPr id="3" name="text-88"/>
          <p:cNvSpPr txBox="1"/>
          <p:nvPr/>
        </p:nvSpPr>
        <p:spPr>
          <a:xfrm>
            <a:off x="6117336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What we offer</a:t>
            </a:r>
            <a:endParaRPr lang="en-US" sz="1300" dirty="0"/>
          </a:p>
        </p:txBody>
      </p:sp>
      <p:sp>
        <p:nvSpPr>
          <p:cNvPr id="4" name="text-89"/>
          <p:cNvSpPr txBox="1"/>
          <p:nvPr/>
        </p:nvSpPr>
        <p:spPr>
          <a:xfrm>
            <a:off x="566928" y="1097280"/>
            <a:ext cx="11018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system has six parts, and we run all of them</a:t>
            </a:r>
            <a:endParaRPr lang="en-US" sz="4000" dirty="0"/>
          </a:p>
        </p:txBody>
      </p:sp>
      <p:sp>
        <p:nvSpPr>
          <p:cNvPr id="5" name="rule-90"/>
          <p:cNvSpPr/>
          <p:nvPr/>
        </p:nvSpPr>
        <p:spPr>
          <a:xfrm>
            <a:off x="585216" y="25146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6" name="text-91"/>
          <p:cNvSpPr txBox="1"/>
          <p:nvPr/>
        </p:nvSpPr>
        <p:spPr>
          <a:xfrm>
            <a:off x="585216" y="26791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-92"/>
          <p:cNvSpPr txBox="1"/>
          <p:nvPr/>
        </p:nvSpPr>
        <p:spPr>
          <a:xfrm>
            <a:off x="585216" y="30175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LinkedIn, run by agents</a:t>
            </a:r>
            <a:endParaRPr lang="en-US" sz="2100" dirty="0"/>
          </a:p>
        </p:txBody>
      </p:sp>
      <p:sp>
        <p:nvSpPr>
          <p:cNvPr id="8" name="text-93"/>
          <p:cNvSpPr txBox="1"/>
          <p:nvPr/>
        </p:nvSpPr>
        <p:spPr>
          <a:xfrm>
            <a:off x="585216" y="347472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Profile, posts, comments, connections, follow-ups.</a:t>
            </a:r>
            <a:endParaRPr lang="en-US" sz="1400" dirty="0"/>
          </a:p>
        </p:txBody>
      </p:sp>
      <p:sp>
        <p:nvSpPr>
          <p:cNvPr id="9" name="rule-94"/>
          <p:cNvSpPr/>
          <p:nvPr/>
        </p:nvSpPr>
        <p:spPr>
          <a:xfrm>
            <a:off x="4379976" y="25146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0" name="text-95"/>
          <p:cNvSpPr txBox="1"/>
          <p:nvPr/>
        </p:nvSpPr>
        <p:spPr>
          <a:xfrm>
            <a:off x="4379976" y="26791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-96"/>
          <p:cNvSpPr txBox="1"/>
          <p:nvPr/>
        </p:nvSpPr>
        <p:spPr>
          <a:xfrm>
            <a:off x="4379976" y="30175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Cross-platform posting</a:t>
            </a:r>
            <a:endParaRPr lang="en-US" sz="2100" dirty="0"/>
          </a:p>
        </p:txBody>
      </p:sp>
      <p:sp>
        <p:nvSpPr>
          <p:cNvPr id="12" name="text-97"/>
          <p:cNvSpPr txBox="1"/>
          <p:nvPr/>
        </p:nvSpPr>
        <p:spPr>
          <a:xfrm>
            <a:off x="4379976" y="347472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idea out to X, Instagram, Threads, Substack, YouTube.</a:t>
            </a:r>
            <a:endParaRPr lang="en-US" sz="1400" dirty="0"/>
          </a:p>
        </p:txBody>
      </p:sp>
      <p:sp>
        <p:nvSpPr>
          <p:cNvPr id="13" name="rule-98"/>
          <p:cNvSpPr/>
          <p:nvPr/>
        </p:nvSpPr>
        <p:spPr>
          <a:xfrm>
            <a:off x="8174736" y="25146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4" name="text-99"/>
          <p:cNvSpPr txBox="1"/>
          <p:nvPr/>
        </p:nvSpPr>
        <p:spPr>
          <a:xfrm>
            <a:off x="8174736" y="26791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-100"/>
          <p:cNvSpPr txBox="1"/>
          <p:nvPr/>
        </p:nvSpPr>
        <p:spPr>
          <a:xfrm>
            <a:off x="8174736" y="30175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Webinars</a:t>
            </a:r>
            <a:endParaRPr lang="en-US" sz="2100" dirty="0"/>
          </a:p>
        </p:txBody>
      </p:sp>
      <p:sp>
        <p:nvSpPr>
          <p:cNvPr id="16" name="text-101"/>
          <p:cNvSpPr txBox="1"/>
          <p:nvPr/>
        </p:nvSpPr>
        <p:spPr>
          <a:xfrm>
            <a:off x="8174736" y="347472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monthly session that turns followers into conversations.</a:t>
            </a:r>
            <a:endParaRPr lang="en-US" sz="1400" dirty="0"/>
          </a:p>
        </p:txBody>
      </p:sp>
      <p:sp>
        <p:nvSpPr>
          <p:cNvPr id="17" name="rule-102"/>
          <p:cNvSpPr/>
          <p:nvPr/>
        </p:nvSpPr>
        <p:spPr>
          <a:xfrm>
            <a:off x="585216" y="429768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8" name="text-103"/>
          <p:cNvSpPr txBox="1"/>
          <p:nvPr/>
        </p:nvSpPr>
        <p:spPr>
          <a:xfrm>
            <a:off x="585216" y="44622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-104"/>
          <p:cNvSpPr txBox="1"/>
          <p:nvPr/>
        </p:nvSpPr>
        <p:spPr>
          <a:xfrm>
            <a:off x="585216" y="48006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Community on Skool</a:t>
            </a:r>
            <a:endParaRPr lang="en-US" sz="2100" dirty="0"/>
          </a:p>
        </p:txBody>
      </p:sp>
      <p:sp>
        <p:nvSpPr>
          <p:cNvPr id="20" name="text-105"/>
          <p:cNvSpPr txBox="1"/>
          <p:nvPr/>
        </p:nvSpPr>
        <p:spPr>
          <a:xfrm>
            <a:off x="585216" y="525780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Waitlist, cohorts and a self-paced membership.</a:t>
            </a:r>
            <a:endParaRPr lang="en-US" sz="1400" dirty="0"/>
          </a:p>
        </p:txBody>
      </p:sp>
      <p:sp>
        <p:nvSpPr>
          <p:cNvPr id="21" name="rule-106"/>
          <p:cNvSpPr/>
          <p:nvPr/>
        </p:nvSpPr>
        <p:spPr>
          <a:xfrm>
            <a:off x="4379976" y="429768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22" name="text-107"/>
          <p:cNvSpPr txBox="1"/>
          <p:nvPr/>
        </p:nvSpPr>
        <p:spPr>
          <a:xfrm>
            <a:off x="4379976" y="44622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-108"/>
          <p:cNvSpPr txBox="1"/>
          <p:nvPr/>
        </p:nvSpPr>
        <p:spPr>
          <a:xfrm>
            <a:off x="4379976" y="48006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Website and articles</a:t>
            </a:r>
            <a:endParaRPr lang="en-US" sz="2100" dirty="0"/>
          </a:p>
        </p:txBody>
      </p:sp>
      <p:sp>
        <p:nvSpPr>
          <p:cNvPr id="24" name="text-109"/>
          <p:cNvSpPr txBox="1"/>
          <p:nvPr/>
        </p:nvSpPr>
        <p:spPr>
          <a:xfrm>
            <a:off x="4379976" y="525780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place to land, and articles that rank in search.</a:t>
            </a:r>
            <a:endParaRPr lang="en-US" sz="1400" dirty="0"/>
          </a:p>
        </p:txBody>
      </p:sp>
      <p:sp>
        <p:nvSpPr>
          <p:cNvPr id="25" name="rule-110"/>
          <p:cNvSpPr/>
          <p:nvPr/>
        </p:nvSpPr>
        <p:spPr>
          <a:xfrm>
            <a:off x="8174736" y="429768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26" name="text-111"/>
          <p:cNvSpPr txBox="1"/>
          <p:nvPr/>
        </p:nvSpPr>
        <p:spPr>
          <a:xfrm>
            <a:off x="8174736" y="44622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-112"/>
          <p:cNvSpPr txBox="1"/>
          <p:nvPr/>
        </p:nvSpPr>
        <p:spPr>
          <a:xfrm>
            <a:off x="8174736" y="48006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Reporting</a:t>
            </a:r>
            <a:endParaRPr lang="en-US" sz="2100" dirty="0"/>
          </a:p>
        </p:txBody>
      </p:sp>
      <p:sp>
        <p:nvSpPr>
          <p:cNvPr id="28" name="text-113"/>
          <p:cNvSpPr txBox="1"/>
          <p:nvPr/>
        </p:nvSpPr>
        <p:spPr>
          <a:xfrm>
            <a:off x="8174736" y="525780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live dashboard and a monthly review of what works.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114"/>
          <p:cNvSpPr txBox="1"/>
          <p:nvPr/>
        </p:nvSpPr>
        <p:spPr>
          <a:xfrm>
            <a:off x="585216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 Affiliates</a:t>
            </a:r>
            <a:endParaRPr lang="en-US" sz="1300" dirty="0"/>
          </a:p>
        </p:txBody>
      </p:sp>
      <p:sp>
        <p:nvSpPr>
          <p:cNvPr id="4" name="text-115"/>
          <p:cNvSpPr txBox="1"/>
          <p:nvPr/>
        </p:nvSpPr>
        <p:spPr>
          <a:xfrm>
            <a:off x="6117336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What we offer</a:t>
            </a:r>
            <a:endParaRPr lang="en-US" sz="1300" dirty="0"/>
          </a:p>
        </p:txBody>
      </p:sp>
      <p:sp>
        <p:nvSpPr>
          <p:cNvPr id="5" name="text-116"/>
          <p:cNvSpPr txBox="1"/>
          <p:nvPr/>
        </p:nvSpPr>
        <p:spPr>
          <a:xfrm>
            <a:off x="566928" y="1097280"/>
            <a:ext cx="11018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LinkedIn runs on agents, end to end</a:t>
            </a:r>
            <a:endParaRPr lang="en-US" sz="4000" dirty="0"/>
          </a:p>
        </p:txBody>
      </p:sp>
      <p:sp>
        <p:nvSpPr>
          <p:cNvPr id="6" name="spoke-117"/>
          <p:cNvSpPr/>
          <p:nvPr/>
        </p:nvSpPr>
        <p:spPr>
          <a:xfrm flipH="1">
            <a:off x="4114800" y="2743200"/>
            <a:ext cx="914" cy="16002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7" name="spoke-118"/>
          <p:cNvSpPr/>
          <p:nvPr/>
        </p:nvSpPr>
        <p:spPr>
          <a:xfrm flipH="1">
            <a:off x="4114800" y="3543300"/>
            <a:ext cx="2375681" cy="800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8" name="spoke-119"/>
          <p:cNvSpPr/>
          <p:nvPr/>
        </p:nvSpPr>
        <p:spPr>
          <a:xfrm>
            <a:off x="4114800" y="4343400"/>
            <a:ext cx="2375681" cy="800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9" name="spoke-120"/>
          <p:cNvSpPr/>
          <p:nvPr/>
        </p:nvSpPr>
        <p:spPr>
          <a:xfrm>
            <a:off x="4114800" y="4343400"/>
            <a:ext cx="914" cy="16002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0" name="spoke-121"/>
          <p:cNvSpPr/>
          <p:nvPr/>
        </p:nvSpPr>
        <p:spPr>
          <a:xfrm flipH="1">
            <a:off x="1739119" y="4343400"/>
            <a:ext cx="2375681" cy="800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1" name="spoke-122"/>
          <p:cNvSpPr/>
          <p:nvPr/>
        </p:nvSpPr>
        <p:spPr>
          <a:xfrm>
            <a:off x="1739119" y="3543300"/>
            <a:ext cx="2375681" cy="800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2" name="sat-123"/>
          <p:cNvSpPr/>
          <p:nvPr/>
        </p:nvSpPr>
        <p:spPr>
          <a:xfrm>
            <a:off x="2971800" y="2377440"/>
            <a:ext cx="2286000" cy="7315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3" name="text-124"/>
          <p:cNvSpPr txBox="1"/>
          <p:nvPr/>
        </p:nvSpPr>
        <p:spPr>
          <a:xfrm>
            <a:off x="3136392" y="2450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Research</a:t>
            </a:r>
            <a:endParaRPr lang="en-US" sz="1500" dirty="0"/>
          </a:p>
        </p:txBody>
      </p:sp>
      <p:sp>
        <p:nvSpPr>
          <p:cNvPr id="14" name="text-125"/>
          <p:cNvSpPr txBox="1"/>
          <p:nvPr/>
        </p:nvSpPr>
        <p:spPr>
          <a:xfrm>
            <a:off x="3136392" y="2761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buyers with a reason</a:t>
            </a:r>
            <a:endParaRPr lang="en-US" sz="1000" dirty="0"/>
          </a:p>
        </p:txBody>
      </p:sp>
      <p:sp>
        <p:nvSpPr>
          <p:cNvPr id="15" name="sat-126"/>
          <p:cNvSpPr/>
          <p:nvPr/>
        </p:nvSpPr>
        <p:spPr>
          <a:xfrm>
            <a:off x="5347481" y="3177540"/>
            <a:ext cx="2286000" cy="7315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6" name="text-127"/>
          <p:cNvSpPr txBox="1"/>
          <p:nvPr/>
        </p:nvSpPr>
        <p:spPr>
          <a:xfrm>
            <a:off x="5512073" y="32506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</a:t>
            </a:r>
            <a:endParaRPr lang="en-US" sz="1500" dirty="0"/>
          </a:p>
        </p:txBody>
      </p:sp>
      <p:sp>
        <p:nvSpPr>
          <p:cNvPr id="17" name="text-128"/>
          <p:cNvSpPr txBox="1"/>
          <p:nvPr/>
        </p:nvSpPr>
        <p:spPr>
          <a:xfrm>
            <a:off x="5512073" y="35615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at a human pace</a:t>
            </a:r>
            <a:endParaRPr lang="en-US" sz="1000" dirty="0"/>
          </a:p>
        </p:txBody>
      </p:sp>
      <p:sp>
        <p:nvSpPr>
          <p:cNvPr id="18" name="sat-129"/>
          <p:cNvSpPr/>
          <p:nvPr/>
        </p:nvSpPr>
        <p:spPr>
          <a:xfrm>
            <a:off x="5347481" y="4777740"/>
            <a:ext cx="2286000" cy="7315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9" name="text-130"/>
          <p:cNvSpPr txBox="1"/>
          <p:nvPr/>
        </p:nvSpPr>
        <p:spPr>
          <a:xfrm>
            <a:off x="5512073" y="48508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Comment</a:t>
            </a:r>
            <a:endParaRPr lang="en-US" sz="1500" dirty="0"/>
          </a:p>
        </p:txBody>
      </p:sp>
      <p:sp>
        <p:nvSpPr>
          <p:cNvPr id="20" name="text-131"/>
          <p:cNvSpPr txBox="1"/>
          <p:nvPr/>
        </p:nvSpPr>
        <p:spPr>
          <a:xfrm>
            <a:off x="5512073" y="51617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3–5 a day</a:t>
            </a:r>
            <a:endParaRPr lang="en-US" sz="1000" dirty="0"/>
          </a:p>
        </p:txBody>
      </p:sp>
      <p:sp>
        <p:nvSpPr>
          <p:cNvPr id="21" name="sat-132"/>
          <p:cNvSpPr/>
          <p:nvPr/>
        </p:nvSpPr>
        <p:spPr>
          <a:xfrm>
            <a:off x="2971800" y="5577840"/>
            <a:ext cx="2286000" cy="7315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2" name="text-133"/>
          <p:cNvSpPr txBox="1"/>
          <p:nvPr/>
        </p:nvSpPr>
        <p:spPr>
          <a:xfrm>
            <a:off x="3136392" y="56509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</a:t>
            </a:r>
            <a:endParaRPr lang="en-US" sz="1500" dirty="0"/>
          </a:p>
        </p:txBody>
      </p:sp>
      <p:sp>
        <p:nvSpPr>
          <p:cNvPr id="23" name="text-134"/>
          <p:cNvSpPr txBox="1"/>
          <p:nvPr/>
        </p:nvSpPr>
        <p:spPr>
          <a:xfrm>
            <a:off x="3136392" y="5961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weekly, in their voice</a:t>
            </a:r>
            <a:endParaRPr lang="en-US" sz="1000" dirty="0"/>
          </a:p>
        </p:txBody>
      </p:sp>
      <p:sp>
        <p:nvSpPr>
          <p:cNvPr id="24" name="sat-135"/>
          <p:cNvSpPr/>
          <p:nvPr/>
        </p:nvSpPr>
        <p:spPr>
          <a:xfrm>
            <a:off x="596119" y="4777740"/>
            <a:ext cx="2286000" cy="7315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5" name="text-136"/>
          <p:cNvSpPr txBox="1"/>
          <p:nvPr/>
        </p:nvSpPr>
        <p:spPr>
          <a:xfrm>
            <a:off x="760711" y="48508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Follow up</a:t>
            </a:r>
            <a:endParaRPr lang="en-US" sz="1500" dirty="0"/>
          </a:p>
        </p:txBody>
      </p:sp>
      <p:sp>
        <p:nvSpPr>
          <p:cNvPr id="26" name="text-137"/>
          <p:cNvSpPr txBox="1"/>
          <p:nvPr/>
        </p:nvSpPr>
        <p:spPr>
          <a:xfrm>
            <a:off x="760711" y="51617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DMs, never a pitch</a:t>
            </a:r>
            <a:endParaRPr lang="en-US" sz="1000" dirty="0"/>
          </a:p>
        </p:txBody>
      </p:sp>
      <p:sp>
        <p:nvSpPr>
          <p:cNvPr id="27" name="sat-138"/>
          <p:cNvSpPr/>
          <p:nvPr/>
        </p:nvSpPr>
        <p:spPr>
          <a:xfrm>
            <a:off x="596119" y="3177540"/>
            <a:ext cx="2286000" cy="7315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8" name="text-139"/>
          <p:cNvSpPr txBox="1"/>
          <p:nvPr/>
        </p:nvSpPr>
        <p:spPr>
          <a:xfrm>
            <a:off x="760711" y="32506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Report</a:t>
            </a:r>
            <a:endParaRPr lang="en-US" sz="1500" dirty="0"/>
          </a:p>
        </p:txBody>
      </p:sp>
      <p:sp>
        <p:nvSpPr>
          <p:cNvPr id="29" name="text-140"/>
          <p:cNvSpPr txBox="1"/>
          <p:nvPr/>
        </p:nvSpPr>
        <p:spPr>
          <a:xfrm>
            <a:off x="760711" y="35615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who replied and booked</a:t>
            </a:r>
            <a:endParaRPr lang="en-US" sz="1000" dirty="0"/>
          </a:p>
        </p:txBody>
      </p:sp>
      <p:sp>
        <p:nvSpPr>
          <p:cNvPr id="30" name="hub-141"/>
          <p:cNvSpPr/>
          <p:nvPr/>
        </p:nvSpPr>
        <p:spPr>
          <a:xfrm>
            <a:off x="3108960" y="3337560"/>
            <a:ext cx="2011680" cy="20116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text-142"/>
          <p:cNvSpPr txBox="1"/>
          <p:nvPr/>
        </p:nvSpPr>
        <p:spPr>
          <a:xfrm>
            <a:off x="3200400" y="37947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client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approves</a:t>
            </a:r>
            <a:endParaRPr lang="en-US" sz="1700" dirty="0"/>
          </a:p>
        </p:txBody>
      </p:sp>
      <p:sp>
        <p:nvSpPr>
          <p:cNvPr id="32" name="text-143"/>
          <p:cNvSpPr txBox="1"/>
          <p:nvPr/>
        </p:nvSpPr>
        <p:spPr>
          <a:xfrm>
            <a:off x="8641080" y="2743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Client time</a:t>
            </a:r>
            <a:endParaRPr lang="en-US" sz="1300" dirty="0"/>
          </a:p>
        </p:txBody>
      </p:sp>
      <p:sp>
        <p:nvSpPr>
          <p:cNvPr id="33" name="rule-144"/>
          <p:cNvSpPr/>
          <p:nvPr/>
        </p:nvSpPr>
        <p:spPr>
          <a:xfrm>
            <a:off x="8641080" y="3108960"/>
            <a:ext cx="296265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34" name="text-145"/>
          <p:cNvSpPr txBox="1"/>
          <p:nvPr/>
        </p:nvSpPr>
        <p:spPr>
          <a:xfrm>
            <a:off x="8641080" y="3291840"/>
            <a:ext cx="2962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About 10 minutes a day, approving drafts on their phone.</a:t>
            </a:r>
            <a:endParaRPr lang="en-US" sz="2000" dirty="0"/>
          </a:p>
        </p:txBody>
      </p:sp>
      <p:sp>
        <p:nvSpPr>
          <p:cNvPr id="35" name="text-146"/>
          <p:cNvSpPr txBox="1"/>
          <p:nvPr/>
        </p:nvSpPr>
        <p:spPr>
          <a:xfrm>
            <a:off x="8641080" y="4572000"/>
            <a:ext cx="2962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never write from scratch, chase connections, or remember who to follow up.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147"/>
          <p:cNvSpPr txBox="1"/>
          <p:nvPr/>
        </p:nvSpPr>
        <p:spPr>
          <a:xfrm>
            <a:off x="585216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 Affiliates</a:t>
            </a:r>
            <a:endParaRPr lang="en-US" sz="1300" dirty="0"/>
          </a:p>
        </p:txBody>
      </p:sp>
      <p:sp>
        <p:nvSpPr>
          <p:cNvPr id="4" name="text-148"/>
          <p:cNvSpPr txBox="1"/>
          <p:nvPr/>
        </p:nvSpPr>
        <p:spPr>
          <a:xfrm>
            <a:off x="6117336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What we offer</a:t>
            </a:r>
            <a:endParaRPr lang="en-US" sz="1300" dirty="0"/>
          </a:p>
        </p:txBody>
      </p:sp>
      <p:sp>
        <p:nvSpPr>
          <p:cNvPr id="5" name="text-149"/>
          <p:cNvSpPr txBox="1"/>
          <p:nvPr/>
        </p:nvSpPr>
        <p:spPr>
          <a:xfrm>
            <a:off x="566928" y="1097280"/>
            <a:ext cx="11018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idea, published everywhere buyers look</a:t>
            </a:r>
            <a:endParaRPr lang="en-US" sz="4000" dirty="0"/>
          </a:p>
        </p:txBody>
      </p:sp>
      <p:sp>
        <p:nvSpPr>
          <p:cNvPr id="6" name="spoke-150"/>
          <p:cNvSpPr/>
          <p:nvPr/>
        </p:nvSpPr>
        <p:spPr>
          <a:xfrm flipH="1">
            <a:off x="4114800" y="2743200"/>
            <a:ext cx="914" cy="16002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7" name="spoke-151"/>
          <p:cNvSpPr/>
          <p:nvPr/>
        </p:nvSpPr>
        <p:spPr>
          <a:xfrm flipH="1">
            <a:off x="4114800" y="3543300"/>
            <a:ext cx="2375681" cy="800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8" name="spoke-152"/>
          <p:cNvSpPr/>
          <p:nvPr/>
        </p:nvSpPr>
        <p:spPr>
          <a:xfrm>
            <a:off x="4114800" y="4343400"/>
            <a:ext cx="2375681" cy="800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9" name="spoke-153"/>
          <p:cNvSpPr/>
          <p:nvPr/>
        </p:nvSpPr>
        <p:spPr>
          <a:xfrm>
            <a:off x="4114800" y="4343400"/>
            <a:ext cx="914" cy="16002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0" name="spoke-154"/>
          <p:cNvSpPr/>
          <p:nvPr/>
        </p:nvSpPr>
        <p:spPr>
          <a:xfrm flipH="1">
            <a:off x="1739119" y="4343400"/>
            <a:ext cx="2375681" cy="800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1" name="spoke-155"/>
          <p:cNvSpPr/>
          <p:nvPr/>
        </p:nvSpPr>
        <p:spPr>
          <a:xfrm>
            <a:off x="1739119" y="3543300"/>
            <a:ext cx="2375681" cy="800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2" name="sat-156"/>
          <p:cNvSpPr/>
          <p:nvPr/>
        </p:nvSpPr>
        <p:spPr>
          <a:xfrm>
            <a:off x="2971800" y="2377440"/>
            <a:ext cx="2286000" cy="7315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3" name="text-157"/>
          <p:cNvSpPr txBox="1"/>
          <p:nvPr/>
        </p:nvSpPr>
        <p:spPr>
          <a:xfrm>
            <a:off x="3136392" y="2450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LinkedIn</a:t>
            </a:r>
            <a:endParaRPr lang="en-US" sz="1500" dirty="0"/>
          </a:p>
        </p:txBody>
      </p:sp>
      <p:sp>
        <p:nvSpPr>
          <p:cNvPr id="14" name="text-158"/>
          <p:cNvSpPr txBox="1"/>
          <p:nvPr/>
        </p:nvSpPr>
        <p:spPr>
          <a:xfrm>
            <a:off x="3136392" y="2761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posts, newsletter</a:t>
            </a:r>
            <a:endParaRPr lang="en-US" sz="1000" dirty="0"/>
          </a:p>
        </p:txBody>
      </p:sp>
      <p:sp>
        <p:nvSpPr>
          <p:cNvPr id="15" name="sat-159"/>
          <p:cNvSpPr/>
          <p:nvPr/>
        </p:nvSpPr>
        <p:spPr>
          <a:xfrm>
            <a:off x="5347481" y="3177540"/>
            <a:ext cx="2286000" cy="7315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6" name="text-160"/>
          <p:cNvSpPr txBox="1"/>
          <p:nvPr/>
        </p:nvSpPr>
        <p:spPr>
          <a:xfrm>
            <a:off x="5512073" y="32506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</a:t>
            </a:r>
            <a:endParaRPr lang="en-US" sz="1500" dirty="0"/>
          </a:p>
        </p:txBody>
      </p:sp>
      <p:sp>
        <p:nvSpPr>
          <p:cNvPr id="17" name="text-161"/>
          <p:cNvSpPr txBox="1"/>
          <p:nvPr/>
        </p:nvSpPr>
        <p:spPr>
          <a:xfrm>
            <a:off x="5512073" y="35615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takes and threads</a:t>
            </a:r>
            <a:endParaRPr lang="en-US" sz="1000" dirty="0"/>
          </a:p>
        </p:txBody>
      </p:sp>
      <p:sp>
        <p:nvSpPr>
          <p:cNvPr id="18" name="sat-162"/>
          <p:cNvSpPr/>
          <p:nvPr/>
        </p:nvSpPr>
        <p:spPr>
          <a:xfrm>
            <a:off x="5347481" y="4777740"/>
            <a:ext cx="2286000" cy="7315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9" name="text-163"/>
          <p:cNvSpPr txBox="1"/>
          <p:nvPr/>
        </p:nvSpPr>
        <p:spPr>
          <a:xfrm>
            <a:off x="5512073" y="48508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Instagram</a:t>
            </a:r>
            <a:endParaRPr lang="en-US" sz="1500" dirty="0"/>
          </a:p>
        </p:txBody>
      </p:sp>
      <p:sp>
        <p:nvSpPr>
          <p:cNvPr id="20" name="text-164"/>
          <p:cNvSpPr txBox="1"/>
          <p:nvPr/>
        </p:nvSpPr>
        <p:spPr>
          <a:xfrm>
            <a:off x="5512073" y="51617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carousels and clips</a:t>
            </a:r>
            <a:endParaRPr lang="en-US" sz="1000" dirty="0"/>
          </a:p>
        </p:txBody>
      </p:sp>
      <p:sp>
        <p:nvSpPr>
          <p:cNvPr id="21" name="sat-165"/>
          <p:cNvSpPr/>
          <p:nvPr/>
        </p:nvSpPr>
        <p:spPr>
          <a:xfrm>
            <a:off x="2971800" y="5577840"/>
            <a:ext cx="2286000" cy="7315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2" name="text-166"/>
          <p:cNvSpPr txBox="1"/>
          <p:nvPr/>
        </p:nvSpPr>
        <p:spPr>
          <a:xfrm>
            <a:off x="3136392" y="56509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Threads</a:t>
            </a:r>
            <a:endParaRPr lang="en-US" sz="1500" dirty="0"/>
          </a:p>
        </p:txBody>
      </p:sp>
      <p:sp>
        <p:nvSpPr>
          <p:cNvPr id="23" name="text-167"/>
          <p:cNvSpPr txBox="1"/>
          <p:nvPr/>
        </p:nvSpPr>
        <p:spPr>
          <a:xfrm>
            <a:off x="3136392" y="5961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text versions</a:t>
            </a:r>
            <a:endParaRPr lang="en-US" sz="1000" dirty="0"/>
          </a:p>
        </p:txBody>
      </p:sp>
      <p:sp>
        <p:nvSpPr>
          <p:cNvPr id="24" name="sat-168"/>
          <p:cNvSpPr/>
          <p:nvPr/>
        </p:nvSpPr>
        <p:spPr>
          <a:xfrm>
            <a:off x="596119" y="4777740"/>
            <a:ext cx="2286000" cy="7315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5" name="text-169"/>
          <p:cNvSpPr txBox="1"/>
          <p:nvPr/>
        </p:nvSpPr>
        <p:spPr>
          <a:xfrm>
            <a:off x="760711" y="48508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Substack</a:t>
            </a:r>
            <a:endParaRPr lang="en-US" sz="1500" dirty="0"/>
          </a:p>
        </p:txBody>
      </p:sp>
      <p:sp>
        <p:nvSpPr>
          <p:cNvPr id="26" name="text-170"/>
          <p:cNvSpPr txBox="1"/>
          <p:nvPr/>
        </p:nvSpPr>
        <p:spPr>
          <a:xfrm>
            <a:off x="760711" y="51617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 list they own</a:t>
            </a:r>
            <a:endParaRPr lang="en-US" sz="1000" dirty="0"/>
          </a:p>
        </p:txBody>
      </p:sp>
      <p:sp>
        <p:nvSpPr>
          <p:cNvPr id="27" name="sat-171"/>
          <p:cNvSpPr/>
          <p:nvPr/>
        </p:nvSpPr>
        <p:spPr>
          <a:xfrm>
            <a:off x="596119" y="3177540"/>
            <a:ext cx="2286000" cy="7315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8" name="text-172"/>
          <p:cNvSpPr txBox="1"/>
          <p:nvPr/>
        </p:nvSpPr>
        <p:spPr>
          <a:xfrm>
            <a:off x="760711" y="32506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YouTube</a:t>
            </a:r>
            <a:endParaRPr lang="en-US" sz="1500" dirty="0"/>
          </a:p>
        </p:txBody>
      </p:sp>
      <p:sp>
        <p:nvSpPr>
          <p:cNvPr id="29" name="text-173"/>
          <p:cNvSpPr txBox="1"/>
          <p:nvPr/>
        </p:nvSpPr>
        <p:spPr>
          <a:xfrm>
            <a:off x="760711" y="35615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webinar replays</a:t>
            </a:r>
            <a:endParaRPr lang="en-US" sz="1000" dirty="0"/>
          </a:p>
        </p:txBody>
      </p:sp>
      <p:sp>
        <p:nvSpPr>
          <p:cNvPr id="30" name="hub-174"/>
          <p:cNvSpPr/>
          <p:nvPr/>
        </p:nvSpPr>
        <p:spPr>
          <a:xfrm>
            <a:off x="3108960" y="3337560"/>
            <a:ext cx="2011680" cy="20116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text-175"/>
          <p:cNvSpPr txBox="1"/>
          <p:nvPr/>
        </p:nvSpPr>
        <p:spPr>
          <a:xfrm>
            <a:off x="3200400" y="37947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note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the client</a:t>
            </a:r>
            <a:endParaRPr lang="en-US" sz="1700" dirty="0"/>
          </a:p>
        </p:txBody>
      </p:sp>
      <p:sp>
        <p:nvSpPr>
          <p:cNvPr id="32" name="text-176"/>
          <p:cNvSpPr txBox="1"/>
          <p:nvPr/>
        </p:nvSpPr>
        <p:spPr>
          <a:xfrm>
            <a:off x="8641080" y="2743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Why</a:t>
            </a:r>
            <a:endParaRPr lang="en-US" sz="1300" dirty="0"/>
          </a:p>
        </p:txBody>
      </p:sp>
      <p:sp>
        <p:nvSpPr>
          <p:cNvPr id="33" name="rule-177"/>
          <p:cNvSpPr/>
          <p:nvPr/>
        </p:nvSpPr>
        <p:spPr>
          <a:xfrm>
            <a:off x="8641080" y="3108960"/>
            <a:ext cx="296265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34" name="text-178"/>
          <p:cNvSpPr txBox="1"/>
          <p:nvPr/>
        </p:nvSpPr>
        <p:spPr>
          <a:xfrm>
            <a:off x="8641080" y="3291840"/>
            <a:ext cx="2962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Write once. Be seen in six places.</a:t>
            </a:r>
            <a:endParaRPr lang="en-US" sz="2000" dirty="0"/>
          </a:p>
        </p:txBody>
      </p:sp>
      <p:sp>
        <p:nvSpPr>
          <p:cNvPr id="35" name="text-179"/>
          <p:cNvSpPr txBox="1"/>
          <p:nvPr/>
        </p:nvSpPr>
        <p:spPr>
          <a:xfrm>
            <a:off x="8641080" y="4297680"/>
            <a:ext cx="29626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Buyers don’t all live on LinkedIn. The newsletter builds an audience the client owns.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180"/>
          <p:cNvSpPr txBox="1"/>
          <p:nvPr/>
        </p:nvSpPr>
        <p:spPr>
          <a:xfrm>
            <a:off x="585216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 Affiliates</a:t>
            </a:r>
            <a:endParaRPr lang="en-US" sz="1300" dirty="0"/>
          </a:p>
        </p:txBody>
      </p:sp>
      <p:sp>
        <p:nvSpPr>
          <p:cNvPr id="4" name="text-181"/>
          <p:cNvSpPr txBox="1"/>
          <p:nvPr/>
        </p:nvSpPr>
        <p:spPr>
          <a:xfrm>
            <a:off x="6117336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What we offer</a:t>
            </a:r>
            <a:endParaRPr lang="en-US" sz="1300" dirty="0"/>
          </a:p>
        </p:txBody>
      </p:sp>
      <p:sp>
        <p:nvSpPr>
          <p:cNvPr id="5" name="text-182"/>
          <p:cNvSpPr txBox="1"/>
          <p:nvPr/>
        </p:nvSpPr>
        <p:spPr>
          <a:xfrm>
            <a:off x="566928" y="1097280"/>
            <a:ext cx="11018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Webinars and community turn followers into clients</a:t>
            </a:r>
            <a:endParaRPr lang="en-US" sz="4000" dirty="0"/>
          </a:p>
        </p:txBody>
      </p:sp>
      <p:sp>
        <p:nvSpPr>
          <p:cNvPr id="6" name="rule-183"/>
          <p:cNvSpPr/>
          <p:nvPr/>
        </p:nvSpPr>
        <p:spPr>
          <a:xfrm>
            <a:off x="585216" y="269748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7" name="text-184"/>
          <p:cNvSpPr txBox="1"/>
          <p:nvPr/>
        </p:nvSpPr>
        <p:spPr>
          <a:xfrm>
            <a:off x="585216" y="28803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Webinars</a:t>
            </a:r>
            <a:endParaRPr lang="en-US" sz="1300" dirty="0"/>
          </a:p>
        </p:txBody>
      </p:sp>
      <p:sp>
        <p:nvSpPr>
          <p:cNvPr id="8" name="text-185"/>
          <p:cNvSpPr txBox="1"/>
          <p:nvPr/>
        </p:nvSpPr>
        <p:spPr>
          <a:xfrm>
            <a:off x="585216" y="32918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Monthly, 45 minutes</a:t>
            </a:r>
            <a:endParaRPr lang="en-US" sz="2400" dirty="0"/>
          </a:p>
        </p:txBody>
      </p:sp>
      <p:sp>
        <p:nvSpPr>
          <p:cNvPr id="9" name="text-186"/>
          <p:cNvSpPr txBox="1"/>
          <p:nvPr/>
        </p:nvSpPr>
        <p:spPr>
          <a:xfrm>
            <a:off x="585216" y="411480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Buyers bring a real problem; the expert solves it live. Every attendee followed up within 48 hours.</a:t>
            </a:r>
            <a:endParaRPr lang="en-US" sz="1500" dirty="0"/>
          </a:p>
        </p:txBody>
      </p:sp>
      <p:sp>
        <p:nvSpPr>
          <p:cNvPr id="10" name="rule-187"/>
          <p:cNvSpPr/>
          <p:nvPr/>
        </p:nvSpPr>
        <p:spPr>
          <a:xfrm>
            <a:off x="4379976" y="269748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1" name="text-188"/>
          <p:cNvSpPr txBox="1"/>
          <p:nvPr/>
        </p:nvSpPr>
        <p:spPr>
          <a:xfrm>
            <a:off x="4379976" y="28803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Clips</a:t>
            </a:r>
            <a:endParaRPr lang="en-US" sz="1300" dirty="0"/>
          </a:p>
        </p:txBody>
      </p:sp>
      <p:sp>
        <p:nvSpPr>
          <p:cNvPr id="12" name="text-189"/>
          <p:cNvSpPr txBox="1"/>
          <p:nvPr/>
        </p:nvSpPr>
        <p:spPr>
          <a:xfrm>
            <a:off x="4379976" y="32918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hour, a month of posts</a:t>
            </a:r>
            <a:endParaRPr lang="en-US" sz="2400" dirty="0"/>
          </a:p>
        </p:txBody>
      </p:sp>
      <p:sp>
        <p:nvSpPr>
          <p:cNvPr id="13" name="text-190"/>
          <p:cNvSpPr txBox="1"/>
          <p:nvPr/>
        </p:nvSpPr>
        <p:spPr>
          <a:xfrm>
            <a:off x="4379976" y="411480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session is cut into short clips for every platform.</a:t>
            </a:r>
            <a:endParaRPr lang="en-US" sz="1500" dirty="0"/>
          </a:p>
        </p:txBody>
      </p:sp>
      <p:sp>
        <p:nvSpPr>
          <p:cNvPr id="14" name="rule-191"/>
          <p:cNvSpPr/>
          <p:nvPr/>
        </p:nvSpPr>
        <p:spPr>
          <a:xfrm>
            <a:off x="8174736" y="269748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5" name="text-192"/>
          <p:cNvSpPr txBox="1"/>
          <p:nvPr/>
        </p:nvSpPr>
        <p:spPr>
          <a:xfrm>
            <a:off x="8174736" y="28803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Skool</a:t>
            </a:r>
            <a:endParaRPr lang="en-US" sz="1300" dirty="0"/>
          </a:p>
        </p:txBody>
      </p:sp>
      <p:sp>
        <p:nvSpPr>
          <p:cNvPr id="16" name="text-193"/>
          <p:cNvSpPr txBox="1"/>
          <p:nvPr/>
        </p:nvSpPr>
        <p:spPr>
          <a:xfrm>
            <a:off x="8174736" y="32918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audience’s home</a:t>
            </a:r>
            <a:endParaRPr lang="en-US" sz="2400" dirty="0"/>
          </a:p>
        </p:txBody>
      </p:sp>
      <p:sp>
        <p:nvSpPr>
          <p:cNvPr id="17" name="text-194"/>
          <p:cNvSpPr txBox="1"/>
          <p:nvPr/>
        </p:nvSpPr>
        <p:spPr>
          <a:xfrm>
            <a:off x="8174736" y="411480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Waitlist, free taster, paid cohorts and a self-paced membership. Agents handle admin.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195"/>
          <p:cNvSpPr txBox="1"/>
          <p:nvPr/>
        </p:nvSpPr>
        <p:spPr>
          <a:xfrm>
            <a:off x="585216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 Affiliates</a:t>
            </a:r>
            <a:endParaRPr lang="en-US" sz="1300" dirty="0"/>
          </a:p>
        </p:txBody>
      </p:sp>
      <p:sp>
        <p:nvSpPr>
          <p:cNvPr id="4" name="text-196"/>
          <p:cNvSpPr txBox="1"/>
          <p:nvPr/>
        </p:nvSpPr>
        <p:spPr>
          <a:xfrm>
            <a:off x="6117336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What we offer</a:t>
            </a:r>
            <a:endParaRPr lang="en-US" sz="1300" dirty="0"/>
          </a:p>
        </p:txBody>
      </p:sp>
      <p:sp>
        <p:nvSpPr>
          <p:cNvPr id="5" name="text-197"/>
          <p:cNvSpPr txBox="1"/>
          <p:nvPr/>
        </p:nvSpPr>
        <p:spPr>
          <a:xfrm>
            <a:off x="566928" y="1097280"/>
            <a:ext cx="11018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piece passes our Taste system</a:t>
            </a:r>
            <a:endParaRPr lang="en-US" sz="4000" dirty="0"/>
          </a:p>
        </p:txBody>
      </p:sp>
      <p:sp>
        <p:nvSpPr>
          <p:cNvPr id="6" name="text-198"/>
          <p:cNvSpPr txBox="1"/>
          <p:nvPr/>
        </p:nvSpPr>
        <p:spPr>
          <a:xfrm>
            <a:off x="548640" y="26060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200+</a:t>
            </a:r>
            <a:endParaRPr lang="en-US" sz="8000" dirty="0"/>
          </a:p>
        </p:txBody>
      </p:sp>
      <p:sp>
        <p:nvSpPr>
          <p:cNvPr id="7" name="text-199"/>
          <p:cNvSpPr txBox="1"/>
          <p:nvPr/>
        </p:nvSpPr>
        <p:spPr>
          <a:xfrm>
            <a:off x="585216" y="38862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proven posts, reels and websites studied and broken down: why each one works, and when to use it.</a:t>
            </a:r>
            <a:endParaRPr lang="en-US" sz="1500" dirty="0"/>
          </a:p>
        </p:txBody>
      </p:sp>
      <p:sp>
        <p:nvSpPr>
          <p:cNvPr id="8" name="rule-200"/>
          <p:cNvSpPr/>
          <p:nvPr/>
        </p:nvSpPr>
        <p:spPr>
          <a:xfrm>
            <a:off x="4572000" y="2697480"/>
            <a:ext cx="703173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9" name="text-201"/>
          <p:cNvSpPr txBox="1"/>
          <p:nvPr/>
        </p:nvSpPr>
        <p:spPr>
          <a:xfrm>
            <a:off x="4572000" y="28986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-202"/>
          <p:cNvSpPr txBox="1"/>
          <p:nvPr/>
        </p:nvSpPr>
        <p:spPr>
          <a:xfrm>
            <a:off x="5394960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Match</a:t>
            </a:r>
            <a:endParaRPr lang="en-US" sz="2100" dirty="0"/>
          </a:p>
        </p:txBody>
      </p:sp>
      <p:sp>
        <p:nvSpPr>
          <p:cNvPr id="11" name="text-203"/>
          <p:cNvSpPr txBox="1"/>
          <p:nvPr/>
        </p:nvSpPr>
        <p:spPr>
          <a:xfrm>
            <a:off x="7680960" y="2880360"/>
            <a:ext cx="3922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piece is matched to the one reference that fits it.</a:t>
            </a:r>
            <a:endParaRPr lang="en-US" sz="1500" dirty="0"/>
          </a:p>
        </p:txBody>
      </p:sp>
      <p:sp>
        <p:nvSpPr>
          <p:cNvPr id="12" name="rule-204"/>
          <p:cNvSpPr/>
          <p:nvPr/>
        </p:nvSpPr>
        <p:spPr>
          <a:xfrm>
            <a:off x="4572000" y="3794760"/>
            <a:ext cx="703173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3" name="text-205"/>
          <p:cNvSpPr txBox="1"/>
          <p:nvPr/>
        </p:nvSpPr>
        <p:spPr>
          <a:xfrm>
            <a:off x="4572000" y="39959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-206"/>
          <p:cNvSpPr txBox="1"/>
          <p:nvPr/>
        </p:nvSpPr>
        <p:spPr>
          <a:xfrm>
            <a:off x="5394960" y="3931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</a:t>
            </a:r>
            <a:endParaRPr lang="en-US" sz="2100" dirty="0"/>
          </a:p>
        </p:txBody>
      </p:sp>
      <p:sp>
        <p:nvSpPr>
          <p:cNvPr id="15" name="text-207"/>
          <p:cNvSpPr txBox="1"/>
          <p:nvPr/>
        </p:nvSpPr>
        <p:spPr>
          <a:xfrm>
            <a:off x="7680960" y="3977640"/>
            <a:ext cx="3922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use its craft: structure, pacing, type and layout.</a:t>
            </a:r>
            <a:endParaRPr lang="en-US" sz="1500" dirty="0"/>
          </a:p>
        </p:txBody>
      </p:sp>
      <p:sp>
        <p:nvSpPr>
          <p:cNvPr id="16" name="rule-208"/>
          <p:cNvSpPr/>
          <p:nvPr/>
        </p:nvSpPr>
        <p:spPr>
          <a:xfrm>
            <a:off x="4572000" y="4892040"/>
            <a:ext cx="703173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7" name="text-209"/>
          <p:cNvSpPr txBox="1"/>
          <p:nvPr/>
        </p:nvSpPr>
        <p:spPr>
          <a:xfrm>
            <a:off x="4572000" y="5093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-210"/>
          <p:cNvSpPr txBox="1"/>
          <p:nvPr/>
        </p:nvSpPr>
        <p:spPr>
          <a:xfrm>
            <a:off x="5394960" y="5029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copy</a:t>
            </a:r>
            <a:endParaRPr lang="en-US" sz="2100" dirty="0"/>
          </a:p>
        </p:txBody>
      </p:sp>
      <p:sp>
        <p:nvSpPr>
          <p:cNvPr id="19" name="text-211"/>
          <p:cNvSpPr txBox="1"/>
          <p:nvPr/>
        </p:nvSpPr>
        <p:spPr>
          <a:xfrm>
            <a:off x="7680960" y="5074920"/>
            <a:ext cx="3922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Their assets stay theirs. Colours and voice stay the client’s.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212"/>
          <p:cNvSpPr txBox="1"/>
          <p:nvPr/>
        </p:nvSpPr>
        <p:spPr>
          <a:xfrm>
            <a:off x="585216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 Affiliates</a:t>
            </a:r>
            <a:endParaRPr lang="en-US" sz="1300" dirty="0"/>
          </a:p>
        </p:txBody>
      </p:sp>
      <p:sp>
        <p:nvSpPr>
          <p:cNvPr id="4" name="text-213"/>
          <p:cNvSpPr txBox="1"/>
          <p:nvPr/>
        </p:nvSpPr>
        <p:spPr>
          <a:xfrm>
            <a:off x="6117336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What we offer</a:t>
            </a:r>
            <a:endParaRPr lang="en-US" sz="1300" dirty="0"/>
          </a:p>
        </p:txBody>
      </p:sp>
      <p:sp>
        <p:nvSpPr>
          <p:cNvPr id="5" name="text-214"/>
          <p:cNvSpPr txBox="1"/>
          <p:nvPr/>
        </p:nvSpPr>
        <p:spPr>
          <a:xfrm>
            <a:off x="566928" y="1097280"/>
            <a:ext cx="11018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it works: 2½ hours a week from the client</a:t>
            </a:r>
            <a:endParaRPr lang="en-US" sz="4000" dirty="0"/>
          </a:p>
        </p:txBody>
      </p:sp>
      <p:sp>
        <p:nvSpPr>
          <p:cNvPr id="6" name="rule-215"/>
          <p:cNvSpPr/>
          <p:nvPr/>
        </p:nvSpPr>
        <p:spPr>
          <a:xfrm>
            <a:off x="585216" y="2743200"/>
            <a:ext cx="248031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7" name="text-216"/>
          <p:cNvSpPr txBox="1"/>
          <p:nvPr/>
        </p:nvSpPr>
        <p:spPr>
          <a:xfrm>
            <a:off x="585216" y="2926080"/>
            <a:ext cx="24803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 · Client</a:t>
            </a:r>
            <a:endParaRPr lang="en-US" sz="1300" dirty="0"/>
          </a:p>
        </p:txBody>
      </p:sp>
      <p:sp>
        <p:nvSpPr>
          <p:cNvPr id="8" name="text-217"/>
          <p:cNvSpPr txBox="1"/>
          <p:nvPr/>
        </p:nvSpPr>
        <p:spPr>
          <a:xfrm>
            <a:off x="585216" y="3337560"/>
            <a:ext cx="24803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Sends one short note</a:t>
            </a:r>
            <a:endParaRPr lang="en-US" sz="2400" dirty="0"/>
          </a:p>
        </p:txBody>
      </p:sp>
      <p:sp>
        <p:nvSpPr>
          <p:cNvPr id="9" name="text-218"/>
          <p:cNvSpPr txBox="1"/>
          <p:nvPr/>
        </p:nvSpPr>
        <p:spPr>
          <a:xfrm>
            <a:off x="585216" y="4160520"/>
            <a:ext cx="248031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voice note or a few lines, once a week.</a:t>
            </a:r>
            <a:endParaRPr lang="en-US" sz="1500" dirty="0"/>
          </a:p>
        </p:txBody>
      </p:sp>
      <p:sp>
        <p:nvSpPr>
          <p:cNvPr id="10" name="rule-219"/>
          <p:cNvSpPr/>
          <p:nvPr/>
        </p:nvSpPr>
        <p:spPr>
          <a:xfrm>
            <a:off x="3431286" y="2743200"/>
            <a:ext cx="248031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1" name="text-220"/>
          <p:cNvSpPr txBox="1"/>
          <p:nvPr/>
        </p:nvSpPr>
        <p:spPr>
          <a:xfrm>
            <a:off x="3431286" y="2926080"/>
            <a:ext cx="24803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 · Extol</a:t>
            </a:r>
            <a:endParaRPr lang="en-US" sz="1300" dirty="0"/>
          </a:p>
        </p:txBody>
      </p:sp>
      <p:sp>
        <p:nvSpPr>
          <p:cNvPr id="12" name="text-221"/>
          <p:cNvSpPr txBox="1"/>
          <p:nvPr/>
        </p:nvSpPr>
        <p:spPr>
          <a:xfrm>
            <a:off x="3431286" y="3337560"/>
            <a:ext cx="24803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Agents draft</a:t>
            </a:r>
            <a:endParaRPr lang="en-US" sz="2400" dirty="0"/>
          </a:p>
        </p:txBody>
      </p:sp>
      <p:sp>
        <p:nvSpPr>
          <p:cNvPr id="13" name="text-222"/>
          <p:cNvSpPr txBox="1"/>
          <p:nvPr/>
        </p:nvSpPr>
        <p:spPr>
          <a:xfrm>
            <a:off x="3431286" y="4160520"/>
            <a:ext cx="248031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Posts, clips and messages in the client’s voice.</a:t>
            </a:r>
            <a:endParaRPr lang="en-US" sz="1500" dirty="0"/>
          </a:p>
        </p:txBody>
      </p:sp>
      <p:sp>
        <p:nvSpPr>
          <p:cNvPr id="14" name="rule-223"/>
          <p:cNvSpPr/>
          <p:nvPr/>
        </p:nvSpPr>
        <p:spPr>
          <a:xfrm>
            <a:off x="6277356" y="2743200"/>
            <a:ext cx="248031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5" name="text-224"/>
          <p:cNvSpPr txBox="1"/>
          <p:nvPr/>
        </p:nvSpPr>
        <p:spPr>
          <a:xfrm>
            <a:off x="6277356" y="2926080"/>
            <a:ext cx="24803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 · Client</a:t>
            </a:r>
            <a:endParaRPr lang="en-US" sz="1300" dirty="0"/>
          </a:p>
        </p:txBody>
      </p:sp>
      <p:sp>
        <p:nvSpPr>
          <p:cNvPr id="16" name="text-225"/>
          <p:cNvSpPr txBox="1"/>
          <p:nvPr/>
        </p:nvSpPr>
        <p:spPr>
          <a:xfrm>
            <a:off x="6277356" y="3337560"/>
            <a:ext cx="24803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Approves</a:t>
            </a:r>
            <a:endParaRPr lang="en-US" sz="2400" dirty="0"/>
          </a:p>
        </p:txBody>
      </p:sp>
      <p:sp>
        <p:nvSpPr>
          <p:cNvPr id="17" name="text-226"/>
          <p:cNvSpPr txBox="1"/>
          <p:nvPr/>
        </p:nvSpPr>
        <p:spPr>
          <a:xfrm>
            <a:off x="6277356" y="4160520"/>
            <a:ext cx="248031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Yes, edit or bin, on their phone.</a:t>
            </a:r>
            <a:endParaRPr lang="en-US" sz="1500" dirty="0"/>
          </a:p>
        </p:txBody>
      </p:sp>
      <p:sp>
        <p:nvSpPr>
          <p:cNvPr id="18" name="rule-227"/>
          <p:cNvSpPr/>
          <p:nvPr/>
        </p:nvSpPr>
        <p:spPr>
          <a:xfrm>
            <a:off x="9123426" y="2743200"/>
            <a:ext cx="248031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9" name="text-228"/>
          <p:cNvSpPr txBox="1"/>
          <p:nvPr/>
        </p:nvSpPr>
        <p:spPr>
          <a:xfrm>
            <a:off x="9123426" y="2926080"/>
            <a:ext cx="24803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 · Extol</a:t>
            </a:r>
            <a:endParaRPr lang="en-US" sz="1300" dirty="0"/>
          </a:p>
        </p:txBody>
      </p:sp>
      <p:sp>
        <p:nvSpPr>
          <p:cNvPr id="20" name="text-229"/>
          <p:cNvSpPr txBox="1"/>
          <p:nvPr/>
        </p:nvSpPr>
        <p:spPr>
          <a:xfrm>
            <a:off x="9123426" y="3337560"/>
            <a:ext cx="24803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Publishes and reports</a:t>
            </a:r>
            <a:endParaRPr lang="en-US" sz="2400" dirty="0"/>
          </a:p>
        </p:txBody>
      </p:sp>
      <p:sp>
        <p:nvSpPr>
          <p:cNvPr id="21" name="text-230"/>
          <p:cNvSpPr txBox="1"/>
          <p:nvPr/>
        </p:nvSpPr>
        <p:spPr>
          <a:xfrm>
            <a:off x="9123426" y="4160520"/>
            <a:ext cx="248031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Everywhere, at a human pace, with results tracked.</a:t>
            </a:r>
            <a:endParaRPr lang="en-US" sz="1500" dirty="0"/>
          </a:p>
        </p:txBody>
      </p:sp>
      <p:sp>
        <p:nvSpPr>
          <p:cNvPr id="22" name="text-231"/>
          <p:cNvSpPr txBox="1"/>
          <p:nvPr/>
        </p:nvSpPr>
        <p:spPr>
          <a:xfrm>
            <a:off x="585216" y="5760720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Nothing is ever published without the client’s yes.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32"/>
          <p:cNvSpPr txBox="1"/>
          <p:nvPr/>
        </p:nvSpPr>
        <p:spPr>
          <a:xfrm>
            <a:off x="585216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 Affiliates</a:t>
            </a:r>
            <a:endParaRPr lang="en-US" sz="1300" dirty="0"/>
          </a:p>
        </p:txBody>
      </p:sp>
      <p:sp>
        <p:nvSpPr>
          <p:cNvPr id="3" name="text-233"/>
          <p:cNvSpPr txBox="1"/>
          <p:nvPr/>
        </p:nvSpPr>
        <p:spPr>
          <a:xfrm>
            <a:off x="6117336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What we offer</a:t>
            </a:r>
            <a:endParaRPr lang="en-US" sz="1300" dirty="0"/>
          </a:p>
        </p:txBody>
      </p:sp>
      <p:sp>
        <p:nvSpPr>
          <p:cNvPr id="4" name="text-234"/>
          <p:cNvSpPr txBox="1"/>
          <p:nvPr/>
        </p:nvSpPr>
        <p:spPr>
          <a:xfrm>
            <a:off x="566928" y="1097280"/>
            <a:ext cx="11018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the client’s 2½ hours a week go</a:t>
            </a:r>
            <a:endParaRPr lang="en-US" sz="4000" dirty="0"/>
          </a:p>
        </p:txBody>
      </p:sp>
      <p:sp>
        <p:nvSpPr>
          <p:cNvPr id="5" name="text-235"/>
          <p:cNvSpPr txBox="1"/>
          <p:nvPr/>
        </p:nvSpPr>
        <p:spPr>
          <a:xfrm>
            <a:off x="585216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Insights</a:t>
            </a:r>
            <a:endParaRPr lang="en-US" sz="1300" dirty="0"/>
          </a:p>
        </p:txBody>
      </p:sp>
      <p:sp>
        <p:nvSpPr>
          <p:cNvPr id="6" name="rule-236"/>
          <p:cNvSpPr/>
          <p:nvPr/>
        </p:nvSpPr>
        <p:spPr>
          <a:xfrm>
            <a:off x="585216" y="3017520"/>
            <a:ext cx="329184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7" name="text-237"/>
          <p:cNvSpPr txBox="1"/>
          <p:nvPr/>
        </p:nvSpPr>
        <p:spPr>
          <a:xfrm>
            <a:off x="585216" y="320040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Writing is gone from the client’s week. What’s left is thinking, deciding and one conversation with us.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Raw note: 30 minutes.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Approvals: about 10 minutes a day.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Weekly call: 1 hour.</a:t>
            </a:r>
            <a:endParaRPr lang="en-US" sz="1500" dirty="0"/>
          </a:p>
        </p:txBody>
      </p:sp>
      <p:sp>
        <p:nvSpPr>
          <p:cNvPr id="8" name="text-238"/>
          <p:cNvSpPr txBox="1"/>
          <p:nvPr/>
        </p:nvSpPr>
        <p:spPr>
          <a:xfrm>
            <a:off x="4480560" y="26517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Client time per week (minutes)</a:t>
            </a:r>
            <a:endParaRPr lang="en-US" sz="1300" dirty="0"/>
          </a:p>
        </p:txBody>
      </p:sp>
      <p:graphicFrame>
        <p:nvGraphicFramePr>
          <p:cNvPr id="9" name="time-chart" descr=""/>
          <p:cNvGraphicFramePr/>
          <p:nvPr/>
        </p:nvGraphicFramePr>
        <p:xfrm>
          <a:off x="4480560" y="2971800"/>
          <a:ext cx="71323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-239"/>
          <p:cNvSpPr txBox="1"/>
          <p:nvPr/>
        </p:nvSpPr>
        <p:spPr>
          <a:xfrm>
            <a:off x="4480560" y="61722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From the consultancy plan: raw note 30 min, approvals about 10 min a day, weekly call 1 hour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40"/>
          <p:cNvSpPr txBox="1"/>
          <p:nvPr/>
        </p:nvSpPr>
        <p:spPr>
          <a:xfrm>
            <a:off x="585216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 Affiliates</a:t>
            </a:r>
            <a:endParaRPr lang="en-US" sz="1300" dirty="0"/>
          </a:p>
        </p:txBody>
      </p:sp>
      <p:sp>
        <p:nvSpPr>
          <p:cNvPr id="3" name="text-241"/>
          <p:cNvSpPr txBox="1"/>
          <p:nvPr/>
        </p:nvSpPr>
        <p:spPr>
          <a:xfrm>
            <a:off x="6117336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What we offer</a:t>
            </a:r>
            <a:endParaRPr lang="en-US" sz="1300" dirty="0"/>
          </a:p>
        </p:txBody>
      </p:sp>
      <p:sp>
        <p:nvSpPr>
          <p:cNvPr id="4" name="text-242"/>
          <p:cNvSpPr txBox="1"/>
          <p:nvPr/>
        </p:nvSpPr>
        <p:spPr>
          <a:xfrm>
            <a:off x="566928" y="1097280"/>
            <a:ext cx="11018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we expect outreach to produce each month</a:t>
            </a:r>
            <a:endParaRPr lang="en-US" sz="4000" dirty="0"/>
          </a:p>
        </p:txBody>
      </p:sp>
      <p:sp>
        <p:nvSpPr>
          <p:cNvPr id="5" name="text-243"/>
          <p:cNvSpPr txBox="1"/>
          <p:nvPr/>
        </p:nvSpPr>
        <p:spPr>
          <a:xfrm>
            <a:off x="585216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Insights</a:t>
            </a:r>
            <a:endParaRPr lang="en-US" sz="1300" dirty="0"/>
          </a:p>
        </p:txBody>
      </p:sp>
      <p:sp>
        <p:nvSpPr>
          <p:cNvPr id="6" name="rule-244"/>
          <p:cNvSpPr/>
          <p:nvPr/>
        </p:nvSpPr>
        <p:spPr>
          <a:xfrm>
            <a:off x="585216" y="3017520"/>
            <a:ext cx="329184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7" name="text-245"/>
          <p:cNvSpPr txBox="1"/>
          <p:nvPr/>
        </p:nvSpPr>
        <p:spPr>
          <a:xfrm>
            <a:off x="585216" y="320040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 full pace: 20 connection requests a day.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37% accepted.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18% of those reply.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30% of replies book a call.</a:t>
            </a:r>
            <a:endParaRPr lang="en-US" sz="1500" dirty="0"/>
          </a:p>
        </p:txBody>
      </p:sp>
      <p:sp>
        <p:nvSpPr>
          <p:cNvPr id="8" name="text-246"/>
          <p:cNvSpPr txBox="1"/>
          <p:nvPr/>
        </p:nvSpPr>
        <p:spPr>
          <a:xfrm>
            <a:off x="4480560" y="26517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Outreach in one month (estimate)</a:t>
            </a:r>
            <a:endParaRPr lang="en-US" sz="1300" dirty="0"/>
          </a:p>
        </p:txBody>
      </p:sp>
      <p:graphicFrame>
        <p:nvGraphicFramePr>
          <p:cNvPr id="9" name="funnel-chart" descr=""/>
          <p:cNvGraphicFramePr/>
          <p:nvPr/>
        </p:nvGraphicFramePr>
        <p:xfrm>
          <a:off x="4480560" y="2971800"/>
          <a:ext cx="71323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-247"/>
          <p:cNvSpPr txBox="1"/>
          <p:nvPr/>
        </p:nvSpPr>
        <p:spPr>
          <a:xfrm>
            <a:off x="4480560" y="61722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Planning estimates from our consultancy client’s plan, not yet proven results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48"/>
          <p:cNvSpPr txBox="1"/>
          <p:nvPr/>
        </p:nvSpPr>
        <p:spPr>
          <a:xfrm>
            <a:off x="585216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 Affiliates</a:t>
            </a:r>
            <a:endParaRPr lang="en-US" sz="1300" dirty="0"/>
          </a:p>
        </p:txBody>
      </p:sp>
      <p:sp>
        <p:nvSpPr>
          <p:cNvPr id="3" name="text-249"/>
          <p:cNvSpPr txBox="1"/>
          <p:nvPr/>
        </p:nvSpPr>
        <p:spPr>
          <a:xfrm>
            <a:off x="6117336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What we offer</a:t>
            </a:r>
            <a:endParaRPr lang="en-US" sz="1300" dirty="0"/>
          </a:p>
        </p:txBody>
      </p:sp>
      <p:sp>
        <p:nvSpPr>
          <p:cNvPr id="4" name="text-250"/>
          <p:cNvSpPr txBox="1"/>
          <p:nvPr/>
        </p:nvSpPr>
        <p:spPr>
          <a:xfrm>
            <a:off x="566928" y="1097280"/>
            <a:ext cx="11018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Leads should build up month by month</a:t>
            </a:r>
            <a:endParaRPr lang="en-US" sz="4000" dirty="0"/>
          </a:p>
        </p:txBody>
      </p:sp>
      <p:sp>
        <p:nvSpPr>
          <p:cNvPr id="5" name="text-251"/>
          <p:cNvSpPr txBox="1"/>
          <p:nvPr/>
        </p:nvSpPr>
        <p:spPr>
          <a:xfrm>
            <a:off x="585216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Insights</a:t>
            </a:r>
            <a:endParaRPr lang="en-US" sz="1300" dirty="0"/>
          </a:p>
        </p:txBody>
      </p:sp>
      <p:sp>
        <p:nvSpPr>
          <p:cNvPr id="6" name="rule-252"/>
          <p:cNvSpPr/>
          <p:nvPr/>
        </p:nvSpPr>
        <p:spPr>
          <a:xfrm>
            <a:off x="585216" y="3017520"/>
            <a:ext cx="329184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7" name="text-253"/>
          <p:cNvSpPr txBox="1"/>
          <p:nvPr/>
        </p:nvSpPr>
        <p:spPr>
          <a:xfrm>
            <a:off x="585216" y="320040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 month 6: 100 qualified leads a month, 10 real sales calls, 2–3 new clients.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qualified lead replies, books or signs up. Likes don’t count.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Big contracts take 6–12 months to close.</a:t>
            </a:r>
            <a:endParaRPr lang="en-US" sz="1500" dirty="0"/>
          </a:p>
        </p:txBody>
      </p:sp>
      <p:sp>
        <p:nvSpPr>
          <p:cNvPr id="8" name="text-254"/>
          <p:cNvSpPr txBox="1"/>
          <p:nvPr/>
        </p:nvSpPr>
        <p:spPr>
          <a:xfrm>
            <a:off x="4480560" y="26517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Qualified leads per month (forecast)</a:t>
            </a:r>
            <a:endParaRPr lang="en-US" sz="1300" dirty="0"/>
          </a:p>
        </p:txBody>
      </p:sp>
      <p:graphicFrame>
        <p:nvGraphicFramePr>
          <p:cNvPr id="9" name="leads-chart" descr=""/>
          <p:cNvGraphicFramePr/>
          <p:nvPr/>
        </p:nvGraphicFramePr>
        <p:xfrm>
          <a:off x="4480560" y="2971800"/>
          <a:ext cx="71323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-255"/>
          <p:cNvSpPr txBox="1"/>
          <p:nvPr/>
        </p:nvSpPr>
        <p:spPr>
          <a:xfrm>
            <a:off x="4480560" y="61722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Forecast mid-points from our consultancy client’s plan, not yet proven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256"/>
          <p:cNvSpPr txBox="1"/>
          <p:nvPr/>
        </p:nvSpPr>
        <p:spPr>
          <a:xfrm>
            <a:off x="585216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 Affiliates</a:t>
            </a:r>
            <a:endParaRPr lang="en-US" sz="1300" dirty="0"/>
          </a:p>
        </p:txBody>
      </p:sp>
      <p:sp>
        <p:nvSpPr>
          <p:cNvPr id="4" name="text-257"/>
          <p:cNvSpPr txBox="1"/>
          <p:nvPr/>
        </p:nvSpPr>
        <p:spPr>
          <a:xfrm>
            <a:off x="6117336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What we offer</a:t>
            </a:r>
            <a:endParaRPr lang="en-US" sz="1300" dirty="0"/>
          </a:p>
        </p:txBody>
      </p:sp>
      <p:sp>
        <p:nvSpPr>
          <p:cNvPr id="5" name="text-258"/>
          <p:cNvSpPr txBox="1"/>
          <p:nvPr/>
        </p:nvSpPr>
        <p:spPr>
          <a:xfrm>
            <a:off x="566928" y="1097280"/>
            <a:ext cx="11018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it costs: one fee, every tool included</a:t>
            </a:r>
            <a:endParaRPr lang="en-US" sz="4000" dirty="0"/>
          </a:p>
        </p:txBody>
      </p:sp>
      <p:sp>
        <p:nvSpPr>
          <p:cNvPr id="6" name="text-259"/>
          <p:cNvSpPr txBox="1"/>
          <p:nvPr/>
        </p:nvSpPr>
        <p:spPr>
          <a:xfrm>
            <a:off x="685800" y="25146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2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£1,500</a:t>
            </a:r>
            <a:endParaRPr lang="en-US" sz="7200" dirty="0"/>
          </a:p>
        </p:txBody>
      </p:sp>
      <p:sp>
        <p:nvSpPr>
          <p:cNvPr id="7" name="text-260"/>
          <p:cNvSpPr txBox="1"/>
          <p:nvPr/>
        </p:nvSpPr>
        <p:spPr>
          <a:xfrm>
            <a:off x="68580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Month 1</a:t>
            </a:r>
            <a:endParaRPr lang="en-US" sz="1300" dirty="0"/>
          </a:p>
        </p:txBody>
      </p:sp>
      <p:sp>
        <p:nvSpPr>
          <p:cNvPr id="8" name="text-261"/>
          <p:cNvSpPr txBox="1"/>
          <p:nvPr/>
        </p:nvSpPr>
        <p:spPr>
          <a:xfrm>
            <a:off x="1051560" y="41605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Set-up, voice interview and website build</a:t>
            </a:r>
            <a:endParaRPr lang="en-US" sz="1500" dirty="0"/>
          </a:p>
        </p:txBody>
      </p:sp>
      <p:sp>
        <p:nvSpPr>
          <p:cNvPr id="9" name="text-262"/>
          <p:cNvSpPr txBox="1"/>
          <p:nvPr/>
        </p:nvSpPr>
        <p:spPr>
          <a:xfrm>
            <a:off x="4343400" y="25146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2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£1,200</a:t>
            </a:r>
            <a:endParaRPr lang="en-US" sz="7200" dirty="0"/>
          </a:p>
        </p:txBody>
      </p:sp>
      <p:sp>
        <p:nvSpPr>
          <p:cNvPr id="10" name="text-263"/>
          <p:cNvSpPr txBox="1"/>
          <p:nvPr/>
        </p:nvSpPr>
        <p:spPr>
          <a:xfrm>
            <a:off x="434340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Months 2–3</a:t>
            </a:r>
            <a:endParaRPr lang="en-US" sz="1300" dirty="0"/>
          </a:p>
        </p:txBody>
      </p:sp>
      <p:sp>
        <p:nvSpPr>
          <p:cNvPr id="11" name="text-264"/>
          <p:cNvSpPr txBox="1"/>
          <p:nvPr/>
        </p:nvSpPr>
        <p:spPr>
          <a:xfrm>
            <a:off x="4709160" y="41605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Founding price, full delivery</a:t>
            </a:r>
            <a:endParaRPr lang="en-US" sz="1500" dirty="0"/>
          </a:p>
        </p:txBody>
      </p:sp>
      <p:sp>
        <p:nvSpPr>
          <p:cNvPr id="12" name="text-265"/>
          <p:cNvSpPr txBox="1"/>
          <p:nvPr/>
        </p:nvSpPr>
        <p:spPr>
          <a:xfrm>
            <a:off x="8001000" y="25146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2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£2,500</a:t>
            </a:r>
            <a:endParaRPr lang="en-US" sz="7200" dirty="0"/>
          </a:p>
        </p:txBody>
      </p:sp>
      <p:sp>
        <p:nvSpPr>
          <p:cNvPr id="13" name="text-266"/>
          <p:cNvSpPr txBox="1"/>
          <p:nvPr/>
        </p:nvSpPr>
        <p:spPr>
          <a:xfrm>
            <a:off x="800100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Month 4 onwards</a:t>
            </a:r>
            <a:endParaRPr lang="en-US" sz="1300" dirty="0"/>
          </a:p>
        </p:txBody>
      </p:sp>
      <p:sp>
        <p:nvSpPr>
          <p:cNvPr id="14" name="text-267"/>
          <p:cNvSpPr txBox="1"/>
          <p:nvPr/>
        </p:nvSpPr>
        <p:spPr>
          <a:xfrm>
            <a:off x="8366760" y="41605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platform, agent, Skool and webinar tool</a:t>
            </a:r>
            <a:endParaRPr lang="en-US" sz="1500" dirty="0"/>
          </a:p>
        </p:txBody>
      </p:sp>
      <p:sp>
        <p:nvSpPr>
          <p:cNvPr id="15" name="rule-268"/>
          <p:cNvSpPr/>
          <p:nvPr/>
        </p:nvSpPr>
        <p:spPr>
          <a:xfrm>
            <a:off x="585216" y="5257800"/>
            <a:ext cx="1101852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6" name="text-269"/>
          <p:cNvSpPr txBox="1"/>
          <p:nvPr/>
        </p:nvSpPr>
        <p:spPr>
          <a:xfrm>
            <a:off x="585216" y="5440680"/>
            <a:ext cx="11018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promise: at day 60 we review the results together. If we’re behind plan, we fix it in writing, or the client can leave.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70"/>
          <p:cNvSpPr txBox="1"/>
          <p:nvPr/>
        </p:nvSpPr>
        <p:spPr>
          <a:xfrm>
            <a:off x="585216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 Affiliates</a:t>
            </a:r>
            <a:endParaRPr lang="en-US" sz="1300" dirty="0"/>
          </a:p>
        </p:txBody>
      </p:sp>
      <p:sp>
        <p:nvSpPr>
          <p:cNvPr id="3" name="text-271"/>
          <p:cNvSpPr txBox="1"/>
          <p:nvPr/>
        </p:nvSpPr>
        <p:spPr>
          <a:xfrm>
            <a:off x="6117336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What we offer</a:t>
            </a:r>
            <a:endParaRPr lang="en-US" sz="1300" dirty="0"/>
          </a:p>
        </p:txBody>
      </p:sp>
      <p:sp>
        <p:nvSpPr>
          <p:cNvPr id="4" name="text-272"/>
          <p:cNvSpPr txBox="1"/>
          <p:nvPr/>
        </p:nvSpPr>
        <p:spPr>
          <a:xfrm>
            <a:off x="566928" y="1097280"/>
            <a:ext cx="11018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the year-one fee adds up</a:t>
            </a:r>
            <a:endParaRPr lang="en-US" sz="4000" dirty="0"/>
          </a:p>
        </p:txBody>
      </p:sp>
      <p:sp>
        <p:nvSpPr>
          <p:cNvPr id="5" name="text-273"/>
          <p:cNvSpPr txBox="1"/>
          <p:nvPr/>
        </p:nvSpPr>
        <p:spPr>
          <a:xfrm>
            <a:off x="585216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Insights</a:t>
            </a:r>
            <a:endParaRPr lang="en-US" sz="1300" dirty="0"/>
          </a:p>
        </p:txBody>
      </p:sp>
      <p:sp>
        <p:nvSpPr>
          <p:cNvPr id="6" name="rule-274"/>
          <p:cNvSpPr/>
          <p:nvPr/>
        </p:nvSpPr>
        <p:spPr>
          <a:xfrm>
            <a:off x="585216" y="3017520"/>
            <a:ext cx="329184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7" name="text-275"/>
          <p:cNvSpPr txBox="1"/>
          <p:nvPr/>
        </p:nvSpPr>
        <p:spPr>
          <a:xfrm>
            <a:off x="585216" y="320040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Months 1–3 cost £3,900 at the founding price, instead of £7,500 at the standard fee.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month 4 the fee is £2,500 a month, with every tool included.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Year one in total: £26,400.</a:t>
            </a:r>
            <a:endParaRPr lang="en-US" sz="1500" dirty="0"/>
          </a:p>
        </p:txBody>
      </p:sp>
      <p:sp>
        <p:nvSpPr>
          <p:cNvPr id="8" name="text-276"/>
          <p:cNvSpPr txBox="1"/>
          <p:nvPr/>
        </p:nvSpPr>
        <p:spPr>
          <a:xfrm>
            <a:off x="4480560" y="26517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Cumulative fee by month (£ thousand)</a:t>
            </a:r>
            <a:endParaRPr lang="en-US" sz="1300" dirty="0"/>
          </a:p>
        </p:txBody>
      </p:sp>
      <p:graphicFrame>
        <p:nvGraphicFramePr>
          <p:cNvPr id="9" name="fee-chart" descr=""/>
          <p:cNvGraphicFramePr/>
          <p:nvPr/>
        </p:nvGraphicFramePr>
        <p:xfrm>
          <a:off x="4480560" y="2971800"/>
          <a:ext cx="71323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-277"/>
          <p:cNvSpPr txBox="1"/>
          <p:nvPr/>
        </p:nvSpPr>
        <p:spPr>
          <a:xfrm>
            <a:off x="4480560" y="61722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Founding-client price. Prices exclude VAT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78"/>
          <p:cNvSpPr txBox="1"/>
          <p:nvPr/>
        </p:nvSpPr>
        <p:spPr>
          <a:xfrm>
            <a:off x="585216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 Affiliates</a:t>
            </a:r>
            <a:endParaRPr lang="en-US" sz="1300" dirty="0"/>
          </a:p>
        </p:txBody>
      </p:sp>
      <p:sp>
        <p:nvSpPr>
          <p:cNvPr id="3" name="text-279"/>
          <p:cNvSpPr txBox="1"/>
          <p:nvPr/>
        </p:nvSpPr>
        <p:spPr>
          <a:xfrm>
            <a:off x="6117336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What we offer</a:t>
            </a:r>
            <a:endParaRPr lang="en-US" sz="1300" dirty="0"/>
          </a:p>
        </p:txBody>
      </p:sp>
      <p:sp>
        <p:nvSpPr>
          <p:cNvPr id="4" name="text-280"/>
          <p:cNvSpPr txBox="1"/>
          <p:nvPr/>
        </p:nvSpPr>
        <p:spPr>
          <a:xfrm>
            <a:off x="566928" y="1097280"/>
            <a:ext cx="11018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client win can pay for the whole year</a:t>
            </a:r>
            <a:endParaRPr lang="en-US" sz="4000" dirty="0"/>
          </a:p>
        </p:txBody>
      </p:sp>
      <p:sp>
        <p:nvSpPr>
          <p:cNvPr id="5" name="text-281"/>
          <p:cNvSpPr txBox="1"/>
          <p:nvPr/>
        </p:nvSpPr>
        <p:spPr>
          <a:xfrm>
            <a:off x="585216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Insights</a:t>
            </a:r>
            <a:endParaRPr lang="en-US" sz="1300" dirty="0"/>
          </a:p>
        </p:txBody>
      </p:sp>
      <p:sp>
        <p:nvSpPr>
          <p:cNvPr id="6" name="rule-282"/>
          <p:cNvSpPr/>
          <p:nvPr/>
        </p:nvSpPr>
        <p:spPr>
          <a:xfrm>
            <a:off x="585216" y="3017520"/>
            <a:ext cx="329184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7" name="text-283"/>
          <p:cNvSpPr txBox="1"/>
          <p:nvPr/>
        </p:nvSpPr>
        <p:spPr>
          <a:xfrm>
            <a:off x="585216" y="320040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Year-one fee: £26,400.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Return on the fee, on profit at a 50% margin: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0.9× one small piece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2.8× one mid-size engagement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9.5× two engagements</a:t>
            </a:r>
            <a:endParaRPr lang="en-US" sz="1500" dirty="0"/>
          </a:p>
        </p:txBody>
      </p:sp>
      <p:sp>
        <p:nvSpPr>
          <p:cNvPr id="8" name="text-284"/>
          <p:cNvSpPr txBox="1"/>
          <p:nvPr/>
        </p:nvSpPr>
        <p:spPr>
          <a:xfrm>
            <a:off x="4480560" y="26517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Year-one fee vs. value of a client win (£)</a:t>
            </a:r>
            <a:endParaRPr lang="en-US" sz="1300" dirty="0"/>
          </a:p>
        </p:txBody>
      </p:sp>
      <p:graphicFrame>
        <p:nvGraphicFramePr>
          <p:cNvPr id="9" name="payback-chart" descr=""/>
          <p:cNvGraphicFramePr/>
          <p:nvPr/>
        </p:nvGraphicFramePr>
        <p:xfrm>
          <a:off x="4480560" y="2971800"/>
          <a:ext cx="71323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-285"/>
          <p:cNvSpPr txBox="1"/>
          <p:nvPr/>
        </p:nvSpPr>
        <p:spPr>
          <a:xfrm>
            <a:off x="4480560" y="61722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Illustrative figures from the consultancy plan, not results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86"/>
          <p:cNvSpPr txBox="1"/>
          <p:nvPr/>
        </p:nvSpPr>
        <p:spPr>
          <a:xfrm>
            <a:off x="585216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 Affiliates</a:t>
            </a:r>
            <a:endParaRPr lang="en-US" sz="1300" dirty="0"/>
          </a:p>
        </p:txBody>
      </p:sp>
      <p:sp>
        <p:nvSpPr>
          <p:cNvPr id="3" name="text-287"/>
          <p:cNvSpPr txBox="1"/>
          <p:nvPr/>
        </p:nvSpPr>
        <p:spPr>
          <a:xfrm>
            <a:off x="7406640" y="658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October 2026</a:t>
            </a:r>
            <a:endParaRPr lang="en-US" sz="1300" dirty="0"/>
          </a:p>
        </p:txBody>
      </p:sp>
      <p:sp>
        <p:nvSpPr>
          <p:cNvPr id="4" name="text-288"/>
          <p:cNvSpPr txBox="1"/>
          <p:nvPr/>
        </p:nvSpPr>
        <p:spPr>
          <a:xfrm>
            <a:off x="9317736" y="658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Confidential</a:t>
            </a:r>
            <a:endParaRPr lang="en-US" sz="1300" dirty="0"/>
          </a:p>
        </p:txBody>
      </p:sp>
      <p:sp>
        <p:nvSpPr>
          <p:cNvPr id="5" name="text-289"/>
          <p:cNvSpPr txBox="1"/>
          <p:nvPr/>
        </p:nvSpPr>
        <p:spPr>
          <a:xfrm>
            <a:off x="548640" y="2926080"/>
            <a:ext cx="9326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86000"/>
              </a:lnSpc>
              <a:buNone/>
            </a:pPr>
            <a:r>
              <a:rPr lang="en-US" sz="112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</a:t>
            </a:r>
            <a:endParaRPr lang="en-US" sz="11200" dirty="0"/>
          </a:p>
          <a:p>
            <a:pPr indent="0" marL="0">
              <a:lnSpc>
                <a:spcPct val="86000"/>
              </a:lnSpc>
              <a:buNone/>
            </a:pPr>
            <a:r>
              <a:rPr lang="en-US" sz="112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role</a:t>
            </a:r>
            <a:endParaRPr lang="en-US" sz="11200" dirty="0"/>
          </a:p>
        </p:txBody>
      </p:sp>
      <p:sp>
        <p:nvSpPr>
          <p:cNvPr id="6" name="arrow-290"/>
          <p:cNvSpPr/>
          <p:nvPr/>
        </p:nvSpPr>
        <p:spPr>
          <a:xfrm>
            <a:off x="10927080" y="5440680"/>
            <a:ext cx="658368" cy="658368"/>
          </a:xfrm>
          <a:prstGeom prst="line">
            <a:avLst/>
          </a:prstGeom>
          <a:noFill/>
          <a:ln w="88900">
            <a:solidFill>
              <a:schemeClr val="tx1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291"/>
          <p:cNvSpPr txBox="1"/>
          <p:nvPr/>
        </p:nvSpPr>
        <p:spPr>
          <a:xfrm>
            <a:off x="585216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 Affiliates</a:t>
            </a:r>
            <a:endParaRPr lang="en-US" sz="1300" dirty="0"/>
          </a:p>
        </p:txBody>
      </p:sp>
      <p:sp>
        <p:nvSpPr>
          <p:cNvPr id="4" name="text-292"/>
          <p:cNvSpPr txBox="1"/>
          <p:nvPr/>
        </p:nvSpPr>
        <p:spPr>
          <a:xfrm>
            <a:off x="6117336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Your role</a:t>
            </a:r>
            <a:endParaRPr lang="en-US" sz="1300" dirty="0"/>
          </a:p>
        </p:txBody>
      </p:sp>
      <p:sp>
        <p:nvSpPr>
          <p:cNvPr id="5" name="text-293"/>
          <p:cNvSpPr txBox="1"/>
          <p:nvPr/>
        </p:nvSpPr>
        <p:spPr>
          <a:xfrm>
            <a:off x="566928" y="1097280"/>
            <a:ext cx="11018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ways you can help us grow</a:t>
            </a:r>
            <a:endParaRPr lang="en-US" sz="4000" dirty="0"/>
          </a:p>
        </p:txBody>
      </p:sp>
      <p:sp>
        <p:nvSpPr>
          <p:cNvPr id="6" name="rule-294"/>
          <p:cNvSpPr/>
          <p:nvPr/>
        </p:nvSpPr>
        <p:spPr>
          <a:xfrm>
            <a:off x="585216" y="27432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7" name="text-295"/>
          <p:cNvSpPr txBox="1"/>
          <p:nvPr/>
        </p:nvSpPr>
        <p:spPr>
          <a:xfrm>
            <a:off x="585216" y="29260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#1</a:t>
            </a:r>
            <a:endParaRPr lang="en-US" sz="1300" dirty="0"/>
          </a:p>
        </p:txBody>
      </p:sp>
      <p:sp>
        <p:nvSpPr>
          <p:cNvPr id="8" name="text-296"/>
          <p:cNvSpPr txBox="1"/>
          <p:nvPr/>
        </p:nvSpPr>
        <p:spPr>
          <a:xfrm>
            <a:off x="585216" y="33375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Advise</a:t>
            </a:r>
            <a:endParaRPr lang="en-US" sz="2400" dirty="0"/>
          </a:p>
        </p:txBody>
      </p:sp>
      <p:sp>
        <p:nvSpPr>
          <p:cNvPr id="9" name="text-297"/>
          <p:cNvSpPr txBox="1"/>
          <p:nvPr/>
        </p:nvSpPr>
        <p:spPr>
          <a:xfrm>
            <a:off x="585216" y="416052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Sharpen our offer, pricing and pitch. Sit in on key pitches and debrief us.</a:t>
            </a:r>
            <a:endParaRPr lang="en-US" sz="1500" dirty="0"/>
          </a:p>
        </p:txBody>
      </p:sp>
      <p:sp>
        <p:nvSpPr>
          <p:cNvPr id="10" name="rule-298"/>
          <p:cNvSpPr/>
          <p:nvPr/>
        </p:nvSpPr>
        <p:spPr>
          <a:xfrm>
            <a:off x="4379976" y="27432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1" name="text-299"/>
          <p:cNvSpPr txBox="1"/>
          <p:nvPr/>
        </p:nvSpPr>
        <p:spPr>
          <a:xfrm>
            <a:off x="4379976" y="29260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#2</a:t>
            </a:r>
            <a:endParaRPr lang="en-US" sz="1300" dirty="0"/>
          </a:p>
        </p:txBody>
      </p:sp>
      <p:sp>
        <p:nvSpPr>
          <p:cNvPr id="12" name="text-300"/>
          <p:cNvSpPr txBox="1"/>
          <p:nvPr/>
        </p:nvSpPr>
        <p:spPr>
          <a:xfrm>
            <a:off x="4379976" y="33375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Guide</a:t>
            </a:r>
            <a:endParaRPr lang="en-US" sz="2400" dirty="0"/>
          </a:p>
        </p:txBody>
      </p:sp>
      <p:sp>
        <p:nvSpPr>
          <p:cNvPr id="13" name="text-301"/>
          <p:cNvSpPr txBox="1"/>
          <p:nvPr/>
        </p:nvSpPr>
        <p:spPr>
          <a:xfrm>
            <a:off x="4379976" y="416052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Help us choose the one market to own first, and tell us which proof your network trusts.</a:t>
            </a:r>
            <a:endParaRPr lang="en-US" sz="1500" dirty="0"/>
          </a:p>
        </p:txBody>
      </p:sp>
      <p:sp>
        <p:nvSpPr>
          <p:cNvPr id="14" name="rule-302"/>
          <p:cNvSpPr/>
          <p:nvPr/>
        </p:nvSpPr>
        <p:spPr>
          <a:xfrm>
            <a:off x="8174736" y="27432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5" name="text-303"/>
          <p:cNvSpPr txBox="1"/>
          <p:nvPr/>
        </p:nvSpPr>
        <p:spPr>
          <a:xfrm>
            <a:off x="8174736" y="29260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#3</a:t>
            </a:r>
            <a:endParaRPr lang="en-US" sz="1300" dirty="0"/>
          </a:p>
        </p:txBody>
      </p:sp>
      <p:sp>
        <p:nvSpPr>
          <p:cNvPr id="16" name="text-304"/>
          <p:cNvSpPr txBox="1"/>
          <p:nvPr/>
        </p:nvSpPr>
        <p:spPr>
          <a:xfrm>
            <a:off x="8174736" y="33375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Introduce</a:t>
            </a:r>
            <a:endParaRPr lang="en-US" sz="2400" dirty="0"/>
          </a:p>
        </p:txBody>
      </p:sp>
      <p:sp>
        <p:nvSpPr>
          <p:cNvPr id="17" name="text-305"/>
          <p:cNvSpPr txBox="1"/>
          <p:nvPr/>
        </p:nvSpPr>
        <p:spPr>
          <a:xfrm>
            <a:off x="8174736" y="416052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 us with experts and firms who need us, and join first calls where your name helps.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306"/>
          <p:cNvSpPr txBox="1"/>
          <p:nvPr/>
        </p:nvSpPr>
        <p:spPr>
          <a:xfrm>
            <a:off x="585216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 Affiliates</a:t>
            </a:r>
            <a:endParaRPr lang="en-US" sz="1300" dirty="0"/>
          </a:p>
        </p:txBody>
      </p:sp>
      <p:sp>
        <p:nvSpPr>
          <p:cNvPr id="4" name="text-307"/>
          <p:cNvSpPr txBox="1"/>
          <p:nvPr/>
        </p:nvSpPr>
        <p:spPr>
          <a:xfrm>
            <a:off x="6117336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Your role</a:t>
            </a:r>
            <a:endParaRPr lang="en-US" sz="1300" dirty="0"/>
          </a:p>
        </p:txBody>
      </p:sp>
      <p:sp>
        <p:nvSpPr>
          <p:cNvPr id="5" name="text-308"/>
          <p:cNvSpPr txBox="1"/>
          <p:nvPr/>
        </p:nvSpPr>
        <p:spPr>
          <a:xfrm>
            <a:off x="566928" y="1097280"/>
            <a:ext cx="11018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your experience matters most</a:t>
            </a:r>
            <a:endParaRPr lang="en-US" sz="4000" dirty="0"/>
          </a:p>
        </p:txBody>
      </p:sp>
      <p:sp>
        <p:nvSpPr>
          <p:cNvPr id="6" name="rule-309"/>
          <p:cNvSpPr/>
          <p:nvPr/>
        </p:nvSpPr>
        <p:spPr>
          <a:xfrm>
            <a:off x="585216" y="2606040"/>
            <a:ext cx="530352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7" name="text-310"/>
          <p:cNvSpPr txBox="1"/>
          <p:nvPr/>
        </p:nvSpPr>
        <p:spPr>
          <a:xfrm>
            <a:off x="585216" y="277063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Proof</a:t>
            </a:r>
            <a:endParaRPr lang="en-US" sz="2200" dirty="0"/>
          </a:p>
        </p:txBody>
      </p:sp>
      <p:sp>
        <p:nvSpPr>
          <p:cNvPr id="8" name="text-311"/>
          <p:cNvSpPr txBox="1"/>
          <p:nvPr/>
        </p:nvSpPr>
        <p:spPr>
          <a:xfrm>
            <a:off x="585216" y="32644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case study with hard numbers yet.</a:t>
            </a:r>
            <a:endParaRPr lang="en-US" sz="1500" dirty="0"/>
          </a:p>
        </p:txBody>
      </p:sp>
      <p:sp>
        <p:nvSpPr>
          <p:cNvPr id="9" name="text-312"/>
          <p:cNvSpPr txBox="1"/>
          <p:nvPr/>
        </p:nvSpPr>
        <p:spPr>
          <a:xfrm>
            <a:off x="585216" y="36758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What proof would your network trust?</a:t>
            </a:r>
            <a:endParaRPr lang="en-US" sz="1300" dirty="0"/>
          </a:p>
        </p:txBody>
      </p:sp>
      <p:sp>
        <p:nvSpPr>
          <p:cNvPr id="10" name="rule-313"/>
          <p:cNvSpPr/>
          <p:nvPr/>
        </p:nvSpPr>
        <p:spPr>
          <a:xfrm>
            <a:off x="6300216" y="2606040"/>
            <a:ext cx="530352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1" name="text-314"/>
          <p:cNvSpPr txBox="1"/>
          <p:nvPr/>
        </p:nvSpPr>
        <p:spPr>
          <a:xfrm>
            <a:off x="6300216" y="277063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</a:t>
            </a:r>
            <a:endParaRPr lang="en-US" sz="2200" dirty="0"/>
          </a:p>
        </p:txBody>
      </p:sp>
      <p:sp>
        <p:nvSpPr>
          <p:cNvPr id="12" name="text-315"/>
          <p:cNvSpPr txBox="1"/>
          <p:nvPr/>
        </p:nvSpPr>
        <p:spPr>
          <a:xfrm>
            <a:off x="6300216" y="32644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work in three very different markets.</a:t>
            </a:r>
            <a:endParaRPr lang="en-US" sz="1500" dirty="0"/>
          </a:p>
        </p:txBody>
      </p:sp>
      <p:sp>
        <p:nvSpPr>
          <p:cNvPr id="13" name="text-316"/>
          <p:cNvSpPr txBox="1"/>
          <p:nvPr/>
        </p:nvSpPr>
        <p:spPr>
          <a:xfrm>
            <a:off x="6300216" y="36758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Which one should we own?</a:t>
            </a:r>
            <a:endParaRPr lang="en-US" sz="1300" dirty="0"/>
          </a:p>
        </p:txBody>
      </p:sp>
      <p:sp>
        <p:nvSpPr>
          <p:cNvPr id="14" name="rule-317"/>
          <p:cNvSpPr/>
          <p:nvPr/>
        </p:nvSpPr>
        <p:spPr>
          <a:xfrm>
            <a:off x="585216" y="4389120"/>
            <a:ext cx="530352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5" name="text-318"/>
          <p:cNvSpPr txBox="1"/>
          <p:nvPr/>
        </p:nvSpPr>
        <p:spPr>
          <a:xfrm>
            <a:off x="585216" y="455371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Pricing</a:t>
            </a:r>
            <a:endParaRPr lang="en-US" sz="2200" dirty="0"/>
          </a:p>
        </p:txBody>
      </p:sp>
      <p:sp>
        <p:nvSpPr>
          <p:cNvPr id="16" name="text-319"/>
          <p:cNvSpPr txBox="1"/>
          <p:nvPr/>
        </p:nvSpPr>
        <p:spPr>
          <a:xfrm>
            <a:off x="585216" y="504748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price is tested with only one client.</a:t>
            </a:r>
            <a:endParaRPr lang="en-US" sz="1500" dirty="0"/>
          </a:p>
        </p:txBody>
      </p:sp>
      <p:sp>
        <p:nvSpPr>
          <p:cNvPr id="17" name="text-320"/>
          <p:cNvSpPr txBox="1"/>
          <p:nvPr/>
        </p:nvSpPr>
        <p:spPr>
          <a:xfrm>
            <a:off x="585216" y="545896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Is it right for the value?</a:t>
            </a:r>
            <a:endParaRPr lang="en-US" sz="1300" dirty="0"/>
          </a:p>
        </p:txBody>
      </p:sp>
      <p:sp>
        <p:nvSpPr>
          <p:cNvPr id="18" name="rule-321"/>
          <p:cNvSpPr/>
          <p:nvPr/>
        </p:nvSpPr>
        <p:spPr>
          <a:xfrm>
            <a:off x="6300216" y="4389120"/>
            <a:ext cx="530352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9" name="text-322"/>
          <p:cNvSpPr txBox="1"/>
          <p:nvPr/>
        </p:nvSpPr>
        <p:spPr>
          <a:xfrm>
            <a:off x="6300216" y="455371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Growth</a:t>
            </a:r>
            <a:endParaRPr lang="en-US" sz="2200" dirty="0"/>
          </a:p>
        </p:txBody>
      </p:sp>
      <p:sp>
        <p:nvSpPr>
          <p:cNvPr id="20" name="text-323"/>
          <p:cNvSpPr txBox="1"/>
          <p:nvPr/>
        </p:nvSpPr>
        <p:spPr>
          <a:xfrm>
            <a:off x="6300216" y="504748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 founders do sales and delivery.</a:t>
            </a:r>
            <a:endParaRPr lang="en-US" sz="1500" dirty="0"/>
          </a:p>
        </p:txBody>
      </p:sp>
      <p:sp>
        <p:nvSpPr>
          <p:cNvPr id="21" name="text-324"/>
          <p:cNvSpPr txBox="1"/>
          <p:nvPr/>
        </p:nvSpPr>
        <p:spPr>
          <a:xfrm>
            <a:off x="6300216" y="545896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When should we hire, and who?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325"/>
          <p:cNvSpPr txBox="1"/>
          <p:nvPr/>
        </p:nvSpPr>
        <p:spPr>
          <a:xfrm>
            <a:off x="585216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 Affiliates</a:t>
            </a:r>
            <a:endParaRPr lang="en-US" sz="1300" dirty="0"/>
          </a:p>
        </p:txBody>
      </p:sp>
      <p:sp>
        <p:nvSpPr>
          <p:cNvPr id="4" name="text-326"/>
          <p:cNvSpPr txBox="1"/>
          <p:nvPr/>
        </p:nvSpPr>
        <p:spPr>
          <a:xfrm>
            <a:off x="6117336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Your role</a:t>
            </a:r>
            <a:endParaRPr lang="en-US" sz="1300" dirty="0"/>
          </a:p>
        </p:txBody>
      </p:sp>
      <p:sp>
        <p:nvSpPr>
          <p:cNvPr id="5" name="text-327"/>
          <p:cNvSpPr txBox="1"/>
          <p:nvPr/>
        </p:nvSpPr>
        <p:spPr>
          <a:xfrm>
            <a:off x="566928" y="1097280"/>
            <a:ext cx="11018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we could work together: three options</a:t>
            </a:r>
            <a:endParaRPr lang="en-US" sz="4000" dirty="0"/>
          </a:p>
        </p:txBody>
      </p:sp>
      <p:graphicFrame>
        <p:nvGraphicFramePr>
          <p:cNvPr id="28" name="table-3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" y="2651760"/>
          <a:ext cx="110185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754880"/>
                <a:gridCol w="3429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DM Mono" pitchFamily="34" charset="0"/>
                          <a:ea typeface="DM Mono" pitchFamily="34" charset="-122"/>
                          <a:cs typeface="DM Mono" pitchFamily="34" charset="-120"/>
                        </a:rPr>
                        <a:t>Option</a:t>
                      </a:r>
                      <a:endParaRPr lang="en-US" sz="1200" dirty="0">
                        <a:latin typeface="DM Mono" charset="0"/>
                        <a:ea typeface="DM Mono" charset="0"/>
                        <a:cs typeface="DM Mono" charset="0"/>
                      </a:endParaRPr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DM Mono" pitchFamily="34" charset="0"/>
                          <a:ea typeface="DM Mono" pitchFamily="34" charset="-122"/>
                          <a:cs typeface="DM Mono" pitchFamily="34" charset="-120"/>
                        </a:rPr>
                        <a:t>How it works</a:t>
                      </a:r>
                      <a:endParaRPr lang="en-US" sz="1200" dirty="0">
                        <a:latin typeface="DM Mono" charset="0"/>
                        <a:ea typeface="DM Mono" charset="0"/>
                        <a:cs typeface="DM Mono" charset="0"/>
                      </a:endParaRPr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DM Mono" pitchFamily="34" charset="0"/>
                          <a:ea typeface="DM Mono" pitchFamily="34" charset="-122"/>
                          <a:cs typeface="DM Mono" pitchFamily="34" charset="-120"/>
                        </a:rPr>
                        <a:t>Best when</a:t>
                      </a:r>
                      <a:endParaRPr lang="en-US" sz="1200" dirty="0">
                        <a:latin typeface="DM Mono" charset="0"/>
                        <a:ea typeface="DM Mono" charset="0"/>
                        <a:cs typeface="DM Mono" charset="0"/>
                      </a:endParaRPr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A. Referral partner</a:t>
                      </a:r>
                      <a:endParaRPr lang="en-US" sz="18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 share of fees from clients you introduce, for their first year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Simple, results-only terms (our suggestion to start)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B. Advisor</a:t>
                      </a:r>
                      <a:endParaRPr lang="en-US" sz="18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Set hours each month, plus a smaller share of fees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Advice is the main value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C. Strategic advisor</a:t>
                      </a:r>
                      <a:endParaRPr lang="en-US" sz="18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 small stake in Extol, once the fit is proven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Long-term alignment for both sides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-329"/>
          <p:cNvSpPr txBox="1"/>
          <p:nvPr/>
        </p:nvSpPr>
        <p:spPr>
          <a:xfrm>
            <a:off x="585216" y="5760720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Start with A for 90 days, then review together.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330"/>
          <p:cNvSpPr txBox="1"/>
          <p:nvPr/>
        </p:nvSpPr>
        <p:spPr>
          <a:xfrm>
            <a:off x="585216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 Affiliates</a:t>
            </a:r>
            <a:endParaRPr lang="en-US" sz="1300" dirty="0"/>
          </a:p>
        </p:txBody>
      </p:sp>
      <p:sp>
        <p:nvSpPr>
          <p:cNvPr id="4" name="text-331"/>
          <p:cNvSpPr txBox="1"/>
          <p:nvPr/>
        </p:nvSpPr>
        <p:spPr>
          <a:xfrm>
            <a:off x="6117336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Your role</a:t>
            </a:r>
            <a:endParaRPr lang="en-US" sz="1300" dirty="0"/>
          </a:p>
        </p:txBody>
      </p:sp>
      <p:sp>
        <p:nvSpPr>
          <p:cNvPr id="5" name="text-332"/>
          <p:cNvSpPr txBox="1"/>
          <p:nvPr/>
        </p:nvSpPr>
        <p:spPr>
          <a:xfrm>
            <a:off x="566928" y="1097280"/>
            <a:ext cx="11018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first 90 days together</a:t>
            </a:r>
            <a:endParaRPr lang="en-US" sz="4000" dirty="0"/>
          </a:p>
        </p:txBody>
      </p:sp>
      <p:sp>
        <p:nvSpPr>
          <p:cNvPr id="6" name="rule-333"/>
          <p:cNvSpPr/>
          <p:nvPr/>
        </p:nvSpPr>
        <p:spPr>
          <a:xfrm>
            <a:off x="585216" y="2743200"/>
            <a:ext cx="248031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7" name="text-334"/>
          <p:cNvSpPr txBox="1"/>
          <p:nvPr/>
        </p:nvSpPr>
        <p:spPr>
          <a:xfrm>
            <a:off x="585216" y="2926080"/>
            <a:ext cx="24803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Week 1</a:t>
            </a:r>
            <a:endParaRPr lang="en-US" sz="1300" dirty="0"/>
          </a:p>
        </p:txBody>
      </p:sp>
      <p:sp>
        <p:nvSpPr>
          <p:cNvPr id="8" name="text-335"/>
          <p:cNvSpPr txBox="1"/>
          <p:nvPr/>
        </p:nvSpPr>
        <p:spPr>
          <a:xfrm>
            <a:off x="585216" y="3337560"/>
            <a:ext cx="24803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Agree the role</a:t>
            </a:r>
            <a:endParaRPr lang="en-US" sz="2400" dirty="0"/>
          </a:p>
        </p:txBody>
      </p:sp>
      <p:sp>
        <p:nvSpPr>
          <p:cNvPr id="9" name="text-336"/>
          <p:cNvSpPr txBox="1"/>
          <p:nvPr/>
        </p:nvSpPr>
        <p:spPr>
          <a:xfrm>
            <a:off x="585216" y="4160520"/>
            <a:ext cx="248031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Role, terms and a monthly hour in the diary.</a:t>
            </a:r>
            <a:endParaRPr lang="en-US" sz="1500" dirty="0"/>
          </a:p>
        </p:txBody>
      </p:sp>
      <p:sp>
        <p:nvSpPr>
          <p:cNvPr id="10" name="rule-337"/>
          <p:cNvSpPr/>
          <p:nvPr/>
        </p:nvSpPr>
        <p:spPr>
          <a:xfrm>
            <a:off x="3431286" y="2743200"/>
            <a:ext cx="248031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1" name="text-338"/>
          <p:cNvSpPr txBox="1"/>
          <p:nvPr/>
        </p:nvSpPr>
        <p:spPr>
          <a:xfrm>
            <a:off x="3431286" y="2926080"/>
            <a:ext cx="24803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Day 30</a:t>
            </a:r>
            <a:endParaRPr lang="en-US" sz="1300" dirty="0"/>
          </a:p>
        </p:txBody>
      </p:sp>
      <p:sp>
        <p:nvSpPr>
          <p:cNvPr id="12" name="text-339"/>
          <p:cNvSpPr txBox="1"/>
          <p:nvPr/>
        </p:nvSpPr>
        <p:spPr>
          <a:xfrm>
            <a:off x="3431286" y="3337560"/>
            <a:ext cx="24803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 the market</a:t>
            </a:r>
            <a:endParaRPr lang="en-US" sz="2400" dirty="0"/>
          </a:p>
        </p:txBody>
      </p:sp>
      <p:sp>
        <p:nvSpPr>
          <p:cNvPr id="13" name="text-340"/>
          <p:cNvSpPr txBox="1"/>
          <p:nvPr/>
        </p:nvSpPr>
        <p:spPr>
          <a:xfrm>
            <a:off x="3431286" y="4160520"/>
            <a:ext cx="248031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market to lead with, and 10 people you could introduce.</a:t>
            </a:r>
            <a:endParaRPr lang="en-US" sz="1500" dirty="0"/>
          </a:p>
        </p:txBody>
      </p:sp>
      <p:sp>
        <p:nvSpPr>
          <p:cNvPr id="14" name="rule-341"/>
          <p:cNvSpPr/>
          <p:nvPr/>
        </p:nvSpPr>
        <p:spPr>
          <a:xfrm>
            <a:off x="6277356" y="2743200"/>
            <a:ext cx="248031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5" name="text-342"/>
          <p:cNvSpPr txBox="1"/>
          <p:nvPr/>
        </p:nvSpPr>
        <p:spPr>
          <a:xfrm>
            <a:off x="6277356" y="2926080"/>
            <a:ext cx="24803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Day 60</a:t>
            </a:r>
            <a:endParaRPr lang="en-US" sz="1300" dirty="0"/>
          </a:p>
        </p:txBody>
      </p:sp>
      <p:sp>
        <p:nvSpPr>
          <p:cNvPr id="16" name="text-343"/>
          <p:cNvSpPr txBox="1"/>
          <p:nvPr/>
        </p:nvSpPr>
        <p:spPr>
          <a:xfrm>
            <a:off x="6277356" y="3337560"/>
            <a:ext cx="24803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First intros</a:t>
            </a:r>
            <a:endParaRPr lang="en-US" sz="2400" dirty="0"/>
          </a:p>
        </p:txBody>
      </p:sp>
      <p:sp>
        <p:nvSpPr>
          <p:cNvPr id="17" name="text-344"/>
          <p:cNvSpPr txBox="1"/>
          <p:nvPr/>
        </p:nvSpPr>
        <p:spPr>
          <a:xfrm>
            <a:off x="6277356" y="4160520"/>
            <a:ext cx="248031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First introductions and calls, with you in the room where it helps.</a:t>
            </a:r>
            <a:endParaRPr lang="en-US" sz="1500" dirty="0"/>
          </a:p>
        </p:txBody>
      </p:sp>
      <p:sp>
        <p:nvSpPr>
          <p:cNvPr id="18" name="rule-345"/>
          <p:cNvSpPr/>
          <p:nvPr/>
        </p:nvSpPr>
        <p:spPr>
          <a:xfrm>
            <a:off x="9123426" y="2743200"/>
            <a:ext cx="248031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9" name="text-346"/>
          <p:cNvSpPr txBox="1"/>
          <p:nvPr/>
        </p:nvSpPr>
        <p:spPr>
          <a:xfrm>
            <a:off x="9123426" y="2926080"/>
            <a:ext cx="24803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Day 90</a:t>
            </a:r>
            <a:endParaRPr lang="en-US" sz="1300" dirty="0"/>
          </a:p>
        </p:txBody>
      </p:sp>
      <p:sp>
        <p:nvSpPr>
          <p:cNvPr id="20" name="text-347"/>
          <p:cNvSpPr txBox="1"/>
          <p:nvPr/>
        </p:nvSpPr>
        <p:spPr>
          <a:xfrm>
            <a:off x="9123426" y="3337560"/>
            <a:ext cx="24803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</a:t>
            </a:r>
            <a:endParaRPr lang="en-US" sz="2400" dirty="0"/>
          </a:p>
        </p:txBody>
      </p:sp>
      <p:sp>
        <p:nvSpPr>
          <p:cNvPr id="21" name="text-348"/>
          <p:cNvSpPr txBox="1"/>
          <p:nvPr/>
        </p:nvSpPr>
        <p:spPr>
          <a:xfrm>
            <a:off x="9123426" y="4160520"/>
            <a:ext cx="248031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First new client signed or in proposal. Decide the long-term model.</a:t>
            </a:r>
            <a:endParaRPr lang="en-US" sz="1500" dirty="0"/>
          </a:p>
        </p:txBody>
      </p:sp>
      <p:sp>
        <p:nvSpPr>
          <p:cNvPr id="22" name="text-349"/>
          <p:cNvSpPr txBox="1"/>
          <p:nvPr/>
        </p:nvSpPr>
        <p:spPr>
          <a:xfrm>
            <a:off x="585216" y="5760720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Which market do you know best? Who comes to mind first?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50"/>
          <p:cNvSpPr txBox="1"/>
          <p:nvPr/>
        </p:nvSpPr>
        <p:spPr>
          <a:xfrm>
            <a:off x="585216" y="15727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know the people. We build the system.</a:t>
            </a:r>
            <a:endParaRPr lang="en-US" sz="2100" dirty="0"/>
          </a:p>
        </p:txBody>
      </p:sp>
      <p:sp>
        <p:nvSpPr>
          <p:cNvPr id="3" name="text-351"/>
          <p:cNvSpPr txBox="1"/>
          <p:nvPr/>
        </p:nvSpPr>
        <p:spPr>
          <a:xfrm>
            <a:off x="530352" y="1965960"/>
            <a:ext cx="11155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0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Thank you</a:t>
            </a:r>
            <a:endParaRPr lang="en-US" sz="13200" dirty="0"/>
          </a:p>
        </p:txBody>
      </p:sp>
      <p:sp>
        <p:nvSpPr>
          <p:cNvPr id="4" name="text-352"/>
          <p:cNvSpPr txBox="1"/>
          <p:nvPr/>
        </p:nvSpPr>
        <p:spPr>
          <a:xfrm>
            <a:off x="585216" y="56509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Devasya Dwivedi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 Affiliates</a:t>
            </a:r>
            <a:endParaRPr lang="en-US" sz="1500" dirty="0"/>
          </a:p>
        </p:txBody>
      </p:sp>
      <p:sp>
        <p:nvSpPr>
          <p:cNvPr id="5" name="text-353"/>
          <p:cNvSpPr txBox="1"/>
          <p:nvPr/>
        </p:nvSpPr>
        <p:spPr>
          <a:xfrm>
            <a:off x="4315968" y="56509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Anshul Mikita Prajapati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 Affiliates</a:t>
            </a:r>
            <a:endParaRPr lang="en-US" sz="1500" dirty="0"/>
          </a:p>
        </p:txBody>
      </p:sp>
      <p:sp>
        <p:nvSpPr>
          <p:cNvPr id="6" name="text-354"/>
          <p:cNvSpPr txBox="1"/>
          <p:nvPr/>
        </p:nvSpPr>
        <p:spPr>
          <a:xfrm>
            <a:off x="8046720" y="56509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admin@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extolaffiliates.com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etitor Analysis">
  <a:themeElements>
    <a:clrScheme name="Competitor Analysis">
      <a:dk1>
        <a:srgbClr val="000000"/>
      </a:dk1>
      <a:lt1>
        <a:srgbClr val="FFFFFF"/>
      </a:lt1>
      <a:dk2>
        <a:srgbClr val="000000"/>
      </a:dk2>
      <a:lt2>
        <a:srgbClr val="F2F2F2"/>
      </a:lt2>
      <a:accent1>
        <a:srgbClr val="000000"/>
      </a:accent1>
      <a:accent2>
        <a:srgbClr val="6B6B6B"/>
      </a:accent2>
      <a:accent3>
        <a:srgbClr val="BDBDBD"/>
      </a:accent3>
      <a:accent4>
        <a:srgbClr val="E6E6E6"/>
      </a:accent4>
      <a:accent5>
        <a:srgbClr val="4D4D4D"/>
      </a:accent5>
      <a:accent6>
        <a:srgbClr val="F5F5F5"/>
      </a:accent6>
      <a:hlink>
        <a:srgbClr val="000000"/>
      </a:hlink>
      <a:folHlink>
        <a:srgbClr val="4D4D4D"/>
      </a:folHlink>
    </a:clrScheme>
    <a:fontScheme name="Competitor Analysis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Extol Affiliates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Extol Affiliates x David Samuel</dc:title>
  <dc:subject>PptxGenJS Presentation</dc:subject>
  <dc:creator>Extol Affiliates</dc:creator>
  <cp:lastModifiedBy>Extol Affiliates</cp:lastModifiedBy>
  <cp:revision>1</cp:revision>
  <dcterms:created xsi:type="dcterms:W3CDTF">2026-10-23T20:53:28Z</dcterms:created>
  <dcterms:modified xsi:type="dcterms:W3CDTF">2026-10-23T20:53:28Z</dcterms:modified>
</cp:coreProperties>
</file>