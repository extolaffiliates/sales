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Average reactions per post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reactions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Posts with real people</c:v>
                  </c:pt>
                  <c:pt idx="1">
                    <c:v>Framework posts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Outreach in one month (estimate)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 month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Requests</c:v>
                  </c:pt>
                  <c:pt idx="1">
                    <c:v>Accepted</c:v>
                  </c:pt>
                  <c:pt idx="2">
                    <c:v>Replied</c:v>
                  </c:pt>
                  <c:pt idx="3">
                    <c:v>Calls booked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</c:v>
                </c:pt>
                <c:pt idx="1">
                  <c:v>150</c:v>
                </c:pt>
                <c:pt idx="2">
                  <c:v>27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Qualified leads per month (forecast)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leads</c:v>
                </c:pt>
              </c:strCache>
            </c:strRef>
          </c:tx>
          <c:spPr>
            <a:solidFill>
              <a:srgbClr val="2B4A34"/>
            </a:solidFill>
            <a:ln w="38100" cap="flat">
              <a:solidFill>
                <a:srgbClr val="2B4A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2B4A34"/>
              </a:solidFill>
              <a:ln w="9525" cap="flat">
                <a:solidFill>
                  <a:srgbClr val="2B4A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Month 1</c:v>
                  </c:pt>
                  <c:pt idx="1">
                    <c:v>Month 3</c:v>
                  </c:pt>
                  <c:pt idx="2">
                    <c:v>Month 6</c:v>
                  </c:pt>
                  <c:pt idx="3">
                    <c:v>Month 12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</c:v>
                </c:pt>
                <c:pt idx="1">
                  <c:v>71</c:v>
                </c:pt>
                <c:pt idx="2">
                  <c:v>101</c:v>
                </c:pt>
                <c:pt idx="3">
                  <c:v>126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01F14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B6B5E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5B6B5E"/>
                </a:solidFill>
                <a:latin typeface="+mn-lt"/>
              </a:rPr>
              <a:t>Fee vs. value of a client win (£)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B4A34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01F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Year-one fee</c:v>
                  </c:pt>
                  <c:pt idx="1">
                    <c:v>Small advisory piece</c:v>
                  </c:pt>
                  <c:pt idx="2">
                    <c:v>Mid-size engagement</c:v>
                  </c:pt>
                  <c:pt idx="3">
                    <c:v>Two engagements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26400</c:v>
                </c:pt>
                <c:pt idx="1">
                  <c:v>50000</c:v>
                </c:pt>
                <c:pt idx="2">
                  <c:v>150000</c:v>
                </c:pt>
                <c:pt idx="3">
                  <c:v>500000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01F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1F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agree how David works alongside Extol to advise, guide and bring in new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40080"/>
            <a:ext cx="1097280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600" b="1" spc="-200" kern="0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buNone/>
            </a:pPr>
            <a:endParaRPr lang="en-US" sz="9600" dirty="0"/>
          </a:p>
        </p:txBody>
      </p:sp>
      <p:sp>
        <p:nvSpPr>
          <p:cNvPr id="3" name="Shape 0"/>
          <p:cNvSpPr/>
          <p:nvPr/>
        </p:nvSpPr>
        <p:spPr>
          <a:xfrm>
            <a:off x="640080" y="5989320"/>
            <a:ext cx="1090879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6172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Extol Affiliates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389120" y="6172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Confidential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138160" y="6172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spc="-200" kern="0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4" name="Shape 0"/>
          <p:cNvSpPr/>
          <p:nvPr/>
        </p:nvSpPr>
        <p:spPr>
          <a:xfrm>
            <a:off x="640080" y="5989320"/>
            <a:ext cx="10908792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640080" y="6172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Extol Affiliates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4389120" y="6172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Confidential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8138160" y="6172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Extol Affiliates  ×  David Samuel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Helvetica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Helvetica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Helvetica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Helvetica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40080"/>
            <a:ext cx="10972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spc="-200" kern="0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Extol × David Samuel</a:t>
            </a:r>
            <a:endParaRPr lang="en-US" sz="9600" dirty="0"/>
          </a:p>
        </p:txBody>
      </p:sp>
      <p:sp>
        <p:nvSpPr>
          <p:cNvPr id="3" name="text-1"/>
          <p:cNvSpPr txBox="1"/>
          <p:nvPr/>
        </p:nvSpPr>
        <p:spPr>
          <a:xfrm>
            <a:off x="640080" y="4206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</a:rPr>
              <a:t>Working together to win new clients.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"/>
          <p:cNvSpPr txBox="1"/>
          <p:nvPr/>
        </p:nvSpPr>
        <p:spPr>
          <a:xfrm>
            <a:off x="640080" y="109728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b="1" spc="-600" kern="0" dirty="0">
                <a:solidFill>
                  <a:schemeClr val="accent4"/>
                </a:solidFill>
              </a:rPr>
              <a:t>E — D</a:t>
            </a:r>
            <a:endParaRPr lang="en-US" sz="20000" dirty="0"/>
          </a:p>
        </p:txBody>
      </p:sp>
      <p:sp>
        <p:nvSpPr>
          <p:cNvPr id="3" name="text-3"/>
          <p:cNvSpPr txBox="1"/>
          <p:nvPr/>
        </p:nvSpPr>
        <p:spPr>
          <a:xfrm>
            <a:off x="640080" y="4343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Extol Affiliates and David Samuel. Monday 26 October 2026.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640080"/>
            <a:ext cx="10972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Two halves: where Extol is today, and how we grow together.</a:t>
            </a:r>
            <a:endParaRPr lang="en-US" sz="1800" dirty="0"/>
          </a:p>
        </p:txBody>
      </p:sp>
      <p:sp>
        <p:nvSpPr>
          <p:cNvPr id="4" name="box-4"/>
          <p:cNvSpPr/>
          <p:nvPr/>
        </p:nvSpPr>
        <p:spPr>
          <a:xfrm>
            <a:off x="640080" y="2011680"/>
            <a:ext cx="5312664" cy="4023360"/>
          </a:xfrm>
          <a:prstGeom prst="roundRect">
            <a:avLst>
              <a:gd name="adj" fmla="val 272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5"/>
          <p:cNvSpPr txBox="1"/>
          <p:nvPr/>
        </p:nvSpPr>
        <p:spPr>
          <a:xfrm>
            <a:off x="1005840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Who we are and what we’ve done</a:t>
            </a:r>
            <a:endParaRPr lang="en-US" sz="2000" dirty="0"/>
          </a:p>
        </p:txBody>
      </p:sp>
      <p:sp>
        <p:nvSpPr>
          <p:cNvPr id="6" name="text-6"/>
          <p:cNvSpPr txBox="1"/>
          <p:nvPr/>
        </p:nvSpPr>
        <p:spPr>
          <a:xfrm>
            <a:off x="100584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-7"/>
          <p:cNvSpPr txBox="1"/>
          <p:nvPr/>
        </p:nvSpPr>
        <p:spPr>
          <a:xfrm>
            <a:off x="1508760" y="2971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What Extol does</a:t>
            </a:r>
            <a:endParaRPr lang="en-US" sz="1800" dirty="0"/>
          </a:p>
        </p:txBody>
      </p:sp>
      <p:sp>
        <p:nvSpPr>
          <p:cNvPr id="8" name="text-8"/>
          <p:cNvSpPr txBox="1"/>
          <p:nvPr/>
        </p:nvSpPr>
        <p:spPr>
          <a:xfrm>
            <a:off x="100584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-9"/>
          <p:cNvSpPr txBox="1"/>
          <p:nvPr/>
        </p:nvSpPr>
        <p:spPr>
          <a:xfrm>
            <a:off x="1508760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problem we solve</a:t>
            </a:r>
            <a:endParaRPr lang="en-US" sz="1800" dirty="0"/>
          </a:p>
        </p:txBody>
      </p:sp>
      <p:sp>
        <p:nvSpPr>
          <p:cNvPr id="10" name="text-10"/>
          <p:cNvSpPr txBox="1"/>
          <p:nvPr/>
        </p:nvSpPr>
        <p:spPr>
          <a:xfrm>
            <a:off x="100584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-11"/>
          <p:cNvSpPr txBox="1"/>
          <p:nvPr/>
        </p:nvSpPr>
        <p:spPr>
          <a:xfrm>
            <a:off x="1508760" y="410565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What the audit showed</a:t>
            </a:r>
            <a:endParaRPr lang="en-US" sz="1800" dirty="0"/>
          </a:p>
        </p:txBody>
      </p:sp>
      <p:sp>
        <p:nvSpPr>
          <p:cNvPr id="12" name="text-12"/>
          <p:cNvSpPr txBox="1"/>
          <p:nvPr/>
        </p:nvSpPr>
        <p:spPr>
          <a:xfrm>
            <a:off x="100584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</a:t>
            </a:r>
            <a:endParaRPr lang="en-US" sz="1800" dirty="0"/>
          </a:p>
        </p:txBody>
      </p:sp>
      <p:sp>
        <p:nvSpPr>
          <p:cNvPr id="13" name="text-13"/>
          <p:cNvSpPr txBox="1"/>
          <p:nvPr/>
        </p:nvSpPr>
        <p:spPr>
          <a:xfrm>
            <a:off x="1508760" y="46725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Our clients so far</a:t>
            </a:r>
            <a:endParaRPr lang="en-US" sz="1800" dirty="0"/>
          </a:p>
        </p:txBody>
      </p:sp>
      <p:sp>
        <p:nvSpPr>
          <p:cNvPr id="14" name="box-14"/>
          <p:cNvSpPr/>
          <p:nvPr/>
        </p:nvSpPr>
        <p:spPr>
          <a:xfrm>
            <a:off x="6236208" y="2011680"/>
            <a:ext cx="5312664" cy="402336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-15"/>
          <p:cNvSpPr txBox="1"/>
          <p:nvPr/>
        </p:nvSpPr>
        <p:spPr>
          <a:xfrm>
            <a:off x="6601968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What we offer and your role</a:t>
            </a:r>
            <a:endParaRPr lang="en-US" sz="2000" dirty="0"/>
          </a:p>
        </p:txBody>
      </p:sp>
      <p:sp>
        <p:nvSpPr>
          <p:cNvPr id="16" name="text-16"/>
          <p:cNvSpPr txBox="1"/>
          <p:nvPr/>
        </p:nvSpPr>
        <p:spPr>
          <a:xfrm>
            <a:off x="6601968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</a:t>
            </a:r>
            <a:endParaRPr lang="en-US" sz="1800" dirty="0"/>
          </a:p>
        </p:txBody>
      </p:sp>
      <p:sp>
        <p:nvSpPr>
          <p:cNvPr id="17" name="text-17"/>
          <p:cNvSpPr txBox="1"/>
          <p:nvPr/>
        </p:nvSpPr>
        <p:spPr>
          <a:xfrm>
            <a:off x="7104888" y="2971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Thought leadership</a:t>
            </a:r>
            <a:endParaRPr lang="en-US" sz="1800" dirty="0"/>
          </a:p>
        </p:txBody>
      </p:sp>
      <p:sp>
        <p:nvSpPr>
          <p:cNvPr id="18" name="text-18"/>
          <p:cNvSpPr txBox="1"/>
          <p:nvPr/>
        </p:nvSpPr>
        <p:spPr>
          <a:xfrm>
            <a:off x="6601968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2</a:t>
            </a:r>
            <a:endParaRPr lang="en-US" sz="1800" dirty="0"/>
          </a:p>
        </p:txBody>
      </p:sp>
      <p:sp>
        <p:nvSpPr>
          <p:cNvPr id="19" name="text-19"/>
          <p:cNvSpPr txBox="1"/>
          <p:nvPr/>
        </p:nvSpPr>
        <p:spPr>
          <a:xfrm>
            <a:off x="7104888" y="35387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six-part system</a:t>
            </a:r>
            <a:endParaRPr lang="en-US" sz="1800" dirty="0"/>
          </a:p>
        </p:txBody>
      </p:sp>
      <p:sp>
        <p:nvSpPr>
          <p:cNvPr id="20" name="text-20"/>
          <p:cNvSpPr txBox="1"/>
          <p:nvPr/>
        </p:nvSpPr>
        <p:spPr>
          <a:xfrm>
            <a:off x="6601968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3</a:t>
            </a:r>
            <a:endParaRPr lang="en-US" sz="1800" dirty="0"/>
          </a:p>
        </p:txBody>
      </p:sp>
      <p:sp>
        <p:nvSpPr>
          <p:cNvPr id="21" name="text-21"/>
          <p:cNvSpPr txBox="1"/>
          <p:nvPr/>
        </p:nvSpPr>
        <p:spPr>
          <a:xfrm>
            <a:off x="7104888" y="410565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Results and pricing</a:t>
            </a:r>
            <a:endParaRPr lang="en-US" sz="1800" dirty="0"/>
          </a:p>
        </p:txBody>
      </p:sp>
      <p:sp>
        <p:nvSpPr>
          <p:cNvPr id="22" name="text-22"/>
          <p:cNvSpPr txBox="1"/>
          <p:nvPr/>
        </p:nvSpPr>
        <p:spPr>
          <a:xfrm>
            <a:off x="6601968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text-23"/>
          <p:cNvSpPr txBox="1"/>
          <p:nvPr/>
        </p:nvSpPr>
        <p:spPr>
          <a:xfrm>
            <a:off x="7104888" y="46725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Your role</a:t>
            </a:r>
            <a:endParaRPr lang="en-US" sz="1800" dirty="0"/>
          </a:p>
        </p:txBody>
      </p:sp>
      <p:sp>
        <p:nvSpPr>
          <p:cNvPr id="24" name="text-24"/>
          <p:cNvSpPr txBox="1"/>
          <p:nvPr/>
        </p:nvSpPr>
        <p:spPr>
          <a:xfrm>
            <a:off x="6601968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5</a:t>
            </a:r>
            <a:endParaRPr lang="en-US" sz="1800" dirty="0"/>
          </a:p>
        </p:txBody>
      </p:sp>
      <p:sp>
        <p:nvSpPr>
          <p:cNvPr id="25" name="text-25"/>
          <p:cNvSpPr txBox="1"/>
          <p:nvPr/>
        </p:nvSpPr>
        <p:spPr>
          <a:xfrm>
            <a:off x="7104888" y="5239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first 90 days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spc="-200" kern="0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Who we are</a:t>
            </a: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What Extol does, and why it matters.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 make experts the name buyers think of first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AI agents do the work. Nothing goes out without the client’s approval.</a:t>
            </a:r>
            <a:endParaRPr lang="en-US" sz="1800" dirty="0"/>
          </a:p>
        </p:txBody>
      </p:sp>
      <p:sp>
        <p:nvSpPr>
          <p:cNvPr id="4" name="text-26"/>
          <p:cNvSpPr txBox="1"/>
          <p:nvPr/>
        </p:nvSpPr>
        <p:spPr>
          <a:xfrm>
            <a:off x="640080" y="21031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spc="-400" kern="0" dirty="0">
                <a:solidFill>
                  <a:schemeClr val="accent1"/>
                </a:solidFill>
              </a:rPr>
              <a:t>2</a:t>
            </a:r>
            <a:endParaRPr lang="en-US" sz="11000" dirty="0"/>
          </a:p>
        </p:txBody>
      </p:sp>
      <p:sp>
        <p:nvSpPr>
          <p:cNvPr id="5" name="text-27"/>
          <p:cNvSpPr txBox="1"/>
          <p:nvPr/>
        </p:nvSpPr>
        <p:spPr>
          <a:xfrm>
            <a:off x="640080" y="3749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founders</a:t>
            </a:r>
            <a:endParaRPr lang="en-US" sz="2000" dirty="0"/>
          </a:p>
        </p:txBody>
      </p:sp>
      <p:sp>
        <p:nvSpPr>
          <p:cNvPr id="6" name="text-28"/>
          <p:cNvSpPr txBox="1"/>
          <p:nvPr/>
        </p:nvSpPr>
        <p:spPr>
          <a:xfrm>
            <a:off x="640080" y="4251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Devasya Dwivedi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Anshul Mikita Prajapati</a:t>
            </a:r>
            <a:endParaRPr lang="en-US" sz="1500" dirty="0"/>
          </a:p>
        </p:txBody>
      </p:sp>
      <p:sp>
        <p:nvSpPr>
          <p:cNvPr id="7" name="text-29"/>
          <p:cNvSpPr txBox="1"/>
          <p:nvPr/>
        </p:nvSpPr>
        <p:spPr>
          <a:xfrm>
            <a:off x="4389120" y="21031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spc="-400" kern="0" dirty="0">
                <a:solidFill>
                  <a:schemeClr val="accent1"/>
                </a:solidFill>
              </a:rPr>
              <a:t>6</a:t>
            </a:r>
            <a:endParaRPr lang="en-US" sz="11000" dirty="0"/>
          </a:p>
        </p:txBody>
      </p:sp>
      <p:sp>
        <p:nvSpPr>
          <p:cNvPr id="8" name="text-30"/>
          <p:cNvSpPr txBox="1"/>
          <p:nvPr/>
        </p:nvSpPr>
        <p:spPr>
          <a:xfrm>
            <a:off x="4389120" y="3749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platforms run per client</a:t>
            </a:r>
            <a:endParaRPr lang="en-US" sz="2000" dirty="0"/>
          </a:p>
        </p:txBody>
      </p:sp>
      <p:sp>
        <p:nvSpPr>
          <p:cNvPr id="9" name="text-31"/>
          <p:cNvSpPr txBox="1"/>
          <p:nvPr/>
        </p:nvSpPr>
        <p:spPr>
          <a:xfrm>
            <a:off x="4389120" y="4251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LinkedIn, X, Instagram,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Threads, Substack, YouTube</a:t>
            </a:r>
            <a:endParaRPr lang="en-US" sz="1500" dirty="0"/>
          </a:p>
        </p:txBody>
      </p:sp>
      <p:sp>
        <p:nvSpPr>
          <p:cNvPr id="10" name="text-32"/>
          <p:cNvSpPr txBox="1"/>
          <p:nvPr/>
        </p:nvSpPr>
        <p:spPr>
          <a:xfrm>
            <a:off x="8138160" y="21031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spc="-400" kern="0" dirty="0">
                <a:solidFill>
                  <a:schemeClr val="accent1"/>
                </a:solidFill>
              </a:rPr>
              <a:t>2½ h</a:t>
            </a:r>
            <a:endParaRPr lang="en-US" sz="11000" dirty="0"/>
          </a:p>
        </p:txBody>
      </p:sp>
      <p:sp>
        <p:nvSpPr>
          <p:cNvPr id="11" name="text-33"/>
          <p:cNvSpPr txBox="1"/>
          <p:nvPr/>
        </p:nvSpPr>
        <p:spPr>
          <a:xfrm>
            <a:off x="8138160" y="3749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 week of client time</a:t>
            </a:r>
            <a:endParaRPr lang="en-US" sz="2000" dirty="0"/>
          </a:p>
        </p:txBody>
      </p:sp>
      <p:sp>
        <p:nvSpPr>
          <p:cNvPr id="12" name="text-34"/>
          <p:cNvSpPr txBox="1"/>
          <p:nvPr/>
        </p:nvSpPr>
        <p:spPr>
          <a:xfrm>
            <a:off x="8138160" y="4251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One short note, then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approvals on their phone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problem: buyers don’t know great experts exist</a:t>
            </a:r>
            <a:endParaRPr lang="en-US" sz="3600" dirty="0"/>
          </a:p>
        </p:txBody>
      </p:sp>
      <p:sp>
        <p:nvSpPr>
          <p:cNvPr id="3" name="box-35"/>
          <p:cNvSpPr/>
          <p:nvPr/>
        </p:nvSpPr>
        <p:spPr>
          <a:xfrm>
            <a:off x="640080" y="1828800"/>
            <a:ext cx="4206240" cy="4206240"/>
          </a:xfrm>
          <a:prstGeom prst="roundRect">
            <a:avLst>
              <a:gd name="adj" fmla="val 260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-36"/>
          <p:cNvSpPr txBox="1"/>
          <p:nvPr/>
        </p:nvSpPr>
        <p:spPr>
          <a:xfrm>
            <a:off x="960120" y="2194560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2"/>
                </a:solidFill>
              </a:rPr>
              <a:t>Why do great experts stay invisible to the buyers who need them?</a:t>
            </a:r>
            <a:endParaRPr lang="en-US" sz="3000" dirty="0"/>
          </a:p>
        </p:txBody>
      </p:sp>
      <p:sp>
        <p:nvSpPr>
          <p:cNvPr id="5" name="text-37"/>
          <p:cNvSpPr txBox="1"/>
          <p:nvPr/>
        </p:nvSpPr>
        <p:spPr>
          <a:xfrm>
            <a:off x="5303520" y="18745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No time</a:t>
            </a:r>
            <a:endParaRPr lang="en-US" sz="2000" dirty="0"/>
          </a:p>
        </p:txBody>
      </p:sp>
      <p:sp>
        <p:nvSpPr>
          <p:cNvPr id="6" name="text-38"/>
          <p:cNvSpPr txBox="1"/>
          <p:nvPr/>
        </p:nvSpPr>
        <p:spPr>
          <a:xfrm>
            <a:off x="5303520" y="228600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Experts are busy doing the work. Marketing comes last.</a:t>
            </a:r>
            <a:endParaRPr lang="en-US" sz="1600" dirty="0"/>
          </a:p>
        </p:txBody>
      </p:sp>
      <p:sp>
        <p:nvSpPr>
          <p:cNvPr id="7" name="text-39"/>
          <p:cNvSpPr txBox="1"/>
          <p:nvPr/>
        </p:nvSpPr>
        <p:spPr>
          <a:xfrm>
            <a:off x="5303520" y="29260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No system</a:t>
            </a:r>
            <a:endParaRPr lang="en-US" sz="2000" dirty="0"/>
          </a:p>
        </p:txBody>
      </p:sp>
      <p:sp>
        <p:nvSpPr>
          <p:cNvPr id="8" name="text-40"/>
          <p:cNvSpPr txBox="1"/>
          <p:nvPr/>
        </p:nvSpPr>
        <p:spPr>
          <a:xfrm>
            <a:off x="5303520" y="333756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New work comes only from referrals, so growth can’t be planned.</a:t>
            </a:r>
            <a:endParaRPr lang="en-US" sz="1600" dirty="0"/>
          </a:p>
        </p:txBody>
      </p:sp>
      <p:sp>
        <p:nvSpPr>
          <p:cNvPr id="9" name="text-41"/>
          <p:cNvSpPr txBox="1"/>
          <p:nvPr/>
        </p:nvSpPr>
        <p:spPr>
          <a:xfrm>
            <a:off x="5303520" y="3977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Too much noise</a:t>
            </a:r>
            <a:endParaRPr lang="en-US" sz="2000" dirty="0"/>
          </a:p>
        </p:txBody>
      </p:sp>
      <p:sp>
        <p:nvSpPr>
          <p:cNvPr id="10" name="text-42"/>
          <p:cNvSpPr txBox="1"/>
          <p:nvPr/>
        </p:nvSpPr>
        <p:spPr>
          <a:xfrm>
            <a:off x="5303520" y="438912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Buyers ignore generic, AI-written posts and messages.</a:t>
            </a:r>
            <a:endParaRPr lang="en-US" sz="1600" dirty="0"/>
          </a:p>
        </p:txBody>
      </p:sp>
      <p:sp>
        <p:nvSpPr>
          <p:cNvPr id="11" name="text-43"/>
          <p:cNvSpPr txBox="1"/>
          <p:nvPr/>
        </p:nvSpPr>
        <p:spPr>
          <a:xfrm>
            <a:off x="5303520" y="50292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Real example</a:t>
            </a:r>
            <a:endParaRPr lang="en-US" sz="2000" dirty="0"/>
          </a:p>
        </p:txBody>
      </p:sp>
      <p:sp>
        <p:nvSpPr>
          <p:cNvPr id="12" name="text-44"/>
          <p:cNvSpPr txBox="1"/>
          <p:nvPr/>
        </p:nvSpPr>
        <p:spPr>
          <a:xfrm>
            <a:off x="5303520" y="544068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 former Big Four partner had 1,597 LinkedIn followers and 9 reactions per post.</a:t>
            </a:r>
            <a:endParaRPr lang="en-US" sz="1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audit shows it: real stories get 6× more attention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Same person, same audience, this year’s posts.</a:t>
            </a:r>
            <a:endParaRPr lang="en-US" sz="1800" dirty="0"/>
          </a:p>
        </p:txBody>
      </p:sp>
      <p:sp>
        <p:nvSpPr>
          <p:cNvPr id="4" name="box-45"/>
          <p:cNvSpPr/>
          <p:nvPr/>
        </p:nvSpPr>
        <p:spPr>
          <a:xfrm>
            <a:off x="640080" y="201168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46"/>
          <p:cNvSpPr txBox="1"/>
          <p:nvPr/>
        </p:nvSpPr>
        <p:spPr>
          <a:xfrm>
            <a:off x="9144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Insights</a:t>
            </a:r>
            <a:endParaRPr lang="en-US" sz="1800" dirty="0"/>
          </a:p>
        </p:txBody>
      </p:sp>
      <p:sp>
        <p:nvSpPr>
          <p:cNvPr id="6" name="text-47"/>
          <p:cNvSpPr txBox="1"/>
          <p:nvPr/>
        </p:nvSpPr>
        <p:spPr>
          <a:xfrm>
            <a:off x="914400" y="274320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Posts with named people in them got 69 reactions on average. Framework posts got 11.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76% of their comments were just “congrats”.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expertise is there. It isn’t reaching buyers in a way they notice.</a:t>
            </a:r>
            <a:endParaRPr lang="en-US" sz="1500" dirty="0"/>
          </a:p>
        </p:txBody>
      </p:sp>
      <p:graphicFrame>
        <p:nvGraphicFramePr>
          <p:cNvPr id="7" name="stories-chart" descr=""/>
          <p:cNvGraphicFramePr/>
          <p:nvPr/>
        </p:nvGraphicFramePr>
        <p:xfrm>
          <a:off x="4480560" y="2011680"/>
          <a:ext cx="70408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-48"/>
          <p:cNvSpPr txBox="1"/>
          <p:nvPr/>
        </p:nvSpPr>
        <p:spPr>
          <a:xfrm>
            <a:off x="4480560" y="58064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Source: Extol LinkedIn audit, October 2026 (client name kept private)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spc="-200" kern="0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we’ve done</a:t>
            </a: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The clients we’ve worked with so far.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clients, three markets, one method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3D Images AI and Bloggerly are public. The consultancy is under NDA.</a:t>
            </a:r>
            <a:endParaRPr lang="en-US" sz="1800" dirty="0"/>
          </a:p>
        </p:txBody>
      </p:sp>
      <p:graphicFrame>
        <p:nvGraphicFramePr>
          <p:cNvPr id="10" name="table-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566160"/>
                <a:gridCol w="46908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Client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they sell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we did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3D Images AI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3D product models for Amazon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Outreach to 2,100+ Amazon brand owners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Bloggerly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SEO articles for businesses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LinkedIn campaign; leads now asking for calls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UK consultancy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Finance and SAP advice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Full growth plan, delivered the day after the first call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5" name="box-50"/>
          <p:cNvSpPr/>
          <p:nvPr/>
        </p:nvSpPr>
        <p:spPr>
          <a:xfrm>
            <a:off x="640080" y="5074920"/>
            <a:ext cx="10908792" cy="82296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51"/>
          <p:cNvSpPr txBox="1"/>
          <p:nvPr/>
        </p:nvSpPr>
        <p:spPr>
          <a:xfrm>
            <a:off x="960120" y="50749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2"/>
                </a:solidFill>
              </a:rPr>
              <a:t>Our own proof: when Extol’s LinkedIn page reached about 50 followers, new clients started coming to us.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spc="-200" kern="0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 offer</a:t>
            </a: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The system, why each part exists, and what it costs.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goal: position the client as a thoughtful leader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Not an influencer. A voice buyers trust.</a:t>
            </a:r>
            <a:endParaRPr lang="en-US" sz="1800" dirty="0"/>
          </a:p>
        </p:txBody>
      </p:sp>
      <p:sp>
        <p:nvSpPr>
          <p:cNvPr id="4" name="rule-52"/>
          <p:cNvSpPr/>
          <p:nvPr/>
        </p:nvSpPr>
        <p:spPr>
          <a:xfrm>
            <a:off x="640080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5" name="text-53"/>
          <p:cNvSpPr txBox="1"/>
          <p:nvPr/>
        </p:nvSpPr>
        <p:spPr>
          <a:xfrm>
            <a:off x="640080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Layer #1</a:t>
            </a:r>
            <a:endParaRPr lang="en-US" sz="1300" dirty="0"/>
          </a:p>
        </p:txBody>
      </p:sp>
      <p:sp>
        <p:nvSpPr>
          <p:cNvPr id="6" name="text-54"/>
          <p:cNvSpPr txBox="1"/>
          <p:nvPr/>
        </p:nvSpPr>
        <p:spPr>
          <a:xfrm>
            <a:off x="640080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One signature idea</a:t>
            </a:r>
            <a:endParaRPr lang="en-US" sz="2400" dirty="0"/>
          </a:p>
        </p:txBody>
      </p:sp>
      <p:sp>
        <p:nvSpPr>
          <p:cNvPr id="7" name="text-55"/>
          <p:cNvSpPr txBox="1"/>
          <p:nvPr/>
        </p:nvSpPr>
        <p:spPr>
          <a:xfrm>
            <a:off x="640080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line people remember and repeat. Every post leans on it.</a:t>
            </a:r>
            <a:endParaRPr lang="en-US" sz="1600" dirty="0"/>
          </a:p>
        </p:txBody>
      </p:sp>
      <p:sp>
        <p:nvSpPr>
          <p:cNvPr id="8" name="rule-56"/>
          <p:cNvSpPr/>
          <p:nvPr/>
        </p:nvSpPr>
        <p:spPr>
          <a:xfrm>
            <a:off x="4398264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9" name="text-57"/>
          <p:cNvSpPr txBox="1"/>
          <p:nvPr/>
        </p:nvSpPr>
        <p:spPr>
          <a:xfrm>
            <a:off x="4398264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Layer #2</a:t>
            </a:r>
            <a:endParaRPr lang="en-US" sz="1300" dirty="0"/>
          </a:p>
        </p:txBody>
      </p:sp>
      <p:sp>
        <p:nvSpPr>
          <p:cNvPr id="10" name="text-58"/>
          <p:cNvSpPr txBox="1"/>
          <p:nvPr/>
        </p:nvSpPr>
        <p:spPr>
          <a:xfrm>
            <a:off x="4398264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 clear point of view</a:t>
            </a:r>
            <a:endParaRPr lang="en-US" sz="2400" dirty="0"/>
          </a:p>
        </p:txBody>
      </p:sp>
      <p:sp>
        <p:nvSpPr>
          <p:cNvPr id="11" name="text-59"/>
          <p:cNvSpPr txBox="1"/>
          <p:nvPr/>
        </p:nvSpPr>
        <p:spPr>
          <a:xfrm>
            <a:off x="4398264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Weekly posts that take a side, in the client’s own voice. Never AI slop.</a:t>
            </a:r>
            <a:endParaRPr lang="en-US" sz="1600" dirty="0"/>
          </a:p>
        </p:txBody>
      </p:sp>
      <p:sp>
        <p:nvSpPr>
          <p:cNvPr id="12" name="rule-60"/>
          <p:cNvSpPr/>
          <p:nvPr/>
        </p:nvSpPr>
        <p:spPr>
          <a:xfrm>
            <a:off x="8156448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3" name="text-61"/>
          <p:cNvSpPr txBox="1"/>
          <p:nvPr/>
        </p:nvSpPr>
        <p:spPr>
          <a:xfrm>
            <a:off x="8156448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Layer #3</a:t>
            </a:r>
            <a:endParaRPr lang="en-US" sz="1300" dirty="0"/>
          </a:p>
        </p:txBody>
      </p:sp>
      <p:sp>
        <p:nvSpPr>
          <p:cNvPr id="14" name="text-62"/>
          <p:cNvSpPr txBox="1"/>
          <p:nvPr/>
        </p:nvSpPr>
        <p:spPr>
          <a:xfrm>
            <a:off x="8156448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Proof and presence</a:t>
            </a:r>
            <a:endParaRPr lang="en-US" sz="2400" dirty="0"/>
          </a:p>
        </p:txBody>
      </p:sp>
      <p:sp>
        <p:nvSpPr>
          <p:cNvPr id="15" name="text-63"/>
          <p:cNvSpPr txBox="1"/>
          <p:nvPr/>
        </p:nvSpPr>
        <p:spPr>
          <a:xfrm>
            <a:off x="8156448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Client stories (named only with permission), seen in feeds, inboxes, webinars and communities.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system has six parts, and we run all of them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Grouped into four jobs. The next slides go deeper on each.</a:t>
            </a:r>
            <a:endParaRPr lang="en-US" sz="1800" dirty="0"/>
          </a:p>
        </p:txBody>
      </p:sp>
      <p:sp>
        <p:nvSpPr>
          <p:cNvPr id="4" name="box-64"/>
          <p:cNvSpPr/>
          <p:nvPr/>
        </p:nvSpPr>
        <p:spPr>
          <a:xfrm>
            <a:off x="640080" y="1965960"/>
            <a:ext cx="5312664" cy="1874520"/>
          </a:xfrm>
          <a:prstGeom prst="roundRect">
            <a:avLst>
              <a:gd name="adj" fmla="val 585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65"/>
          <p:cNvSpPr txBox="1"/>
          <p:nvPr/>
        </p:nvSpPr>
        <p:spPr>
          <a:xfrm>
            <a:off x="96012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LinkedIn, run by agents</a:t>
            </a:r>
            <a:endParaRPr lang="en-US" sz="2000" dirty="0"/>
          </a:p>
        </p:txBody>
      </p:sp>
      <p:sp>
        <p:nvSpPr>
          <p:cNvPr id="6" name="text-66"/>
          <p:cNvSpPr txBox="1"/>
          <p:nvPr/>
        </p:nvSpPr>
        <p:spPr>
          <a:xfrm>
            <a:off x="960120" y="2743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•  Profile and posts</a:t>
            </a:r>
            <a:endParaRPr lang="en-US" sz="1500" dirty="0"/>
          </a:p>
        </p:txBody>
      </p:sp>
      <p:sp>
        <p:nvSpPr>
          <p:cNvPr id="7" name="text-67"/>
          <p:cNvSpPr txBox="1"/>
          <p:nvPr/>
        </p:nvSpPr>
        <p:spPr>
          <a:xfrm>
            <a:off x="960120" y="3081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•  Comments and connections</a:t>
            </a:r>
            <a:endParaRPr lang="en-US" sz="1500" dirty="0"/>
          </a:p>
        </p:txBody>
      </p:sp>
      <p:sp>
        <p:nvSpPr>
          <p:cNvPr id="8" name="text-68"/>
          <p:cNvSpPr txBox="1"/>
          <p:nvPr/>
        </p:nvSpPr>
        <p:spPr>
          <a:xfrm>
            <a:off x="960120" y="341985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•  Follow-ups and DMs</a:t>
            </a:r>
            <a:endParaRPr lang="en-US" sz="1500" dirty="0"/>
          </a:p>
        </p:txBody>
      </p:sp>
      <p:sp>
        <p:nvSpPr>
          <p:cNvPr id="9" name="box-69"/>
          <p:cNvSpPr/>
          <p:nvPr/>
        </p:nvSpPr>
        <p:spPr>
          <a:xfrm>
            <a:off x="6236208" y="1965960"/>
            <a:ext cx="5312664" cy="1874520"/>
          </a:xfrm>
          <a:prstGeom prst="roundRect">
            <a:avLst>
              <a:gd name="adj" fmla="val 58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-70"/>
          <p:cNvSpPr txBox="1"/>
          <p:nvPr/>
        </p:nvSpPr>
        <p:spPr>
          <a:xfrm>
            <a:off x="6556248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Cross-platform posting</a:t>
            </a:r>
            <a:endParaRPr lang="en-US" sz="2000" dirty="0"/>
          </a:p>
        </p:txBody>
      </p:sp>
      <p:sp>
        <p:nvSpPr>
          <p:cNvPr id="11" name="text-71"/>
          <p:cNvSpPr txBox="1"/>
          <p:nvPr/>
        </p:nvSpPr>
        <p:spPr>
          <a:xfrm>
            <a:off x="6556248" y="2743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X and Threads</a:t>
            </a:r>
            <a:endParaRPr lang="en-US" sz="1500" dirty="0"/>
          </a:p>
        </p:txBody>
      </p:sp>
      <p:sp>
        <p:nvSpPr>
          <p:cNvPr id="12" name="text-72"/>
          <p:cNvSpPr txBox="1"/>
          <p:nvPr/>
        </p:nvSpPr>
        <p:spPr>
          <a:xfrm>
            <a:off x="6556248" y="30815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Instagram and YouTube</a:t>
            </a:r>
            <a:endParaRPr lang="en-US" sz="1500" dirty="0"/>
          </a:p>
        </p:txBody>
      </p:sp>
      <p:sp>
        <p:nvSpPr>
          <p:cNvPr id="13" name="text-73"/>
          <p:cNvSpPr txBox="1"/>
          <p:nvPr/>
        </p:nvSpPr>
        <p:spPr>
          <a:xfrm>
            <a:off x="6556248" y="341985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Substack newsletter</a:t>
            </a:r>
            <a:endParaRPr lang="en-US" sz="1500" dirty="0"/>
          </a:p>
        </p:txBody>
      </p:sp>
      <p:sp>
        <p:nvSpPr>
          <p:cNvPr id="14" name="box-74"/>
          <p:cNvSpPr/>
          <p:nvPr/>
        </p:nvSpPr>
        <p:spPr>
          <a:xfrm>
            <a:off x="640080" y="4069080"/>
            <a:ext cx="5312664" cy="1874520"/>
          </a:xfrm>
          <a:prstGeom prst="roundRect">
            <a:avLst>
              <a:gd name="adj" fmla="val 58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-75"/>
          <p:cNvSpPr txBox="1"/>
          <p:nvPr/>
        </p:nvSpPr>
        <p:spPr>
          <a:xfrm>
            <a:off x="960120" y="4297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Webinars and community</a:t>
            </a:r>
            <a:endParaRPr lang="en-US" sz="2000" dirty="0"/>
          </a:p>
        </p:txBody>
      </p:sp>
      <p:sp>
        <p:nvSpPr>
          <p:cNvPr id="16" name="text-76"/>
          <p:cNvSpPr txBox="1"/>
          <p:nvPr/>
        </p:nvSpPr>
        <p:spPr>
          <a:xfrm>
            <a:off x="960120" y="48463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Monthly buyer webinars</a:t>
            </a:r>
            <a:endParaRPr lang="en-US" sz="1500" dirty="0"/>
          </a:p>
        </p:txBody>
      </p:sp>
      <p:sp>
        <p:nvSpPr>
          <p:cNvPr id="17" name="text-77"/>
          <p:cNvSpPr txBox="1"/>
          <p:nvPr/>
        </p:nvSpPr>
        <p:spPr>
          <a:xfrm>
            <a:off x="960120" y="5184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Skool community</a:t>
            </a:r>
            <a:endParaRPr lang="en-US" sz="1500" dirty="0"/>
          </a:p>
        </p:txBody>
      </p:sp>
      <p:sp>
        <p:nvSpPr>
          <p:cNvPr id="18" name="text-78"/>
          <p:cNvSpPr txBox="1"/>
          <p:nvPr/>
        </p:nvSpPr>
        <p:spPr>
          <a:xfrm>
            <a:off x="960120" y="55229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Clips from every session</a:t>
            </a:r>
            <a:endParaRPr lang="en-US" sz="1500" dirty="0"/>
          </a:p>
        </p:txBody>
      </p:sp>
      <p:sp>
        <p:nvSpPr>
          <p:cNvPr id="19" name="box-79"/>
          <p:cNvSpPr/>
          <p:nvPr/>
        </p:nvSpPr>
        <p:spPr>
          <a:xfrm>
            <a:off x="6236208" y="4069080"/>
            <a:ext cx="5312664" cy="1874520"/>
          </a:xfrm>
          <a:prstGeom prst="roundRect">
            <a:avLst>
              <a:gd name="adj" fmla="val 58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-80"/>
          <p:cNvSpPr txBox="1"/>
          <p:nvPr/>
        </p:nvSpPr>
        <p:spPr>
          <a:xfrm>
            <a:off x="6556248" y="4297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Website and reporting</a:t>
            </a:r>
            <a:endParaRPr lang="en-US" sz="2000" dirty="0"/>
          </a:p>
        </p:txBody>
      </p:sp>
      <p:sp>
        <p:nvSpPr>
          <p:cNvPr id="21" name="text-81"/>
          <p:cNvSpPr txBox="1"/>
          <p:nvPr/>
        </p:nvSpPr>
        <p:spPr>
          <a:xfrm>
            <a:off x="6556248" y="48463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One place to land</a:t>
            </a:r>
            <a:endParaRPr lang="en-US" sz="1500" dirty="0"/>
          </a:p>
        </p:txBody>
      </p:sp>
      <p:sp>
        <p:nvSpPr>
          <p:cNvPr id="22" name="text-82"/>
          <p:cNvSpPr txBox="1"/>
          <p:nvPr/>
        </p:nvSpPr>
        <p:spPr>
          <a:xfrm>
            <a:off x="6556248" y="5184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Articles that rank</a:t>
            </a:r>
            <a:endParaRPr lang="en-US" sz="1500" dirty="0"/>
          </a:p>
        </p:txBody>
      </p:sp>
      <p:sp>
        <p:nvSpPr>
          <p:cNvPr id="23" name="text-83"/>
          <p:cNvSpPr txBox="1"/>
          <p:nvPr/>
        </p:nvSpPr>
        <p:spPr>
          <a:xfrm>
            <a:off x="6556248" y="55229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•  Live dashboard, monthly review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LinkedIn runs on agents, end to end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The client spends about 10 minutes a day approving drafts on their phone.</a:t>
            </a:r>
            <a:endParaRPr lang="en-US" sz="1800" dirty="0"/>
          </a:p>
        </p:txBody>
      </p:sp>
      <p:sp>
        <p:nvSpPr>
          <p:cNvPr id="4" name="spoke-84"/>
          <p:cNvSpPr/>
          <p:nvPr/>
        </p:nvSpPr>
        <p:spPr>
          <a:xfrm>
            <a:off x="3840480" y="3337560"/>
            <a:ext cx="2258568" cy="5943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5" name="box-85"/>
          <p:cNvSpPr/>
          <p:nvPr/>
        </p:nvSpPr>
        <p:spPr>
          <a:xfrm>
            <a:off x="640080" y="1920240"/>
            <a:ext cx="32004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rgbClr val="C6DE9F"/>
            </a:solidFill>
            <a:prstDash val="solid"/>
          </a:ln>
        </p:spPr>
      </p:sp>
      <p:sp>
        <p:nvSpPr>
          <p:cNvPr id="6" name="text-86"/>
          <p:cNvSpPr txBox="1"/>
          <p:nvPr/>
        </p:nvSpPr>
        <p:spPr>
          <a:xfrm>
            <a:off x="914400" y="21214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Research</a:t>
            </a:r>
            <a:endParaRPr lang="en-US" sz="1800" dirty="0"/>
          </a:p>
        </p:txBody>
      </p:sp>
      <p:sp>
        <p:nvSpPr>
          <p:cNvPr id="7" name="text-87"/>
          <p:cNvSpPr txBox="1"/>
          <p:nvPr/>
        </p:nvSpPr>
        <p:spPr>
          <a:xfrm>
            <a:off x="914400" y="25603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Finds buyers with a reason to talk this month</a:t>
            </a:r>
            <a:endParaRPr lang="en-US" sz="1400" dirty="0"/>
          </a:p>
        </p:txBody>
      </p:sp>
      <p:sp>
        <p:nvSpPr>
          <p:cNvPr id="8" name="spoke-88"/>
          <p:cNvSpPr/>
          <p:nvPr/>
        </p:nvSpPr>
        <p:spPr>
          <a:xfrm flipH="1">
            <a:off x="6099048" y="3337560"/>
            <a:ext cx="2249424" cy="59436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9" name="box-89"/>
          <p:cNvSpPr/>
          <p:nvPr/>
        </p:nvSpPr>
        <p:spPr>
          <a:xfrm>
            <a:off x="8348472" y="1920240"/>
            <a:ext cx="32004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rgbClr val="C6DE9F"/>
            </a:solidFill>
            <a:prstDash val="solid"/>
          </a:ln>
        </p:spPr>
      </p:sp>
      <p:sp>
        <p:nvSpPr>
          <p:cNvPr id="10" name="text-90"/>
          <p:cNvSpPr txBox="1"/>
          <p:nvPr/>
        </p:nvSpPr>
        <p:spPr>
          <a:xfrm>
            <a:off x="8622792" y="21214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Connect</a:t>
            </a:r>
            <a:endParaRPr lang="en-US" sz="1800" dirty="0"/>
          </a:p>
        </p:txBody>
      </p:sp>
      <p:sp>
        <p:nvSpPr>
          <p:cNvPr id="11" name="text-91"/>
          <p:cNvSpPr txBox="1"/>
          <p:nvPr/>
        </p:nvSpPr>
        <p:spPr>
          <a:xfrm>
            <a:off x="8622792" y="25603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Personal requests at a human pace: 5 a day, rising to 20</a:t>
            </a:r>
            <a:endParaRPr lang="en-US" sz="1400" dirty="0"/>
          </a:p>
        </p:txBody>
      </p:sp>
      <p:sp>
        <p:nvSpPr>
          <p:cNvPr id="12" name="spoke-92"/>
          <p:cNvSpPr/>
          <p:nvPr/>
        </p:nvSpPr>
        <p:spPr>
          <a:xfrm flipH="1">
            <a:off x="3840480" y="3931920"/>
            <a:ext cx="2258568" cy="6400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3" name="box-93"/>
          <p:cNvSpPr/>
          <p:nvPr/>
        </p:nvSpPr>
        <p:spPr>
          <a:xfrm>
            <a:off x="640080" y="4572000"/>
            <a:ext cx="32004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rgbClr val="C6DE9F"/>
            </a:solidFill>
            <a:prstDash val="solid"/>
          </a:ln>
        </p:spPr>
      </p:sp>
      <p:sp>
        <p:nvSpPr>
          <p:cNvPr id="14" name="text-94"/>
          <p:cNvSpPr txBox="1"/>
          <p:nvPr/>
        </p:nvSpPr>
        <p:spPr>
          <a:xfrm>
            <a:off x="914400" y="4773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Comment and post</a:t>
            </a:r>
            <a:endParaRPr lang="en-US" sz="1800" dirty="0"/>
          </a:p>
        </p:txBody>
      </p:sp>
      <p:sp>
        <p:nvSpPr>
          <p:cNvPr id="15" name="text-95"/>
          <p:cNvSpPr txBox="1"/>
          <p:nvPr/>
        </p:nvSpPr>
        <p:spPr>
          <a:xfrm>
            <a:off x="914400" y="52120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3–5 comments a day, weekly posts in their voice</a:t>
            </a:r>
            <a:endParaRPr lang="en-US" sz="1400" dirty="0"/>
          </a:p>
        </p:txBody>
      </p:sp>
      <p:sp>
        <p:nvSpPr>
          <p:cNvPr id="16" name="spoke-96"/>
          <p:cNvSpPr/>
          <p:nvPr/>
        </p:nvSpPr>
        <p:spPr>
          <a:xfrm>
            <a:off x="6099048" y="3931920"/>
            <a:ext cx="2249424" cy="64008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17" name="box-97"/>
          <p:cNvSpPr/>
          <p:nvPr/>
        </p:nvSpPr>
        <p:spPr>
          <a:xfrm>
            <a:off x="8348472" y="4572000"/>
            <a:ext cx="3200400" cy="1417320"/>
          </a:xfrm>
          <a:prstGeom prst="roundRect">
            <a:avLst>
              <a:gd name="adj" fmla="val 7742"/>
            </a:avLst>
          </a:prstGeom>
          <a:solidFill>
            <a:schemeClr val="accent6"/>
          </a:solidFill>
          <a:ln w="12700">
            <a:solidFill>
              <a:srgbClr val="C6DE9F"/>
            </a:solidFill>
            <a:prstDash val="solid"/>
          </a:ln>
        </p:spPr>
      </p:sp>
      <p:sp>
        <p:nvSpPr>
          <p:cNvPr id="18" name="text-98"/>
          <p:cNvSpPr txBox="1"/>
          <p:nvPr/>
        </p:nvSpPr>
        <p:spPr>
          <a:xfrm>
            <a:off x="8622792" y="4773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Follow up and report</a:t>
            </a:r>
            <a:endParaRPr lang="en-US" sz="1800" dirty="0"/>
          </a:p>
        </p:txBody>
      </p:sp>
      <p:sp>
        <p:nvSpPr>
          <p:cNvPr id="19" name="text-99"/>
          <p:cNvSpPr txBox="1"/>
          <p:nvPr/>
        </p:nvSpPr>
        <p:spPr>
          <a:xfrm>
            <a:off x="8622792" y="52120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DMs that never pitch; who replied and who booked</a:t>
            </a:r>
            <a:endParaRPr lang="en-US" sz="1400" dirty="0"/>
          </a:p>
        </p:txBody>
      </p:sp>
      <p:sp>
        <p:nvSpPr>
          <p:cNvPr id="20" name="hub-100"/>
          <p:cNvSpPr/>
          <p:nvPr/>
        </p:nvSpPr>
        <p:spPr>
          <a:xfrm>
            <a:off x="4636008" y="2788920"/>
            <a:ext cx="2926080" cy="22860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-101"/>
          <p:cNvSpPr txBox="1"/>
          <p:nvPr/>
        </p:nvSpPr>
        <p:spPr>
          <a:xfrm>
            <a:off x="4818888" y="3246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2"/>
                </a:solidFill>
              </a:rPr>
              <a:t>The client approves</a:t>
            </a:r>
            <a:endParaRPr lang="en-US" sz="1900" dirty="0"/>
          </a:p>
        </p:txBody>
      </p:sp>
      <p:sp>
        <p:nvSpPr>
          <p:cNvPr id="22" name="text-102"/>
          <p:cNvSpPr txBox="1"/>
          <p:nvPr/>
        </p:nvSpPr>
        <p:spPr>
          <a:xfrm>
            <a:off x="4818888" y="37947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Nothing goes out without a yes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idea, published everywhere buyers look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LinkedIn, X, Instagram, Threads, Substack and YouTube.</a:t>
            </a:r>
            <a:endParaRPr lang="en-US" sz="1800" dirty="0"/>
          </a:p>
        </p:txBody>
      </p:sp>
      <p:sp>
        <p:nvSpPr>
          <p:cNvPr id="4" name="rule-103"/>
          <p:cNvSpPr/>
          <p:nvPr/>
        </p:nvSpPr>
        <p:spPr>
          <a:xfrm>
            <a:off x="640080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5" name="text-104"/>
          <p:cNvSpPr txBox="1"/>
          <p:nvPr/>
        </p:nvSpPr>
        <p:spPr>
          <a:xfrm>
            <a:off x="640080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#1</a:t>
            </a:r>
            <a:endParaRPr lang="en-US" sz="1300" dirty="0"/>
          </a:p>
        </p:txBody>
      </p:sp>
      <p:sp>
        <p:nvSpPr>
          <p:cNvPr id="6" name="text-105"/>
          <p:cNvSpPr txBox="1"/>
          <p:nvPr/>
        </p:nvSpPr>
        <p:spPr>
          <a:xfrm>
            <a:off x="640080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Write once</a:t>
            </a:r>
            <a:endParaRPr lang="en-US" sz="2400" dirty="0"/>
          </a:p>
        </p:txBody>
      </p:sp>
      <p:sp>
        <p:nvSpPr>
          <p:cNvPr id="7" name="text-106"/>
          <p:cNvSpPr txBox="1"/>
          <p:nvPr/>
        </p:nvSpPr>
        <p:spPr>
          <a:xfrm>
            <a:off x="640080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client sends one short note a week: a voice note or a few lines.</a:t>
            </a:r>
            <a:endParaRPr lang="en-US" sz="1600" dirty="0"/>
          </a:p>
        </p:txBody>
      </p:sp>
      <p:sp>
        <p:nvSpPr>
          <p:cNvPr id="8" name="rule-107"/>
          <p:cNvSpPr/>
          <p:nvPr/>
        </p:nvSpPr>
        <p:spPr>
          <a:xfrm>
            <a:off x="4398264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9" name="text-108"/>
          <p:cNvSpPr txBox="1"/>
          <p:nvPr/>
        </p:nvSpPr>
        <p:spPr>
          <a:xfrm>
            <a:off x="4398264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#2</a:t>
            </a:r>
            <a:endParaRPr lang="en-US" sz="1300" dirty="0"/>
          </a:p>
        </p:txBody>
      </p:sp>
      <p:sp>
        <p:nvSpPr>
          <p:cNvPr id="10" name="text-109"/>
          <p:cNvSpPr txBox="1"/>
          <p:nvPr/>
        </p:nvSpPr>
        <p:spPr>
          <a:xfrm>
            <a:off x="4398264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Adapt per platform</a:t>
            </a:r>
            <a:endParaRPr lang="en-US" sz="2400" dirty="0"/>
          </a:p>
        </p:txBody>
      </p:sp>
      <p:sp>
        <p:nvSpPr>
          <p:cNvPr id="11" name="text-110"/>
          <p:cNvSpPr txBox="1"/>
          <p:nvPr/>
        </p:nvSpPr>
        <p:spPr>
          <a:xfrm>
            <a:off x="4398264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Each platform gets its own version, never a copy-paste. Buyers and community audiences stay separate.</a:t>
            </a:r>
            <a:endParaRPr lang="en-US" sz="1600" dirty="0"/>
          </a:p>
        </p:txBody>
      </p:sp>
      <p:sp>
        <p:nvSpPr>
          <p:cNvPr id="12" name="rule-111"/>
          <p:cNvSpPr/>
          <p:nvPr/>
        </p:nvSpPr>
        <p:spPr>
          <a:xfrm>
            <a:off x="8156448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3" name="text-112"/>
          <p:cNvSpPr txBox="1"/>
          <p:nvPr/>
        </p:nvSpPr>
        <p:spPr>
          <a:xfrm>
            <a:off x="8156448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#3</a:t>
            </a:r>
            <a:endParaRPr lang="en-US" sz="1300" dirty="0"/>
          </a:p>
        </p:txBody>
      </p:sp>
      <p:sp>
        <p:nvSpPr>
          <p:cNvPr id="14" name="text-113"/>
          <p:cNvSpPr txBox="1"/>
          <p:nvPr/>
        </p:nvSpPr>
        <p:spPr>
          <a:xfrm>
            <a:off x="8156448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Own the audience</a:t>
            </a:r>
            <a:endParaRPr lang="en-US" sz="2400" dirty="0"/>
          </a:p>
        </p:txBody>
      </p:sp>
      <p:sp>
        <p:nvSpPr>
          <p:cNvPr id="15" name="text-114"/>
          <p:cNvSpPr txBox="1"/>
          <p:nvPr/>
        </p:nvSpPr>
        <p:spPr>
          <a:xfrm>
            <a:off x="8156448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Substack newsletter builds a list the client owns, not one an algorithm owns.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Webinars and community turn followers into clients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Buyer sessions sell the expertise. Community sessions build the audience.</a:t>
            </a:r>
            <a:endParaRPr lang="en-US" sz="1800" dirty="0"/>
          </a:p>
        </p:txBody>
      </p:sp>
      <p:sp>
        <p:nvSpPr>
          <p:cNvPr id="4" name="box-115"/>
          <p:cNvSpPr/>
          <p:nvPr/>
        </p:nvSpPr>
        <p:spPr>
          <a:xfrm>
            <a:off x="640080" y="2011680"/>
            <a:ext cx="3483864" cy="292608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116"/>
          <p:cNvSpPr txBox="1"/>
          <p:nvPr/>
        </p:nvSpPr>
        <p:spPr>
          <a:xfrm>
            <a:off x="960120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#1  Webinars</a:t>
            </a:r>
            <a:endParaRPr lang="en-US" sz="2200" dirty="0"/>
          </a:p>
        </p:txBody>
      </p:sp>
      <p:sp>
        <p:nvSpPr>
          <p:cNvPr id="6" name="text-117"/>
          <p:cNvSpPr txBox="1"/>
          <p:nvPr/>
        </p:nvSpPr>
        <p:spPr>
          <a:xfrm>
            <a:off x="960120" y="297180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Monthly, 45 minutes. Buyers bring a real problem; the expert solves it live. Every attendee followed up within 48 hours.</a:t>
            </a:r>
            <a:endParaRPr lang="en-US" sz="1600" dirty="0"/>
          </a:p>
        </p:txBody>
      </p:sp>
      <p:sp>
        <p:nvSpPr>
          <p:cNvPr id="7" name="box-118"/>
          <p:cNvSpPr/>
          <p:nvPr/>
        </p:nvSpPr>
        <p:spPr>
          <a:xfrm>
            <a:off x="4389120" y="2011680"/>
            <a:ext cx="3483864" cy="292608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-119"/>
          <p:cNvSpPr txBox="1"/>
          <p:nvPr/>
        </p:nvSpPr>
        <p:spPr>
          <a:xfrm>
            <a:off x="4709160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#2  Clips</a:t>
            </a:r>
            <a:endParaRPr lang="en-US" sz="2200" dirty="0"/>
          </a:p>
        </p:txBody>
      </p:sp>
      <p:sp>
        <p:nvSpPr>
          <p:cNvPr id="9" name="text-120"/>
          <p:cNvSpPr txBox="1"/>
          <p:nvPr/>
        </p:nvSpPr>
        <p:spPr>
          <a:xfrm>
            <a:off x="4709160" y="297180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Every session is cut into short clips for every platform, so one hour feeds a month of posts.</a:t>
            </a:r>
            <a:endParaRPr lang="en-US" sz="1600" dirty="0"/>
          </a:p>
        </p:txBody>
      </p:sp>
      <p:sp>
        <p:nvSpPr>
          <p:cNvPr id="10" name="box-121"/>
          <p:cNvSpPr/>
          <p:nvPr/>
        </p:nvSpPr>
        <p:spPr>
          <a:xfrm>
            <a:off x="8138160" y="2011680"/>
            <a:ext cx="3483864" cy="292608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122"/>
          <p:cNvSpPr txBox="1"/>
          <p:nvPr/>
        </p:nvSpPr>
        <p:spPr>
          <a:xfrm>
            <a:off x="8458200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#3  Skool community</a:t>
            </a:r>
            <a:endParaRPr lang="en-US" sz="2200" dirty="0"/>
          </a:p>
        </p:txBody>
      </p:sp>
      <p:sp>
        <p:nvSpPr>
          <p:cNvPr id="12" name="text-123"/>
          <p:cNvSpPr txBox="1"/>
          <p:nvPr/>
        </p:nvSpPr>
        <p:spPr>
          <a:xfrm>
            <a:off x="8458200" y="297180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Waitlist, free taster, paid cohorts and a self-paced membership. Agents handle admin and reminders.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piece passes our Taste system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Taste is Extol’s creative-direction library: 200+ proven posts, reels and websites, each broken down.</a:t>
            </a:r>
            <a:endParaRPr lang="en-US" sz="1800" dirty="0"/>
          </a:p>
        </p:txBody>
      </p:sp>
      <p:sp>
        <p:nvSpPr>
          <p:cNvPr id="4" name="rule-124"/>
          <p:cNvSpPr/>
          <p:nvPr/>
        </p:nvSpPr>
        <p:spPr>
          <a:xfrm>
            <a:off x="640080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5" name="text-125"/>
          <p:cNvSpPr txBox="1"/>
          <p:nvPr/>
        </p:nvSpPr>
        <p:spPr>
          <a:xfrm>
            <a:off x="640080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Rule #1</a:t>
            </a:r>
            <a:endParaRPr lang="en-US" sz="1300" dirty="0"/>
          </a:p>
        </p:txBody>
      </p:sp>
      <p:sp>
        <p:nvSpPr>
          <p:cNvPr id="6" name="text-126"/>
          <p:cNvSpPr txBox="1"/>
          <p:nvPr/>
        </p:nvSpPr>
        <p:spPr>
          <a:xfrm>
            <a:off x="640080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Match</a:t>
            </a:r>
            <a:endParaRPr lang="en-US" sz="2400" dirty="0"/>
          </a:p>
        </p:txBody>
      </p:sp>
      <p:sp>
        <p:nvSpPr>
          <p:cNvPr id="7" name="text-127"/>
          <p:cNvSpPr txBox="1"/>
          <p:nvPr/>
        </p:nvSpPr>
        <p:spPr>
          <a:xfrm>
            <a:off x="640080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Each new piece is matched to the one reference that fits its goal.</a:t>
            </a:r>
            <a:endParaRPr lang="en-US" sz="1600" dirty="0"/>
          </a:p>
        </p:txBody>
      </p:sp>
      <p:sp>
        <p:nvSpPr>
          <p:cNvPr id="8" name="rule-128"/>
          <p:cNvSpPr/>
          <p:nvPr/>
        </p:nvSpPr>
        <p:spPr>
          <a:xfrm>
            <a:off x="4398264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9" name="text-129"/>
          <p:cNvSpPr txBox="1"/>
          <p:nvPr/>
        </p:nvSpPr>
        <p:spPr>
          <a:xfrm>
            <a:off x="4398264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Rule #2</a:t>
            </a:r>
            <a:endParaRPr lang="en-US" sz="1300" dirty="0"/>
          </a:p>
        </p:txBody>
      </p:sp>
      <p:sp>
        <p:nvSpPr>
          <p:cNvPr id="10" name="text-130"/>
          <p:cNvSpPr txBox="1"/>
          <p:nvPr/>
        </p:nvSpPr>
        <p:spPr>
          <a:xfrm>
            <a:off x="4398264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Apply</a:t>
            </a:r>
            <a:endParaRPr lang="en-US" sz="2400" dirty="0"/>
          </a:p>
        </p:txBody>
      </p:sp>
      <p:sp>
        <p:nvSpPr>
          <p:cNvPr id="11" name="text-131"/>
          <p:cNvSpPr txBox="1"/>
          <p:nvPr/>
        </p:nvSpPr>
        <p:spPr>
          <a:xfrm>
            <a:off x="4398264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use that reference’s craft: structure, pacing, type and layout.</a:t>
            </a:r>
            <a:endParaRPr lang="en-US" sz="1600" dirty="0"/>
          </a:p>
        </p:txBody>
      </p:sp>
      <p:sp>
        <p:nvSpPr>
          <p:cNvPr id="12" name="rule-132"/>
          <p:cNvSpPr/>
          <p:nvPr/>
        </p:nvSpPr>
        <p:spPr>
          <a:xfrm>
            <a:off x="8156448" y="2103120"/>
            <a:ext cx="3392424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3" name="text-133"/>
          <p:cNvSpPr txBox="1"/>
          <p:nvPr/>
        </p:nvSpPr>
        <p:spPr>
          <a:xfrm>
            <a:off x="8156448" y="2331720"/>
            <a:ext cx="3392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Rule #3</a:t>
            </a:r>
            <a:endParaRPr lang="en-US" sz="1300" dirty="0"/>
          </a:p>
        </p:txBody>
      </p:sp>
      <p:sp>
        <p:nvSpPr>
          <p:cNvPr id="14" name="text-134"/>
          <p:cNvSpPr txBox="1"/>
          <p:nvPr/>
        </p:nvSpPr>
        <p:spPr>
          <a:xfrm>
            <a:off x="8156448" y="26974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Never copy</a:t>
            </a:r>
            <a:endParaRPr lang="en-US" sz="2400" dirty="0"/>
          </a:p>
        </p:txBody>
      </p:sp>
      <p:sp>
        <p:nvSpPr>
          <p:cNvPr id="15" name="text-135"/>
          <p:cNvSpPr txBox="1"/>
          <p:nvPr/>
        </p:nvSpPr>
        <p:spPr>
          <a:xfrm>
            <a:off x="8156448" y="3566160"/>
            <a:ext cx="339242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Their assets stay theirs. Colours and voice stay the client’s.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 expect outreach to produce each month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At full pace: 20 connection requests a day.</a:t>
            </a:r>
            <a:endParaRPr lang="en-US" sz="1800" dirty="0"/>
          </a:p>
        </p:txBody>
      </p:sp>
      <p:sp>
        <p:nvSpPr>
          <p:cNvPr id="4" name="box-136"/>
          <p:cNvSpPr/>
          <p:nvPr/>
        </p:nvSpPr>
        <p:spPr>
          <a:xfrm>
            <a:off x="640080" y="201168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137"/>
          <p:cNvSpPr txBox="1"/>
          <p:nvPr/>
        </p:nvSpPr>
        <p:spPr>
          <a:xfrm>
            <a:off x="9144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Insights</a:t>
            </a:r>
            <a:endParaRPr lang="en-US" sz="1800" dirty="0"/>
          </a:p>
        </p:txBody>
      </p:sp>
      <p:sp>
        <p:nvSpPr>
          <p:cNvPr id="6" name="text-138"/>
          <p:cNvSpPr txBox="1"/>
          <p:nvPr/>
        </p:nvSpPr>
        <p:spPr>
          <a:xfrm>
            <a:off x="914400" y="274320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37% of requests accepted. Warm contacts accept far more than cold.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18% of those reply, because every note names a reason to talk.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30% of replies book a call. No pitch in the first message.</a:t>
            </a:r>
            <a:endParaRPr lang="en-US" sz="1500" dirty="0"/>
          </a:p>
        </p:txBody>
      </p:sp>
      <p:graphicFrame>
        <p:nvGraphicFramePr>
          <p:cNvPr id="7" name="funnel-chart" descr=""/>
          <p:cNvGraphicFramePr/>
          <p:nvPr/>
        </p:nvGraphicFramePr>
        <p:xfrm>
          <a:off x="4480560" y="2011680"/>
          <a:ext cx="70408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-139"/>
          <p:cNvSpPr txBox="1"/>
          <p:nvPr/>
        </p:nvSpPr>
        <p:spPr>
          <a:xfrm>
            <a:off x="4480560" y="58064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Planning estimates from our consultancy client’s plan, not yet proven results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Leads should build up month by month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Qualified leads per month: buyers who reply, book or sign up. Likes don’t count.</a:t>
            </a:r>
            <a:endParaRPr lang="en-US" sz="1800" dirty="0"/>
          </a:p>
        </p:txBody>
      </p:sp>
      <p:sp>
        <p:nvSpPr>
          <p:cNvPr id="4" name="box-140"/>
          <p:cNvSpPr/>
          <p:nvPr/>
        </p:nvSpPr>
        <p:spPr>
          <a:xfrm>
            <a:off x="640080" y="201168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141"/>
          <p:cNvSpPr txBox="1"/>
          <p:nvPr/>
        </p:nvSpPr>
        <p:spPr>
          <a:xfrm>
            <a:off x="9144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Insights</a:t>
            </a:r>
            <a:endParaRPr lang="en-US" sz="1800" dirty="0"/>
          </a:p>
        </p:txBody>
      </p:sp>
      <p:sp>
        <p:nvSpPr>
          <p:cNvPr id="6" name="text-142"/>
          <p:cNvSpPr txBox="1"/>
          <p:nvPr/>
        </p:nvSpPr>
        <p:spPr>
          <a:xfrm>
            <a:off x="914400" y="274320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Month 1 is set-up and warm-up, so leads start small.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By month 6 the system passes 100 qualified leads a month.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Big contracts take 6–12 months to close, so the first win usually lands in months 6–12.</a:t>
            </a:r>
            <a:endParaRPr lang="en-US" sz="1500" dirty="0"/>
          </a:p>
        </p:txBody>
      </p:sp>
      <p:graphicFrame>
        <p:nvGraphicFramePr>
          <p:cNvPr id="7" name="leads-chart" descr=""/>
          <p:cNvGraphicFramePr/>
          <p:nvPr/>
        </p:nvGraphicFramePr>
        <p:xfrm>
          <a:off x="4480560" y="2011680"/>
          <a:ext cx="70408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-143"/>
          <p:cNvSpPr txBox="1"/>
          <p:nvPr/>
        </p:nvSpPr>
        <p:spPr>
          <a:xfrm>
            <a:off x="4480560" y="58064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Forecast mid-points from our consultancy client’s plan, not yet proven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100 leads to 2–3 clients a month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The client’s own rule of thumb, by month 6.</a:t>
            </a:r>
            <a:endParaRPr lang="en-US" sz="1800" dirty="0"/>
          </a:p>
        </p:txBody>
      </p:sp>
      <p:sp>
        <p:nvSpPr>
          <p:cNvPr id="4" name="nest-144"/>
          <p:cNvSpPr/>
          <p:nvPr/>
        </p:nvSpPr>
        <p:spPr>
          <a:xfrm>
            <a:off x="640080" y="1828800"/>
            <a:ext cx="4206240" cy="4206240"/>
          </a:xfrm>
          <a:prstGeom prst="rect">
            <a:avLst/>
          </a:prstGeom>
          <a:solidFill>
            <a:schemeClr val="accent6"/>
          </a:solidFill>
          <a:ln w="12700">
            <a:solidFill>
              <a:srgbClr val="2B4A34"/>
            </a:solidFill>
            <a:prstDash val="solid"/>
          </a:ln>
        </p:spPr>
      </p:sp>
      <p:sp>
        <p:nvSpPr>
          <p:cNvPr id="5" name="text-145"/>
          <p:cNvSpPr txBox="1"/>
          <p:nvPr/>
        </p:nvSpPr>
        <p:spPr>
          <a:xfrm>
            <a:off x="868680" y="2011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100</a:t>
            </a:r>
            <a:endParaRPr lang="en-US" sz="3000" dirty="0"/>
          </a:p>
        </p:txBody>
      </p:sp>
      <p:sp>
        <p:nvSpPr>
          <p:cNvPr id="6" name="text-146"/>
          <p:cNvSpPr txBox="1"/>
          <p:nvPr/>
        </p:nvSpPr>
        <p:spPr>
          <a:xfrm>
            <a:off x="868680" y="2606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qualified leads a month</a:t>
            </a:r>
            <a:endParaRPr lang="en-US" sz="1300" dirty="0"/>
          </a:p>
        </p:txBody>
      </p:sp>
      <p:sp>
        <p:nvSpPr>
          <p:cNvPr id="7" name="nest-147"/>
          <p:cNvSpPr/>
          <p:nvPr/>
        </p:nvSpPr>
        <p:spPr>
          <a:xfrm>
            <a:off x="640080" y="3017520"/>
            <a:ext cx="3017520" cy="301752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2B4A34"/>
            </a:solidFill>
            <a:prstDash val="solid"/>
          </a:ln>
        </p:spPr>
      </p:sp>
      <p:sp>
        <p:nvSpPr>
          <p:cNvPr id="8" name="text-148"/>
          <p:cNvSpPr txBox="1"/>
          <p:nvPr/>
        </p:nvSpPr>
        <p:spPr>
          <a:xfrm>
            <a:off x="868680" y="32004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10</a:t>
            </a:r>
            <a:endParaRPr lang="en-US" sz="3000" dirty="0"/>
          </a:p>
        </p:txBody>
      </p:sp>
      <p:sp>
        <p:nvSpPr>
          <p:cNvPr id="9" name="text-149"/>
          <p:cNvSpPr txBox="1"/>
          <p:nvPr/>
        </p:nvSpPr>
        <p:spPr>
          <a:xfrm>
            <a:off x="86868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real sales calls</a:t>
            </a:r>
            <a:endParaRPr lang="en-US" sz="1300" dirty="0"/>
          </a:p>
        </p:txBody>
      </p:sp>
      <p:sp>
        <p:nvSpPr>
          <p:cNvPr id="10" name="nest-150"/>
          <p:cNvSpPr/>
          <p:nvPr/>
        </p:nvSpPr>
        <p:spPr>
          <a:xfrm>
            <a:off x="640080" y="4206240"/>
            <a:ext cx="1828800" cy="182880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2B4A34"/>
            </a:solidFill>
            <a:prstDash val="solid"/>
          </a:ln>
        </p:spPr>
      </p:sp>
      <p:sp>
        <p:nvSpPr>
          <p:cNvPr id="11" name="text-151"/>
          <p:cNvSpPr txBox="1"/>
          <p:nvPr/>
        </p:nvSpPr>
        <p:spPr>
          <a:xfrm>
            <a:off x="86868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bg2"/>
                </a:solidFill>
              </a:rPr>
              <a:t>2–3</a:t>
            </a:r>
            <a:endParaRPr lang="en-US" sz="3000" dirty="0"/>
          </a:p>
        </p:txBody>
      </p:sp>
      <p:sp>
        <p:nvSpPr>
          <p:cNvPr id="12" name="text-152"/>
          <p:cNvSpPr txBox="1"/>
          <p:nvPr/>
        </p:nvSpPr>
        <p:spPr>
          <a:xfrm>
            <a:off x="868680" y="49834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new clients</a:t>
            </a:r>
            <a:endParaRPr lang="en-US" sz="1300" dirty="0"/>
          </a:p>
        </p:txBody>
      </p:sp>
      <p:sp>
        <p:nvSpPr>
          <p:cNvPr id="13" name="text-153"/>
          <p:cNvSpPr txBox="1"/>
          <p:nvPr/>
        </p:nvSpPr>
        <p:spPr>
          <a:xfrm>
            <a:off x="5486400" y="20116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Leads</a:t>
            </a:r>
            <a:endParaRPr lang="en-US" sz="2200" dirty="0"/>
          </a:p>
        </p:txBody>
      </p:sp>
      <p:sp>
        <p:nvSpPr>
          <p:cNvPr id="14" name="text-154"/>
          <p:cNvSpPr txBox="1"/>
          <p:nvPr/>
        </p:nvSpPr>
        <p:spPr>
          <a:xfrm>
            <a:off x="5486400" y="24688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Buyers and shortlisters who reply, message, book or sign up. Quality over quantity.</a:t>
            </a:r>
            <a:endParaRPr lang="en-US" sz="1600" dirty="0"/>
          </a:p>
        </p:txBody>
      </p:sp>
      <p:sp>
        <p:nvSpPr>
          <p:cNvPr id="15" name="text-155"/>
          <p:cNvSpPr txBox="1"/>
          <p:nvPr/>
        </p:nvSpPr>
        <p:spPr>
          <a:xfrm>
            <a:off x="5486400" y="33375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Calls</a:t>
            </a:r>
            <a:endParaRPr lang="en-US" sz="2200" dirty="0"/>
          </a:p>
        </p:txBody>
      </p:sp>
      <p:sp>
        <p:nvSpPr>
          <p:cNvPr id="16" name="text-156"/>
          <p:cNvSpPr txBox="1"/>
          <p:nvPr/>
        </p:nvSpPr>
        <p:spPr>
          <a:xfrm>
            <a:off x="5486400" y="379476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About 1 in 10 leads is worth a real sales conversation.</a:t>
            </a:r>
            <a:endParaRPr lang="en-US" sz="1600" dirty="0"/>
          </a:p>
        </p:txBody>
      </p:sp>
      <p:sp>
        <p:nvSpPr>
          <p:cNvPr id="17" name="text-157"/>
          <p:cNvSpPr txBox="1"/>
          <p:nvPr/>
        </p:nvSpPr>
        <p:spPr>
          <a:xfrm>
            <a:off x="5486400" y="46634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Clients</a:t>
            </a:r>
            <a:endParaRPr lang="en-US" sz="2200" dirty="0"/>
          </a:p>
        </p:txBody>
      </p:sp>
      <p:sp>
        <p:nvSpPr>
          <p:cNvPr id="18" name="text-158"/>
          <p:cNvSpPr txBox="1"/>
          <p:nvPr/>
        </p:nvSpPr>
        <p:spPr>
          <a:xfrm>
            <a:off x="5486400" y="51206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2–3 paying clients, at the pace the firm can deliver well.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it costs: one fee, every tool included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Founding-client price. Prices exclude VAT.</a:t>
            </a:r>
            <a:endParaRPr lang="en-US" sz="1800" dirty="0"/>
          </a:p>
        </p:txBody>
      </p:sp>
      <p:graphicFrame>
        <p:nvGraphicFramePr>
          <p:cNvPr id="21" name="table-1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52395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When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Fee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it covers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Month 1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£1,500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Set-up, voice interview and website build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Months 2–3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£1,200 a month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Founding price: full delivery and weekly call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Month 4 onwards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£2,500 a month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Every platform, agent, Skool, webinar tool and report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5" name="box-160"/>
          <p:cNvSpPr/>
          <p:nvPr/>
        </p:nvSpPr>
        <p:spPr>
          <a:xfrm>
            <a:off x="640080" y="4892040"/>
            <a:ext cx="10908792" cy="96012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161"/>
          <p:cNvSpPr txBox="1"/>
          <p:nvPr/>
        </p:nvSpPr>
        <p:spPr>
          <a:xfrm>
            <a:off x="960120" y="489204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2"/>
                </a:solidFill>
              </a:rPr>
              <a:t>Our promise: at day 60 we review the results together. If we’re behind plan, we fix it in writing, or the client can leave.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One client win can pay for the whole year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Year-one fee: £26,400.</a:t>
            </a:r>
            <a:endParaRPr lang="en-US" sz="1800" dirty="0"/>
          </a:p>
        </p:txBody>
      </p:sp>
      <p:sp>
        <p:nvSpPr>
          <p:cNvPr id="4" name="box-162"/>
          <p:cNvSpPr/>
          <p:nvPr/>
        </p:nvSpPr>
        <p:spPr>
          <a:xfrm>
            <a:off x="640080" y="2011680"/>
            <a:ext cx="3474720" cy="4023360"/>
          </a:xfrm>
          <a:prstGeom prst="roundRect">
            <a:avLst>
              <a:gd name="adj" fmla="val 315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163"/>
          <p:cNvSpPr txBox="1"/>
          <p:nvPr/>
        </p:nvSpPr>
        <p:spPr>
          <a:xfrm>
            <a:off x="914400" y="2286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Insights</a:t>
            </a:r>
            <a:endParaRPr lang="en-US" sz="1800" dirty="0"/>
          </a:p>
        </p:txBody>
      </p:sp>
      <p:sp>
        <p:nvSpPr>
          <p:cNvPr id="6" name="text-164"/>
          <p:cNvSpPr txBox="1"/>
          <p:nvPr/>
        </p:nvSpPr>
        <p:spPr>
          <a:xfrm>
            <a:off x="914400" y="2743200"/>
            <a:ext cx="2926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Return on the fee, on profit at a 50% margin: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0.9×  one small advisory piece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2.8×  one mid-size engagement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9.5×  two engagements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Most cash from big contracts lands in year two.</a:t>
            </a:r>
            <a:endParaRPr lang="en-US" sz="1500" dirty="0"/>
          </a:p>
        </p:txBody>
      </p:sp>
      <p:graphicFrame>
        <p:nvGraphicFramePr>
          <p:cNvPr id="7" name="payback-chart" descr=""/>
          <p:cNvGraphicFramePr/>
          <p:nvPr/>
        </p:nvGraphicFramePr>
        <p:xfrm>
          <a:off x="4480560" y="2011680"/>
          <a:ext cx="70408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-165"/>
          <p:cNvSpPr txBox="1"/>
          <p:nvPr/>
        </p:nvSpPr>
        <p:spPr>
          <a:xfrm>
            <a:off x="4480560" y="580644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Illustrative figures from the consultancy plan, not results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0" b="1" spc="-200" kern="0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role</a:t>
            </a:r>
            <a:endParaRPr lang="en-US" sz="8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How you can help, and how we’d work together.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 ways you can help us grow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Working alongside us, not for us.</a:t>
            </a:r>
            <a:endParaRPr lang="en-US" sz="1800" dirty="0"/>
          </a:p>
        </p:txBody>
      </p:sp>
      <p:sp>
        <p:nvSpPr>
          <p:cNvPr id="4" name="box-166"/>
          <p:cNvSpPr/>
          <p:nvPr/>
        </p:nvSpPr>
        <p:spPr>
          <a:xfrm>
            <a:off x="640080" y="2011680"/>
            <a:ext cx="3483864" cy="292608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167"/>
          <p:cNvSpPr txBox="1"/>
          <p:nvPr/>
        </p:nvSpPr>
        <p:spPr>
          <a:xfrm>
            <a:off x="960120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#1  Advise</a:t>
            </a:r>
            <a:endParaRPr lang="en-US" sz="2400" dirty="0"/>
          </a:p>
        </p:txBody>
      </p:sp>
      <p:sp>
        <p:nvSpPr>
          <p:cNvPr id="6" name="text-168"/>
          <p:cNvSpPr txBox="1"/>
          <p:nvPr/>
        </p:nvSpPr>
        <p:spPr>
          <a:xfrm>
            <a:off x="960120" y="301752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Sharpen our offer, pricing and pitch. Sit in on key pitches and debrief us.</a:t>
            </a:r>
            <a:endParaRPr lang="en-US" sz="1700" dirty="0"/>
          </a:p>
        </p:txBody>
      </p:sp>
      <p:sp>
        <p:nvSpPr>
          <p:cNvPr id="7" name="box-169"/>
          <p:cNvSpPr/>
          <p:nvPr/>
        </p:nvSpPr>
        <p:spPr>
          <a:xfrm>
            <a:off x="4389120" y="2011680"/>
            <a:ext cx="3483864" cy="2926080"/>
          </a:xfrm>
          <a:prstGeom prst="roundRect">
            <a:avLst>
              <a:gd name="adj" fmla="val 375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-170"/>
          <p:cNvSpPr txBox="1"/>
          <p:nvPr/>
        </p:nvSpPr>
        <p:spPr>
          <a:xfrm>
            <a:off x="4709160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#2  Guide</a:t>
            </a:r>
            <a:endParaRPr lang="en-US" sz="2400" dirty="0"/>
          </a:p>
        </p:txBody>
      </p:sp>
      <p:sp>
        <p:nvSpPr>
          <p:cNvPr id="9" name="text-171"/>
          <p:cNvSpPr txBox="1"/>
          <p:nvPr/>
        </p:nvSpPr>
        <p:spPr>
          <a:xfrm>
            <a:off x="4709160" y="301752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Help us choose the one market to own first, and tell us which proof your network trusts.</a:t>
            </a:r>
            <a:endParaRPr lang="en-US" sz="1700" dirty="0"/>
          </a:p>
        </p:txBody>
      </p:sp>
      <p:sp>
        <p:nvSpPr>
          <p:cNvPr id="10" name="box-172"/>
          <p:cNvSpPr/>
          <p:nvPr/>
        </p:nvSpPr>
        <p:spPr>
          <a:xfrm>
            <a:off x="8138160" y="2011680"/>
            <a:ext cx="3483864" cy="292608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173"/>
          <p:cNvSpPr txBox="1"/>
          <p:nvPr/>
        </p:nvSpPr>
        <p:spPr>
          <a:xfrm>
            <a:off x="8458200" y="23317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2"/>
                </a:solidFill>
              </a:rPr>
              <a:t>#3  Introduce</a:t>
            </a:r>
            <a:endParaRPr lang="en-US" sz="2400" dirty="0"/>
          </a:p>
        </p:txBody>
      </p:sp>
      <p:sp>
        <p:nvSpPr>
          <p:cNvPr id="12" name="text-174"/>
          <p:cNvSpPr txBox="1"/>
          <p:nvPr/>
        </p:nvSpPr>
        <p:spPr>
          <a:xfrm>
            <a:off x="8458200" y="3017520"/>
            <a:ext cx="2834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Connect us with experts and firms who need us, and join first calls where your name helps.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Where your experience matters most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Being honest about our gaps gets better advice.</a:t>
            </a:r>
            <a:endParaRPr lang="en-US" sz="1800" dirty="0"/>
          </a:p>
        </p:txBody>
      </p:sp>
      <p:sp>
        <p:nvSpPr>
          <p:cNvPr id="4" name="box-175"/>
          <p:cNvSpPr/>
          <p:nvPr/>
        </p:nvSpPr>
        <p:spPr>
          <a:xfrm>
            <a:off x="640080" y="1965960"/>
            <a:ext cx="5312664" cy="1874520"/>
          </a:xfrm>
          <a:prstGeom prst="roundRect">
            <a:avLst>
              <a:gd name="adj" fmla="val 58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176"/>
          <p:cNvSpPr txBox="1"/>
          <p:nvPr/>
        </p:nvSpPr>
        <p:spPr>
          <a:xfrm>
            <a:off x="96012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Proof</a:t>
            </a:r>
            <a:endParaRPr lang="en-US" sz="2200" dirty="0"/>
          </a:p>
        </p:txBody>
      </p:sp>
      <p:sp>
        <p:nvSpPr>
          <p:cNvPr id="6" name="text-177"/>
          <p:cNvSpPr txBox="1"/>
          <p:nvPr/>
        </p:nvSpPr>
        <p:spPr>
          <a:xfrm>
            <a:off x="960120" y="27432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No case study with hard numbers yet.</a:t>
            </a:r>
            <a:endParaRPr lang="en-US" sz="1600" dirty="0"/>
          </a:p>
        </p:txBody>
      </p:sp>
      <p:sp>
        <p:nvSpPr>
          <p:cNvPr id="7" name="text-178"/>
          <p:cNvSpPr txBox="1"/>
          <p:nvPr/>
        </p:nvSpPr>
        <p:spPr>
          <a:xfrm>
            <a:off x="960120" y="3154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What proof would your network trust?</a:t>
            </a:r>
            <a:endParaRPr lang="en-US" sz="1600" dirty="0"/>
          </a:p>
        </p:txBody>
      </p:sp>
      <p:sp>
        <p:nvSpPr>
          <p:cNvPr id="8" name="box-179"/>
          <p:cNvSpPr/>
          <p:nvPr/>
        </p:nvSpPr>
        <p:spPr>
          <a:xfrm>
            <a:off x="6236208" y="1965960"/>
            <a:ext cx="5312664" cy="1874520"/>
          </a:xfrm>
          <a:prstGeom prst="roundRect">
            <a:avLst>
              <a:gd name="adj" fmla="val 58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-180"/>
          <p:cNvSpPr txBox="1"/>
          <p:nvPr/>
        </p:nvSpPr>
        <p:spPr>
          <a:xfrm>
            <a:off x="6556248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Focus</a:t>
            </a:r>
            <a:endParaRPr lang="en-US" sz="2200" dirty="0"/>
          </a:p>
        </p:txBody>
      </p:sp>
      <p:sp>
        <p:nvSpPr>
          <p:cNvPr id="10" name="text-181"/>
          <p:cNvSpPr txBox="1"/>
          <p:nvPr/>
        </p:nvSpPr>
        <p:spPr>
          <a:xfrm>
            <a:off x="6556248" y="27432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We work in three very different markets.</a:t>
            </a:r>
            <a:endParaRPr lang="en-US" sz="1600" dirty="0"/>
          </a:p>
        </p:txBody>
      </p:sp>
      <p:sp>
        <p:nvSpPr>
          <p:cNvPr id="11" name="text-182"/>
          <p:cNvSpPr txBox="1"/>
          <p:nvPr/>
        </p:nvSpPr>
        <p:spPr>
          <a:xfrm>
            <a:off x="6556248" y="3154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Which one should we own?</a:t>
            </a:r>
            <a:endParaRPr lang="en-US" sz="1600" dirty="0"/>
          </a:p>
        </p:txBody>
      </p:sp>
      <p:sp>
        <p:nvSpPr>
          <p:cNvPr id="12" name="box-183"/>
          <p:cNvSpPr/>
          <p:nvPr/>
        </p:nvSpPr>
        <p:spPr>
          <a:xfrm>
            <a:off x="640080" y="4069080"/>
            <a:ext cx="5312664" cy="1874520"/>
          </a:xfrm>
          <a:prstGeom prst="roundRect">
            <a:avLst>
              <a:gd name="adj" fmla="val 58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-184"/>
          <p:cNvSpPr txBox="1"/>
          <p:nvPr/>
        </p:nvSpPr>
        <p:spPr>
          <a:xfrm>
            <a:off x="960120" y="4297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Pricing</a:t>
            </a:r>
            <a:endParaRPr lang="en-US" sz="2200" dirty="0"/>
          </a:p>
        </p:txBody>
      </p:sp>
      <p:sp>
        <p:nvSpPr>
          <p:cNvPr id="14" name="text-185"/>
          <p:cNvSpPr txBox="1"/>
          <p:nvPr/>
        </p:nvSpPr>
        <p:spPr>
          <a:xfrm>
            <a:off x="960120" y="4846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Our price is tested with only one client.</a:t>
            </a:r>
            <a:endParaRPr lang="en-US" sz="1600" dirty="0"/>
          </a:p>
        </p:txBody>
      </p:sp>
      <p:sp>
        <p:nvSpPr>
          <p:cNvPr id="15" name="text-186"/>
          <p:cNvSpPr txBox="1"/>
          <p:nvPr/>
        </p:nvSpPr>
        <p:spPr>
          <a:xfrm>
            <a:off x="960120" y="52578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Is it right for the value?</a:t>
            </a:r>
            <a:endParaRPr lang="en-US" sz="1600" dirty="0"/>
          </a:p>
        </p:txBody>
      </p:sp>
      <p:sp>
        <p:nvSpPr>
          <p:cNvPr id="16" name="box-187"/>
          <p:cNvSpPr/>
          <p:nvPr/>
        </p:nvSpPr>
        <p:spPr>
          <a:xfrm>
            <a:off x="6236208" y="4069080"/>
            <a:ext cx="5312664" cy="1874520"/>
          </a:xfrm>
          <a:prstGeom prst="roundRect">
            <a:avLst>
              <a:gd name="adj" fmla="val 585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-188"/>
          <p:cNvSpPr txBox="1"/>
          <p:nvPr/>
        </p:nvSpPr>
        <p:spPr>
          <a:xfrm>
            <a:off x="6556248" y="42976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Growth</a:t>
            </a:r>
            <a:endParaRPr lang="en-US" sz="2200" dirty="0"/>
          </a:p>
        </p:txBody>
      </p:sp>
      <p:sp>
        <p:nvSpPr>
          <p:cNvPr id="18" name="text-189"/>
          <p:cNvSpPr txBox="1"/>
          <p:nvPr/>
        </p:nvSpPr>
        <p:spPr>
          <a:xfrm>
            <a:off x="6556248" y="4846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Two founders do sales and delivery.</a:t>
            </a:r>
            <a:endParaRPr lang="en-US" sz="1600" dirty="0"/>
          </a:p>
        </p:txBody>
      </p:sp>
      <p:sp>
        <p:nvSpPr>
          <p:cNvPr id="19" name="text-190"/>
          <p:cNvSpPr txBox="1"/>
          <p:nvPr/>
        </p:nvSpPr>
        <p:spPr>
          <a:xfrm>
            <a:off x="6556248" y="52578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When should we hire, and who?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we could work together: three options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Terms to agree together. We suggest starting with A for 90 days.</a:t>
            </a:r>
            <a:endParaRPr lang="en-US" sz="1800" dirty="0"/>
          </a:p>
        </p:txBody>
      </p:sp>
      <p:graphicFrame>
        <p:nvGraphicFramePr>
          <p:cNvPr id="26" name="table-1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2278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Option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How it works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Best when</a:t>
                      </a:r>
                      <a:endParaRPr lang="en-US" sz="14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A. Referral partner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share of fees from clients you introduce, for their first year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You want simple, results-only terms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B. Advisor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Set hours each month, plus a smaller share of fees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Advice is the main value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C. Strategic advisor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small stake in Extol, once the fit is proven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We both want long-term alignment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5" name="text-192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Review together at day 90, then move to B or C if it works for both sides.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spc="-100" kern="0" dirty="0">
                <a:solidFill>
                  <a:schemeClr val="tx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first 90 days together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Which market do you know best? Who comes to mind first?</a:t>
            </a:r>
            <a:endParaRPr lang="en-US" sz="1800" dirty="0"/>
          </a:p>
        </p:txBody>
      </p:sp>
      <p:sp>
        <p:nvSpPr>
          <p:cNvPr id="4" name="box-193"/>
          <p:cNvSpPr/>
          <p:nvPr/>
        </p:nvSpPr>
        <p:spPr>
          <a:xfrm>
            <a:off x="640080" y="2103120"/>
            <a:ext cx="2521458" cy="3291840"/>
          </a:xfrm>
          <a:prstGeom prst="roundRect">
            <a:avLst>
              <a:gd name="adj" fmla="val 435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-194"/>
          <p:cNvSpPr txBox="1"/>
          <p:nvPr/>
        </p:nvSpPr>
        <p:spPr>
          <a:xfrm>
            <a:off x="914400" y="2377440"/>
            <a:ext cx="1972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Week 1</a:t>
            </a:r>
            <a:endParaRPr lang="en-US" sz="3600" dirty="0"/>
          </a:p>
        </p:txBody>
      </p:sp>
      <p:sp>
        <p:nvSpPr>
          <p:cNvPr id="6" name="text-195"/>
          <p:cNvSpPr txBox="1"/>
          <p:nvPr/>
        </p:nvSpPr>
        <p:spPr>
          <a:xfrm>
            <a:off x="914400" y="3337560"/>
            <a:ext cx="19728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Agree the role and terms</a:t>
            </a:r>
            <a:endParaRPr lang="en-US" sz="1800" dirty="0"/>
          </a:p>
        </p:txBody>
      </p:sp>
      <p:sp>
        <p:nvSpPr>
          <p:cNvPr id="7" name="box-196"/>
          <p:cNvSpPr/>
          <p:nvPr/>
        </p:nvSpPr>
        <p:spPr>
          <a:xfrm>
            <a:off x="3435858" y="2103120"/>
            <a:ext cx="2521458" cy="3291840"/>
          </a:xfrm>
          <a:prstGeom prst="roundRect">
            <a:avLst>
              <a:gd name="adj" fmla="val 435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-197"/>
          <p:cNvSpPr txBox="1"/>
          <p:nvPr/>
        </p:nvSpPr>
        <p:spPr>
          <a:xfrm>
            <a:off x="3710178" y="2377440"/>
            <a:ext cx="1972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Day 30</a:t>
            </a:r>
            <a:endParaRPr lang="en-US" sz="3600" dirty="0"/>
          </a:p>
        </p:txBody>
      </p:sp>
      <p:sp>
        <p:nvSpPr>
          <p:cNvPr id="9" name="text-198"/>
          <p:cNvSpPr txBox="1"/>
          <p:nvPr/>
        </p:nvSpPr>
        <p:spPr>
          <a:xfrm>
            <a:off x="3710178" y="3337560"/>
            <a:ext cx="19728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Choose one market; list 10 people to introduce</a:t>
            </a:r>
            <a:endParaRPr lang="en-US" sz="1800" dirty="0"/>
          </a:p>
        </p:txBody>
      </p:sp>
      <p:sp>
        <p:nvSpPr>
          <p:cNvPr id="10" name="box-199"/>
          <p:cNvSpPr/>
          <p:nvPr/>
        </p:nvSpPr>
        <p:spPr>
          <a:xfrm>
            <a:off x="6231636" y="2103120"/>
            <a:ext cx="2521458" cy="3291840"/>
          </a:xfrm>
          <a:prstGeom prst="roundRect">
            <a:avLst>
              <a:gd name="adj" fmla="val 435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-200"/>
          <p:cNvSpPr txBox="1"/>
          <p:nvPr/>
        </p:nvSpPr>
        <p:spPr>
          <a:xfrm>
            <a:off x="6505956" y="2377440"/>
            <a:ext cx="1972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Day 60</a:t>
            </a:r>
            <a:endParaRPr lang="en-US" sz="3600" dirty="0"/>
          </a:p>
        </p:txBody>
      </p:sp>
      <p:sp>
        <p:nvSpPr>
          <p:cNvPr id="12" name="text-201"/>
          <p:cNvSpPr txBox="1"/>
          <p:nvPr/>
        </p:nvSpPr>
        <p:spPr>
          <a:xfrm>
            <a:off x="6505956" y="3337560"/>
            <a:ext cx="19728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First introductions and calls</a:t>
            </a:r>
            <a:endParaRPr lang="en-US" sz="1800" dirty="0"/>
          </a:p>
        </p:txBody>
      </p:sp>
      <p:sp>
        <p:nvSpPr>
          <p:cNvPr id="13" name="box-202"/>
          <p:cNvSpPr/>
          <p:nvPr/>
        </p:nvSpPr>
        <p:spPr>
          <a:xfrm>
            <a:off x="9027414" y="2103120"/>
            <a:ext cx="2521458" cy="3291840"/>
          </a:xfrm>
          <a:prstGeom prst="roundRect">
            <a:avLst>
              <a:gd name="adj" fmla="val 435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203"/>
          <p:cNvSpPr txBox="1"/>
          <p:nvPr/>
        </p:nvSpPr>
        <p:spPr>
          <a:xfrm>
            <a:off x="9301734" y="2377440"/>
            <a:ext cx="1972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Day 90</a:t>
            </a:r>
            <a:endParaRPr lang="en-US" sz="3600" dirty="0"/>
          </a:p>
        </p:txBody>
      </p:sp>
      <p:sp>
        <p:nvSpPr>
          <p:cNvPr id="15" name="text-204"/>
          <p:cNvSpPr txBox="1"/>
          <p:nvPr/>
        </p:nvSpPr>
        <p:spPr>
          <a:xfrm>
            <a:off x="9301734" y="3337560"/>
            <a:ext cx="19728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First new client, then review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40080"/>
            <a:ext cx="109728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spc="-200" kern="0" dirty="0">
                <a:solidFill>
                  <a:schemeClr val="bg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End</a:t>
            </a:r>
            <a:endParaRPr lang="en-US" sz="9600" dirty="0"/>
          </a:p>
        </p:txBody>
      </p:sp>
      <p:sp>
        <p:nvSpPr>
          <p:cNvPr id="3" name="text-205"/>
          <p:cNvSpPr txBox="1"/>
          <p:nvPr/>
        </p:nvSpPr>
        <p:spPr>
          <a:xfrm>
            <a:off x="640080" y="24231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4"/>
                </a:solidFill>
              </a:rPr>
              <a:t>You know the people. We build the system.</a:t>
            </a:r>
            <a:endParaRPr lang="en-US" sz="3400" dirty="0"/>
          </a:p>
        </p:txBody>
      </p:sp>
      <p:sp>
        <p:nvSpPr>
          <p:cNvPr id="4" name="text-206"/>
          <p:cNvSpPr txBox="1"/>
          <p:nvPr/>
        </p:nvSpPr>
        <p:spPr>
          <a:xfrm>
            <a:off x="640080" y="40233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Devasya Dwivedi  ·  Anshul Mikita Prajapati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admin@extolaffiliates.com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tol Affiliates">
  <a:themeElements>
    <a:clrScheme name="Extol Affiliates">
      <a:dk1>
        <a:srgbClr val="101F14"/>
      </a:dk1>
      <a:lt1>
        <a:srgbClr val="FFFFFF"/>
      </a:lt1>
      <a:dk2>
        <a:srgbClr val="1D3524"/>
      </a:dk2>
      <a:lt2>
        <a:srgbClr val="E9F0C9"/>
      </a:lt2>
      <a:accent1>
        <a:srgbClr val="2B4A34"/>
      </a:accent1>
      <a:accent2>
        <a:srgbClr val="7E9C6B"/>
      </a:accent2>
      <a:accent3>
        <a:srgbClr val="9EBB80"/>
      </a:accent3>
      <a:accent4>
        <a:srgbClr val="C6DE9F"/>
      </a:accent4>
      <a:accent5>
        <a:srgbClr val="5B6B5E"/>
      </a:accent5>
      <a:accent6>
        <a:srgbClr val="F2F6E6"/>
      </a:accent6>
      <a:hlink>
        <a:srgbClr val="2B4A34"/>
      </a:hlink>
      <a:folHlink>
        <a:srgbClr val="7E9C6B"/>
      </a:folHlink>
    </a:clrScheme>
    <a:fontScheme name="Extol Affiliates">
      <a:majorFont>
        <a:latin typeface="Helvetic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Extol Affiliates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Extol Affiliates x David Samuel</dc:title>
  <dc:subject>PptxGenJS Presentation</dc:subject>
  <dc:creator>Extol Affiliates</dc:creator>
  <cp:lastModifiedBy>Extol Affiliates</cp:lastModifiedBy>
  <cp:revision>1</cp:revision>
  <dcterms:created xsi:type="dcterms:W3CDTF">2026-10-23T20:02:19Z</dcterms:created>
  <dcterms:modified xsi:type="dcterms:W3CDTF">2026-10-23T20:02:19Z</dcterms:modified>
</cp:coreProperties>
</file>