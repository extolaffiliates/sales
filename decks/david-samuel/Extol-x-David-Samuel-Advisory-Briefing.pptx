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db2995c-03b1-11f8-8156-ee1f65e99135}">
          <p14:sldIdLst>
            <p14:sldId id="256"/>
            <p14:sldId id="257"/>
          </p14:sldIdLst>
        </p14:section>
        <p14:section name="Who we are" id="{13d0b927-7329-895f-298f-6de459b1a5e4}">
          <p14:sldIdLst>
            <p14:sldId id="258"/>
            <p14:sldId id="259"/>
            <p14:sldId id="260"/>
            <p14:sldId id="261"/>
          </p14:sldIdLst>
        </p14:section>
        <p14:section name="What we’ve done" id="{ac06cbdb-7617-67de-94c8-783002afefd3}">
          <p14:sldIdLst>
            <p14:sldId id="262"/>
            <p14:sldId id="263"/>
          </p14:sldIdLst>
        </p14:section>
        <p14:section name="What we offer" id="{af620dbe-ac51-f7b3-673e-e5db64b0cacb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Your role" id="{2bb4284b-2625-004a-1cfa-1f619ff3cdc4}">
          <p14:sldIdLst>
            <p14:sldId id="271"/>
            <p14:sldId id="272"/>
            <p14:sldId id="273"/>
            <p14:sldId id="274"/>
            <p14:sldId id="275"/>
          </p14:sldIdLst>
        </p14:section>
        <p14:section name="Close" id="{e41c9d0f-7737-ede6-c584-e86b60974fa8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5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5E"/>
                </a:solidFill>
                <a:latin typeface="+mn-lt"/>
              </a:rPr>
              <a:t>Average reactions per post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reactions</c:v>
                </c:pt>
              </c:strCache>
            </c:strRef>
          </c:tx>
          <c:spPr>
            <a:solidFill>
              <a:srgbClr val="2B4A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01F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Posts with real people</c:v>
                  </c:pt>
                  <c:pt idx="1">
                    <c:v>Framework posts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01F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01F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5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5E"/>
                </a:solidFill>
                <a:latin typeface="+mn-lt"/>
              </a:rPr>
              <a:t>What their comments said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DE9F"/>
              </a:solidFill>
              <a:effectLst/>
            </c:spPr>
          </c:dPt>
          <c:dPt>
            <c:idx val="1"/>
            <c:bubble3D val="0"/>
            <c:spPr>
              <a:solidFill>
                <a:srgbClr val="7E9C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01F1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01F14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Just “congrats”</c:v>
                </c:pt>
                <c:pt idx="1">
                  <c:v>Made a real point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01F1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5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5E"/>
                </a:solidFill>
                <a:latin typeface="+mn-lt"/>
              </a:rPr>
              <a:t>Outreach in one month, at full pace (estimate)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month</c:v>
                </c:pt>
              </c:strCache>
            </c:strRef>
          </c:tx>
          <c:spPr>
            <a:solidFill>
              <a:srgbClr val="2B4A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01F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Connection requests</c:v>
                  </c:pt>
                  <c:pt idx="1">
                    <c:v>Accepted</c:v>
                  </c:pt>
                  <c:pt idx="2">
                    <c:v>Replied</c:v>
                  </c:pt>
                  <c:pt idx="3">
                    <c:v>Calls booked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150</c:v>
                </c:pt>
                <c:pt idx="2">
                  <c:v>27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01F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01F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5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5E"/>
                </a:solidFill>
                <a:latin typeface="+mn-lt"/>
              </a:rPr>
              <a:t>Qualified leads per month (forecast)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Qualified leads</c:v>
                </c:pt>
              </c:strCache>
            </c:strRef>
          </c:tx>
          <c:spPr>
            <a:solidFill>
              <a:srgbClr val="2B4A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01F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Month 1</c:v>
                  </c:pt>
                  <c:pt idx="1">
                    <c:v>Month 3</c:v>
                  </c:pt>
                  <c:pt idx="2">
                    <c:v>Month 6</c:v>
                  </c:pt>
                  <c:pt idx="3">
                    <c:v>Month 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71</c:v>
                </c:pt>
                <c:pt idx="2">
                  <c:v>101</c:v>
                </c:pt>
                <c:pt idx="3">
                  <c:v>126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01F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01F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5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5B6B5E"/>
                </a:solidFill>
                <a:latin typeface="+mn-lt"/>
              </a:rPr>
              <a:t>Year-one fee vs. value of a client win (£)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9EBB80"/>
            </a:solidFill>
            <a:effectLst/>
          </c:spPr>
          <c:invertIfNegative val="0"/>
          <c:dLbls>
            <c:numFmt formatCode="£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01F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EBB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4A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4A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B4A3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Year-one fee</c:v>
                  </c:pt>
                  <c:pt idx="1">
                    <c:v>One small advisory piece</c:v>
                  </c:pt>
                  <c:pt idx="2">
                    <c:v>One mid-size engagement</c:v>
                  </c:pt>
                  <c:pt idx="3">
                    <c:v>Two engagements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26400</c:v>
                </c:pt>
                <c:pt idx="1">
                  <c:v>50000</c:v>
                </c:pt>
                <c:pt idx="2">
                  <c:v>150000</c:v>
                </c:pt>
                <c:pt idx="3">
                  <c:v>500000</c:v>
                </c:pt>
              </c:numCache>
            </c:numRef>
          </c:val>
        </c:ser>
        <c:dLbls>
          <c:numFmt formatCode="£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01F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01F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agree how David works alongside Extol to advise, guide and bring in new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Extol is two founders plus a set of AI tools we built ourselves. AI drafts; people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from a real October audit of a client (name kept private): 1,597 followers, 9 reactions per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our October LinkedIn audit of a consultancy client (name kept private). Same person, same audience: posts with named people in them got 69 reactions on average; framework posts got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Images AI and Bloggerly are public. The consultancy is under NDA, so it is not named.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card: what we do, then why. Steps 1 and 4 are set up in the first month; 2 and 3 run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most common worry: 'I don't have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planning estimates from our consultancy client's plan, not proven results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 mid-points from our consultancy client's plan. A qualified lead is a buyer who replies, books or signs up. Likes don't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Founding-client price. Prices exclude VAT.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Illustrative, from the consultancy plan. Return is on profit at a 50% margin. Most cash from big contracts lands in year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David which of the three he wants to lead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honest about our gaps gets better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Terms are deliberately left open to agree in the meeting. Decide our walk-away numbers beforehand.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asking: which market do you know best, and who comes to mind first?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8862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2"/>
                </a:solidFill>
              </a:rPr>
              <a:t>EXTOL AFFILIATES  ×  DAVID SAMUEL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EXTOL AFFILIATES  ×  DAVID SAMUEL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together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win new clients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Who we are, what we offer, and how you can help.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Monday 26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TODAY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questions, answered in order</a:t>
            </a:r>
            <a:endParaRPr lang="en-US" sz="3400" dirty="0"/>
          </a:p>
        </p:txBody>
      </p:sp>
      <p:sp>
        <p:nvSpPr>
          <p:cNvPr id="4" name="num-1"/>
          <p:cNvSpPr/>
          <p:nvPr/>
        </p:nvSpPr>
        <p:spPr>
          <a:xfrm>
            <a:off x="640080" y="2057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2"/>
          <p:cNvSpPr txBox="1"/>
          <p:nvPr/>
        </p:nvSpPr>
        <p:spPr>
          <a:xfrm>
            <a:off x="6400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-3"/>
          <p:cNvSpPr txBox="1"/>
          <p:nvPr/>
        </p:nvSpPr>
        <p:spPr>
          <a:xfrm>
            <a:off x="1600200" y="207568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2400" dirty="0"/>
          </a:p>
        </p:txBody>
      </p:sp>
      <p:sp>
        <p:nvSpPr>
          <p:cNvPr id="7" name="text-4"/>
          <p:cNvSpPr txBox="1"/>
          <p:nvPr/>
        </p:nvSpPr>
        <p:spPr>
          <a:xfrm>
            <a:off x="5486400" y="207568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What Extol does, in one line</a:t>
            </a:r>
            <a:endParaRPr lang="en-US" sz="1800" dirty="0"/>
          </a:p>
        </p:txBody>
      </p:sp>
      <p:sp>
        <p:nvSpPr>
          <p:cNvPr id="8" name="num-5"/>
          <p:cNvSpPr/>
          <p:nvPr/>
        </p:nvSpPr>
        <p:spPr>
          <a:xfrm>
            <a:off x="640080" y="304495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6"/>
          <p:cNvSpPr txBox="1"/>
          <p:nvPr/>
        </p:nvSpPr>
        <p:spPr>
          <a:xfrm>
            <a:off x="640080" y="304495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-7"/>
          <p:cNvSpPr txBox="1"/>
          <p:nvPr/>
        </p:nvSpPr>
        <p:spPr>
          <a:xfrm>
            <a:off x="1600200" y="3063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we’ve done</a:t>
            </a:r>
            <a:endParaRPr lang="en-US" sz="2400" dirty="0"/>
          </a:p>
        </p:txBody>
      </p:sp>
      <p:sp>
        <p:nvSpPr>
          <p:cNvPr id="11" name="text-8"/>
          <p:cNvSpPr txBox="1"/>
          <p:nvPr/>
        </p:nvSpPr>
        <p:spPr>
          <a:xfrm>
            <a:off x="5486400" y="30632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The clients we’ve worked with so far</a:t>
            </a:r>
            <a:endParaRPr lang="en-US" sz="1800" dirty="0"/>
          </a:p>
        </p:txBody>
      </p:sp>
      <p:sp>
        <p:nvSpPr>
          <p:cNvPr id="12" name="num-9"/>
          <p:cNvSpPr/>
          <p:nvPr/>
        </p:nvSpPr>
        <p:spPr>
          <a:xfrm>
            <a:off x="640080" y="403250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10"/>
          <p:cNvSpPr txBox="1"/>
          <p:nvPr/>
        </p:nvSpPr>
        <p:spPr>
          <a:xfrm>
            <a:off x="640080" y="40325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-11"/>
          <p:cNvSpPr txBox="1"/>
          <p:nvPr/>
        </p:nvSpPr>
        <p:spPr>
          <a:xfrm>
            <a:off x="1600200" y="4050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offer</a:t>
            </a:r>
            <a:endParaRPr lang="en-US" sz="2400" dirty="0"/>
          </a:p>
        </p:txBody>
      </p:sp>
      <p:sp>
        <p:nvSpPr>
          <p:cNvPr id="15" name="text-12"/>
          <p:cNvSpPr txBox="1"/>
          <p:nvPr/>
        </p:nvSpPr>
        <p:spPr>
          <a:xfrm>
            <a:off x="5486400" y="405079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What a client gets, why, and what it costs</a:t>
            </a:r>
            <a:endParaRPr lang="en-US" sz="1800" dirty="0"/>
          </a:p>
        </p:txBody>
      </p:sp>
      <p:sp>
        <p:nvSpPr>
          <p:cNvPr id="16" name="num-13"/>
          <p:cNvSpPr/>
          <p:nvPr/>
        </p:nvSpPr>
        <p:spPr>
          <a:xfrm>
            <a:off x="640080" y="502005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-14"/>
          <p:cNvSpPr txBox="1"/>
          <p:nvPr/>
        </p:nvSpPr>
        <p:spPr>
          <a:xfrm>
            <a:off x="640080" y="502005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-15"/>
          <p:cNvSpPr txBox="1"/>
          <p:nvPr/>
        </p:nvSpPr>
        <p:spPr>
          <a:xfrm>
            <a:off x="1600200" y="503834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role</a:t>
            </a:r>
            <a:endParaRPr lang="en-US" sz="2400" dirty="0"/>
          </a:p>
        </p:txBody>
      </p:sp>
      <p:sp>
        <p:nvSpPr>
          <p:cNvPr id="19" name="text-16"/>
          <p:cNvSpPr txBox="1"/>
          <p:nvPr/>
        </p:nvSpPr>
        <p:spPr>
          <a:xfrm>
            <a:off x="5486400" y="5038344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How you can help, and how we’d work together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What Extol does, in one line.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 / 4  ·  WHO WE 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help experts win clients, without using their time</a:t>
            </a:r>
            <a:endParaRPr lang="en-US" sz="3400" dirty="0"/>
          </a:p>
        </p:txBody>
      </p:sp>
      <p:sp>
        <p:nvSpPr>
          <p:cNvPr id="5" name="box-17"/>
          <p:cNvSpPr/>
          <p:nvPr/>
        </p:nvSpPr>
        <p:spPr>
          <a:xfrm>
            <a:off x="6400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bg-18"/>
          <p:cNvSpPr/>
          <p:nvPr/>
        </p:nvSpPr>
        <p:spPr>
          <a:xfrm>
            <a:off x="10058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43200"/>
            <a:ext cx="365760" cy="365760"/>
          </a:xfrm>
          <a:prstGeom prst="rect">
            <a:avLst/>
          </a:prstGeom>
        </p:spPr>
      </p:pic>
      <p:sp>
        <p:nvSpPr>
          <p:cNvPr id="8" name="text-20"/>
          <p:cNvSpPr txBox="1"/>
          <p:nvPr/>
        </p:nvSpPr>
        <p:spPr>
          <a:xfrm>
            <a:off x="10058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</a:t>
            </a:r>
            <a:endParaRPr lang="en-US" sz="2200" dirty="0"/>
          </a:p>
        </p:txBody>
      </p:sp>
      <p:sp>
        <p:nvSpPr>
          <p:cNvPr id="9" name="text-21"/>
          <p:cNvSpPr txBox="1"/>
          <p:nvPr/>
        </p:nvSpPr>
        <p:spPr>
          <a:xfrm>
            <a:off x="10058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Find the right buyers, reach them, and keep the expert visible every week.</a:t>
            </a:r>
            <a:endParaRPr lang="en-US" sz="1700" dirty="0"/>
          </a:p>
        </p:txBody>
      </p:sp>
      <p:sp>
        <p:nvSpPr>
          <p:cNvPr id="10" name="box-22"/>
          <p:cNvSpPr/>
          <p:nvPr/>
        </p:nvSpPr>
        <p:spPr>
          <a:xfrm>
            <a:off x="43738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23"/>
          <p:cNvSpPr/>
          <p:nvPr/>
        </p:nvSpPr>
        <p:spPr>
          <a:xfrm>
            <a:off x="47396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20" y="2743200"/>
            <a:ext cx="365760" cy="365760"/>
          </a:xfrm>
          <a:prstGeom prst="rect">
            <a:avLst/>
          </a:prstGeom>
        </p:spPr>
      </p:pic>
      <p:sp>
        <p:nvSpPr>
          <p:cNvPr id="13" name="text-25"/>
          <p:cNvSpPr txBox="1"/>
          <p:nvPr/>
        </p:nvSpPr>
        <p:spPr>
          <a:xfrm>
            <a:off x="47396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</a:t>
            </a:r>
            <a:endParaRPr lang="en-US" sz="2200" dirty="0"/>
          </a:p>
        </p:txBody>
      </p:sp>
      <p:sp>
        <p:nvSpPr>
          <p:cNvPr id="14" name="text-26"/>
          <p:cNvSpPr txBox="1"/>
          <p:nvPr/>
        </p:nvSpPr>
        <p:spPr>
          <a:xfrm>
            <a:off x="47396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Devasya Dwivedi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Anshul Mikita Prajapati</a:t>
            </a:r>
            <a:endParaRPr lang="en-US" sz="1700" dirty="0"/>
          </a:p>
        </p:txBody>
      </p:sp>
      <p:sp>
        <p:nvSpPr>
          <p:cNvPr id="15" name="box-27"/>
          <p:cNvSpPr/>
          <p:nvPr/>
        </p:nvSpPr>
        <p:spPr>
          <a:xfrm>
            <a:off x="81076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28"/>
          <p:cNvSpPr/>
          <p:nvPr/>
        </p:nvSpPr>
        <p:spPr>
          <a:xfrm>
            <a:off x="84734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0" y="2743200"/>
            <a:ext cx="365760" cy="365760"/>
          </a:xfrm>
          <a:prstGeom prst="rect">
            <a:avLst/>
          </a:prstGeom>
        </p:spPr>
      </p:pic>
      <p:sp>
        <p:nvSpPr>
          <p:cNvPr id="18" name="text-30"/>
          <p:cNvSpPr txBox="1"/>
          <p:nvPr/>
        </p:nvSpPr>
        <p:spPr>
          <a:xfrm>
            <a:off x="84734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</a:t>
            </a:r>
            <a:endParaRPr lang="en-US" sz="2200" dirty="0"/>
          </a:p>
        </p:txBody>
      </p:sp>
      <p:sp>
        <p:nvSpPr>
          <p:cNvPr id="19" name="text-31"/>
          <p:cNvSpPr txBox="1"/>
          <p:nvPr/>
        </p:nvSpPr>
        <p:spPr>
          <a:xfrm>
            <a:off x="84734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AI does the heavy lifting. Nothing goes out without the client’s approval.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 / 4  ·  WHO WE 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buyers don’t know great experts exist</a:t>
            </a:r>
            <a:endParaRPr lang="en-US" sz="3400" dirty="0"/>
          </a:p>
        </p:txBody>
      </p:sp>
      <p:sp>
        <p:nvSpPr>
          <p:cNvPr id="5" name="box-32"/>
          <p:cNvSpPr/>
          <p:nvPr/>
        </p:nvSpPr>
        <p:spPr>
          <a:xfrm>
            <a:off x="6400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bg-33"/>
          <p:cNvSpPr/>
          <p:nvPr/>
        </p:nvSpPr>
        <p:spPr>
          <a:xfrm>
            <a:off x="10058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43200"/>
            <a:ext cx="365760" cy="365760"/>
          </a:xfrm>
          <a:prstGeom prst="rect">
            <a:avLst/>
          </a:prstGeom>
        </p:spPr>
      </p:pic>
      <p:sp>
        <p:nvSpPr>
          <p:cNvPr id="8" name="text-35"/>
          <p:cNvSpPr txBox="1"/>
          <p:nvPr/>
        </p:nvSpPr>
        <p:spPr>
          <a:xfrm>
            <a:off x="10058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time</a:t>
            </a:r>
            <a:endParaRPr lang="en-US" sz="2200" dirty="0"/>
          </a:p>
        </p:txBody>
      </p:sp>
      <p:sp>
        <p:nvSpPr>
          <p:cNvPr id="9" name="text-36"/>
          <p:cNvSpPr txBox="1"/>
          <p:nvPr/>
        </p:nvSpPr>
        <p:spPr>
          <a:xfrm>
            <a:off x="10058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Experts are busy doing the work. Marketing comes last.</a:t>
            </a:r>
            <a:endParaRPr lang="en-US" sz="1700" dirty="0"/>
          </a:p>
        </p:txBody>
      </p:sp>
      <p:sp>
        <p:nvSpPr>
          <p:cNvPr id="10" name="box-37"/>
          <p:cNvSpPr/>
          <p:nvPr/>
        </p:nvSpPr>
        <p:spPr>
          <a:xfrm>
            <a:off x="43738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38"/>
          <p:cNvSpPr/>
          <p:nvPr/>
        </p:nvSpPr>
        <p:spPr>
          <a:xfrm>
            <a:off x="47396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20" y="2743200"/>
            <a:ext cx="365760" cy="365760"/>
          </a:xfrm>
          <a:prstGeom prst="rect">
            <a:avLst/>
          </a:prstGeom>
        </p:spPr>
      </p:pic>
      <p:sp>
        <p:nvSpPr>
          <p:cNvPr id="13" name="text-40"/>
          <p:cNvSpPr txBox="1"/>
          <p:nvPr/>
        </p:nvSpPr>
        <p:spPr>
          <a:xfrm>
            <a:off x="47396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</a:t>
            </a:r>
            <a:endParaRPr lang="en-US" sz="2200" dirty="0"/>
          </a:p>
        </p:txBody>
      </p:sp>
      <p:sp>
        <p:nvSpPr>
          <p:cNvPr id="14" name="text-41"/>
          <p:cNvSpPr txBox="1"/>
          <p:nvPr/>
        </p:nvSpPr>
        <p:spPr>
          <a:xfrm>
            <a:off x="47396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New work comes only from referrals, so growth can’t be planned.</a:t>
            </a:r>
            <a:endParaRPr lang="en-US" sz="1700" dirty="0"/>
          </a:p>
        </p:txBody>
      </p:sp>
      <p:sp>
        <p:nvSpPr>
          <p:cNvPr id="15" name="box-42"/>
          <p:cNvSpPr/>
          <p:nvPr/>
        </p:nvSpPr>
        <p:spPr>
          <a:xfrm>
            <a:off x="81076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-bg-43"/>
          <p:cNvSpPr/>
          <p:nvPr/>
        </p:nvSpPr>
        <p:spPr>
          <a:xfrm>
            <a:off x="84734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-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0" y="2743200"/>
            <a:ext cx="365760" cy="365760"/>
          </a:xfrm>
          <a:prstGeom prst="rect">
            <a:avLst/>
          </a:prstGeom>
        </p:spPr>
      </p:pic>
      <p:sp>
        <p:nvSpPr>
          <p:cNvPr id="18" name="text-45"/>
          <p:cNvSpPr txBox="1"/>
          <p:nvPr/>
        </p:nvSpPr>
        <p:spPr>
          <a:xfrm>
            <a:off x="84734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noise</a:t>
            </a:r>
            <a:endParaRPr lang="en-US" sz="2200" dirty="0"/>
          </a:p>
        </p:txBody>
      </p:sp>
      <p:sp>
        <p:nvSpPr>
          <p:cNvPr id="19" name="text-46"/>
          <p:cNvSpPr txBox="1"/>
          <p:nvPr/>
        </p:nvSpPr>
        <p:spPr>
          <a:xfrm>
            <a:off x="84734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Buyers ignore generic, AI-written messages.</a:t>
            </a:r>
            <a:endParaRPr lang="en-US" sz="1700" dirty="0"/>
          </a:p>
        </p:txBody>
      </p:sp>
      <p:sp>
        <p:nvSpPr>
          <p:cNvPr id="20" name="text-47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Real example: a former Big Four partner had 1,597 LinkedIn followers and 9 reactions per post. Expert, but invisible.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1 / 4  ·  WHO WE 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shows it: real stories get 6× more attention</a:t>
            </a:r>
            <a:endParaRPr lang="en-US" sz="3400" dirty="0"/>
          </a:p>
        </p:txBody>
      </p:sp>
      <p:graphicFrame>
        <p:nvGraphicFramePr>
          <p:cNvPr id="5" name="stories-chart" descr=""/>
          <p:cNvGraphicFramePr/>
          <p:nvPr/>
        </p:nvGraphicFramePr>
        <p:xfrm>
          <a:off x="640080" y="201168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omments-chart" descr=""/>
          <p:cNvGraphicFramePr/>
          <p:nvPr/>
        </p:nvGraphicFramePr>
        <p:xfrm>
          <a:off x="6675120" y="2011680"/>
          <a:ext cx="4846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-48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expertise is there. It just isn’t reaching buyers in a way they notice.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we’ve done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The clients we’ve worked with so far.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2 / 4  ·  WHAT WE’VE DONE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clients, three different markets, one method</a:t>
            </a:r>
            <a:endParaRPr lang="en-US" sz="3400" dirty="0"/>
          </a:p>
        </p:txBody>
      </p:sp>
      <p:graphicFrame>
        <p:nvGraphicFramePr>
          <p:cNvPr id="9" name="table-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4572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Client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What they sell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What we did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3D Images AI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3D product models for Amazon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Outreach to 2,100+ Amazon brand owners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Bloggerly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SEO articles for businesses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LinkedIn campaign; leads now asking for calls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UK consultancy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Finance and SAP advice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Full growth plan, delivered the day after the first call</a:t>
                      </a:r>
                      <a:endParaRPr lang="en-US" sz="1600" dirty="0"/>
                    </a:p>
                  </a:txBody>
                  <a:tcPr marL="182880" marR="182880" marT="73152" marB="73152" anchor="ctr">
                    <a:lnL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E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box-50"/>
          <p:cNvSpPr/>
          <p:nvPr/>
        </p:nvSpPr>
        <p:spPr>
          <a:xfrm>
            <a:off x="640080" y="5257800"/>
            <a:ext cx="10881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51"/>
          <p:cNvSpPr txBox="1"/>
          <p:nvPr/>
        </p:nvSpPr>
        <p:spPr>
          <a:xfrm>
            <a:off x="914400" y="5257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Our own proof: when Extol’s LinkedIn page reached about 50 followers, new clients started coming to 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offer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What a client gets, why, and what it costs.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/ 4  ·  WHAT WE OFFER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client gets four things</a:t>
            </a:r>
            <a:endParaRPr lang="en-US" sz="3400" dirty="0"/>
          </a:p>
        </p:txBody>
      </p:sp>
      <p:sp>
        <p:nvSpPr>
          <p:cNvPr id="5" name="box-52"/>
          <p:cNvSpPr/>
          <p:nvPr/>
        </p:nvSpPr>
        <p:spPr>
          <a:xfrm>
            <a:off x="640080" y="2103120"/>
            <a:ext cx="2480310" cy="356616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bg-53"/>
          <p:cNvSpPr/>
          <p:nvPr/>
        </p:nvSpPr>
        <p:spPr>
          <a:xfrm>
            <a:off x="96012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5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06040"/>
            <a:ext cx="365760" cy="365760"/>
          </a:xfrm>
          <a:prstGeom prst="rect">
            <a:avLst/>
          </a:prstGeom>
        </p:spPr>
      </p:pic>
      <p:sp>
        <p:nvSpPr>
          <p:cNvPr id="8" name="text-55"/>
          <p:cNvSpPr txBox="1"/>
          <p:nvPr/>
        </p:nvSpPr>
        <p:spPr>
          <a:xfrm>
            <a:off x="960120" y="3383280"/>
            <a:ext cx="19316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Look credible</a:t>
            </a:r>
            <a:endParaRPr lang="en-US" sz="2100" dirty="0"/>
          </a:p>
        </p:txBody>
      </p:sp>
      <p:sp>
        <p:nvSpPr>
          <p:cNvPr id="9" name="text-56"/>
          <p:cNvSpPr txBox="1"/>
          <p:nvPr/>
        </p:nvSpPr>
        <p:spPr>
          <a:xfrm>
            <a:off x="960120" y="3931920"/>
            <a:ext cx="19316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Fix the profile and website.</a:t>
            </a:r>
            <a:endParaRPr lang="en-US" sz="1700" dirty="0"/>
          </a:p>
        </p:txBody>
      </p:sp>
      <p:sp>
        <p:nvSpPr>
          <p:cNvPr id="10" name="text-57"/>
          <p:cNvSpPr txBox="1"/>
          <p:nvPr/>
        </p:nvSpPr>
        <p:spPr>
          <a:xfrm>
            <a:off x="960120" y="4709160"/>
            <a:ext cx="19316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Why: Buyers check you before they reply.</a:t>
            </a:r>
            <a:endParaRPr lang="en-US" sz="1500" dirty="0"/>
          </a:p>
        </p:txBody>
      </p:sp>
      <p:sp>
        <p:nvSpPr>
          <p:cNvPr id="11" name="box-58"/>
          <p:cNvSpPr/>
          <p:nvPr/>
        </p:nvSpPr>
        <p:spPr>
          <a:xfrm>
            <a:off x="3440430" y="2103120"/>
            <a:ext cx="2480310" cy="356616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bg-59"/>
          <p:cNvSpPr/>
          <p:nvPr/>
        </p:nvSpPr>
        <p:spPr>
          <a:xfrm>
            <a:off x="376047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6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2606040"/>
            <a:ext cx="365760" cy="365760"/>
          </a:xfrm>
          <a:prstGeom prst="rect">
            <a:avLst/>
          </a:prstGeom>
        </p:spPr>
      </p:pic>
      <p:sp>
        <p:nvSpPr>
          <p:cNvPr id="14" name="text-61"/>
          <p:cNvSpPr txBox="1"/>
          <p:nvPr/>
        </p:nvSpPr>
        <p:spPr>
          <a:xfrm>
            <a:off x="3760470" y="3383280"/>
            <a:ext cx="19316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Reach buyers</a:t>
            </a:r>
            <a:endParaRPr lang="en-US" sz="2100" dirty="0"/>
          </a:p>
        </p:txBody>
      </p:sp>
      <p:sp>
        <p:nvSpPr>
          <p:cNvPr id="15" name="text-62"/>
          <p:cNvSpPr txBox="1"/>
          <p:nvPr/>
        </p:nvSpPr>
        <p:spPr>
          <a:xfrm>
            <a:off x="3760470" y="3931920"/>
            <a:ext cx="19316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Message the right people daily.</a:t>
            </a:r>
            <a:endParaRPr lang="en-US" sz="1700" dirty="0"/>
          </a:p>
        </p:txBody>
      </p:sp>
      <p:sp>
        <p:nvSpPr>
          <p:cNvPr id="16" name="text-63"/>
          <p:cNvSpPr txBox="1"/>
          <p:nvPr/>
        </p:nvSpPr>
        <p:spPr>
          <a:xfrm>
            <a:off x="3760470" y="4709160"/>
            <a:ext cx="19316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Why: A reason to talk gets replies.</a:t>
            </a:r>
            <a:endParaRPr lang="en-US" sz="1500" dirty="0"/>
          </a:p>
        </p:txBody>
      </p:sp>
      <p:sp>
        <p:nvSpPr>
          <p:cNvPr id="17" name="box-64"/>
          <p:cNvSpPr/>
          <p:nvPr/>
        </p:nvSpPr>
        <p:spPr>
          <a:xfrm>
            <a:off x="6240780" y="2103120"/>
            <a:ext cx="2480310" cy="356616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-bg-65"/>
          <p:cNvSpPr/>
          <p:nvPr/>
        </p:nvSpPr>
        <p:spPr>
          <a:xfrm>
            <a:off x="656082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606040"/>
            <a:ext cx="365760" cy="365760"/>
          </a:xfrm>
          <a:prstGeom prst="rect">
            <a:avLst/>
          </a:prstGeom>
        </p:spPr>
      </p:pic>
      <p:sp>
        <p:nvSpPr>
          <p:cNvPr id="20" name="text-67"/>
          <p:cNvSpPr txBox="1"/>
          <p:nvPr/>
        </p:nvSpPr>
        <p:spPr>
          <a:xfrm>
            <a:off x="6560820" y="3383280"/>
            <a:ext cx="19316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Stay visible</a:t>
            </a:r>
            <a:endParaRPr lang="en-US" sz="2100" dirty="0"/>
          </a:p>
        </p:txBody>
      </p:sp>
      <p:sp>
        <p:nvSpPr>
          <p:cNvPr id="21" name="text-68"/>
          <p:cNvSpPr txBox="1"/>
          <p:nvPr/>
        </p:nvSpPr>
        <p:spPr>
          <a:xfrm>
            <a:off x="6560820" y="3931920"/>
            <a:ext cx="19316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Post and comment every week.</a:t>
            </a:r>
            <a:endParaRPr lang="en-US" sz="1700" dirty="0"/>
          </a:p>
        </p:txBody>
      </p:sp>
      <p:sp>
        <p:nvSpPr>
          <p:cNvPr id="22" name="text-69"/>
          <p:cNvSpPr txBox="1"/>
          <p:nvPr/>
        </p:nvSpPr>
        <p:spPr>
          <a:xfrm>
            <a:off x="6560820" y="4709160"/>
            <a:ext cx="19316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Why: Buyers remember who they see.</a:t>
            </a:r>
            <a:endParaRPr lang="en-US" sz="1500" dirty="0"/>
          </a:p>
        </p:txBody>
      </p:sp>
      <p:sp>
        <p:nvSpPr>
          <p:cNvPr id="23" name="box-70"/>
          <p:cNvSpPr/>
          <p:nvPr/>
        </p:nvSpPr>
        <p:spPr>
          <a:xfrm>
            <a:off x="9041130" y="2103120"/>
            <a:ext cx="2480310" cy="3566160"/>
          </a:xfrm>
          <a:prstGeom prst="roundRect">
            <a:avLst>
              <a:gd name="adj" fmla="val 36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71"/>
          <p:cNvSpPr/>
          <p:nvPr/>
        </p:nvSpPr>
        <p:spPr>
          <a:xfrm>
            <a:off x="936117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7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4050" y="2606040"/>
            <a:ext cx="365760" cy="365760"/>
          </a:xfrm>
          <a:prstGeom prst="rect">
            <a:avLst/>
          </a:prstGeom>
        </p:spPr>
      </p:pic>
      <p:sp>
        <p:nvSpPr>
          <p:cNvPr id="26" name="text-73"/>
          <p:cNvSpPr txBox="1"/>
          <p:nvPr/>
        </p:nvSpPr>
        <p:spPr>
          <a:xfrm>
            <a:off x="9361170" y="3383280"/>
            <a:ext cx="19316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Track results</a:t>
            </a:r>
            <a:endParaRPr lang="en-US" sz="2100" dirty="0"/>
          </a:p>
        </p:txBody>
      </p:sp>
      <p:sp>
        <p:nvSpPr>
          <p:cNvPr id="27" name="text-74"/>
          <p:cNvSpPr txBox="1"/>
          <p:nvPr/>
        </p:nvSpPr>
        <p:spPr>
          <a:xfrm>
            <a:off x="9361170" y="3931920"/>
            <a:ext cx="193167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Live dashboard, monthly review.</a:t>
            </a:r>
            <a:endParaRPr lang="en-US" sz="1700" dirty="0"/>
          </a:p>
        </p:txBody>
      </p:sp>
      <p:sp>
        <p:nvSpPr>
          <p:cNvPr id="28" name="text-75"/>
          <p:cNvSpPr txBox="1"/>
          <p:nvPr/>
        </p:nvSpPr>
        <p:spPr>
          <a:xfrm>
            <a:off x="9361170" y="4709160"/>
            <a:ext cx="193167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Why: Keep what works, drop what doesn’t.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/ 4  ·  WHAT WE OFFER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the client spends about 2½ hours a week</a:t>
            </a:r>
            <a:endParaRPr lang="en-US" sz="3400" dirty="0"/>
          </a:p>
        </p:txBody>
      </p:sp>
      <p:sp>
        <p:nvSpPr>
          <p:cNvPr id="5" name="box-76"/>
          <p:cNvSpPr/>
          <p:nvPr/>
        </p:nvSpPr>
        <p:spPr>
          <a:xfrm>
            <a:off x="640080" y="2286000"/>
            <a:ext cx="2377440" cy="274320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-bg-77"/>
          <p:cNvSpPr/>
          <p:nvPr/>
        </p:nvSpPr>
        <p:spPr>
          <a:xfrm>
            <a:off x="1417320" y="26060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7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811780"/>
            <a:ext cx="411480" cy="411480"/>
          </a:xfrm>
          <a:prstGeom prst="rect">
            <a:avLst/>
          </a:prstGeom>
        </p:spPr>
      </p:pic>
      <p:sp>
        <p:nvSpPr>
          <p:cNvPr id="8" name="text-79"/>
          <p:cNvSpPr txBox="1"/>
          <p:nvPr/>
        </p:nvSpPr>
        <p:spPr>
          <a:xfrm>
            <a:off x="6400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CLIENT</a:t>
            </a:r>
            <a:endParaRPr lang="en-US" sz="1300" dirty="0"/>
          </a:p>
        </p:txBody>
      </p:sp>
      <p:sp>
        <p:nvSpPr>
          <p:cNvPr id="9" name="text-80"/>
          <p:cNvSpPr txBox="1"/>
          <p:nvPr/>
        </p:nvSpPr>
        <p:spPr>
          <a:xfrm>
            <a:off x="868680" y="3977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Sends one short note a week</a:t>
            </a:r>
            <a:endParaRPr lang="en-US" sz="1800" dirty="0"/>
          </a:p>
        </p:txBody>
      </p:sp>
      <p:sp>
        <p:nvSpPr>
          <p:cNvPr id="10" name="arrow-81"/>
          <p:cNvSpPr/>
          <p:nvPr/>
        </p:nvSpPr>
        <p:spPr>
          <a:xfrm>
            <a:off x="3108960" y="347472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box-82"/>
          <p:cNvSpPr/>
          <p:nvPr/>
        </p:nvSpPr>
        <p:spPr>
          <a:xfrm>
            <a:off x="3474720" y="2286000"/>
            <a:ext cx="2377440" cy="27432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bg-83"/>
          <p:cNvSpPr/>
          <p:nvPr/>
        </p:nvSpPr>
        <p:spPr>
          <a:xfrm>
            <a:off x="4251960" y="26060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8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811780"/>
            <a:ext cx="411480" cy="411480"/>
          </a:xfrm>
          <a:prstGeom prst="rect">
            <a:avLst/>
          </a:prstGeom>
        </p:spPr>
      </p:pic>
      <p:sp>
        <p:nvSpPr>
          <p:cNvPr id="14" name="text-85"/>
          <p:cNvSpPr txBox="1"/>
          <p:nvPr/>
        </p:nvSpPr>
        <p:spPr>
          <a:xfrm>
            <a:off x="34747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EXTOL</a:t>
            </a:r>
            <a:endParaRPr lang="en-US" sz="1300" dirty="0"/>
          </a:p>
        </p:txBody>
      </p:sp>
      <p:sp>
        <p:nvSpPr>
          <p:cNvPr id="15" name="text-86"/>
          <p:cNvSpPr txBox="1"/>
          <p:nvPr/>
        </p:nvSpPr>
        <p:spPr>
          <a:xfrm>
            <a:off x="3703320" y="3977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Turns it into posts and messages</a:t>
            </a:r>
            <a:endParaRPr lang="en-US" sz="1800" dirty="0"/>
          </a:p>
        </p:txBody>
      </p:sp>
      <p:sp>
        <p:nvSpPr>
          <p:cNvPr id="16" name="arrow-87"/>
          <p:cNvSpPr/>
          <p:nvPr/>
        </p:nvSpPr>
        <p:spPr>
          <a:xfrm>
            <a:off x="5943600" y="347472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box-88"/>
          <p:cNvSpPr/>
          <p:nvPr/>
        </p:nvSpPr>
        <p:spPr>
          <a:xfrm>
            <a:off x="6309360" y="2286000"/>
            <a:ext cx="2377440" cy="274320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icon-bg-89"/>
          <p:cNvSpPr/>
          <p:nvPr/>
        </p:nvSpPr>
        <p:spPr>
          <a:xfrm>
            <a:off x="7086600" y="26060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con-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811780"/>
            <a:ext cx="411480" cy="411480"/>
          </a:xfrm>
          <a:prstGeom prst="rect">
            <a:avLst/>
          </a:prstGeom>
        </p:spPr>
      </p:pic>
      <p:sp>
        <p:nvSpPr>
          <p:cNvPr id="20" name="text-91"/>
          <p:cNvSpPr txBox="1"/>
          <p:nvPr/>
        </p:nvSpPr>
        <p:spPr>
          <a:xfrm>
            <a:off x="630936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CLIENT</a:t>
            </a:r>
            <a:endParaRPr lang="en-US" sz="1300" dirty="0"/>
          </a:p>
        </p:txBody>
      </p:sp>
      <p:sp>
        <p:nvSpPr>
          <p:cNvPr id="21" name="text-92"/>
          <p:cNvSpPr txBox="1"/>
          <p:nvPr/>
        </p:nvSpPr>
        <p:spPr>
          <a:xfrm>
            <a:off x="6537960" y="3977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Approves on their phone</a:t>
            </a:r>
            <a:endParaRPr lang="en-US" sz="1800" dirty="0"/>
          </a:p>
        </p:txBody>
      </p:sp>
      <p:sp>
        <p:nvSpPr>
          <p:cNvPr id="22" name="arrow-93"/>
          <p:cNvSpPr/>
          <p:nvPr/>
        </p:nvSpPr>
        <p:spPr>
          <a:xfrm>
            <a:off x="8778240" y="3474720"/>
            <a:ext cx="27432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box-94"/>
          <p:cNvSpPr/>
          <p:nvPr/>
        </p:nvSpPr>
        <p:spPr>
          <a:xfrm>
            <a:off x="9144000" y="2286000"/>
            <a:ext cx="2377440" cy="27432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-bg-95"/>
          <p:cNvSpPr/>
          <p:nvPr/>
        </p:nvSpPr>
        <p:spPr>
          <a:xfrm>
            <a:off x="9921240" y="26060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-9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2811780"/>
            <a:ext cx="411480" cy="411480"/>
          </a:xfrm>
          <a:prstGeom prst="rect">
            <a:avLst/>
          </a:prstGeom>
        </p:spPr>
      </p:pic>
      <p:sp>
        <p:nvSpPr>
          <p:cNvPr id="26" name="text-97"/>
          <p:cNvSpPr txBox="1"/>
          <p:nvPr/>
        </p:nvSpPr>
        <p:spPr>
          <a:xfrm>
            <a:off x="914400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EXTOL</a:t>
            </a:r>
            <a:endParaRPr lang="en-US" sz="1300" dirty="0"/>
          </a:p>
        </p:txBody>
      </p:sp>
      <p:sp>
        <p:nvSpPr>
          <p:cNvPr id="27" name="text-98"/>
          <p:cNvSpPr txBox="1"/>
          <p:nvPr/>
        </p:nvSpPr>
        <p:spPr>
          <a:xfrm>
            <a:off x="9372600" y="3977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Publishes and reports results</a:t>
            </a:r>
            <a:endParaRPr lang="en-US" sz="1800" dirty="0"/>
          </a:p>
        </p:txBody>
      </p:sp>
      <p:sp>
        <p:nvSpPr>
          <p:cNvPr id="28" name="text-99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Nothing is ever published without the client’s yes.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/ 4  ·  WHAT WE OFFER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expect it to produce each month</a:t>
            </a:r>
            <a:endParaRPr lang="en-US" sz="3400" dirty="0"/>
          </a:p>
        </p:txBody>
      </p:sp>
      <p:graphicFrame>
        <p:nvGraphicFramePr>
          <p:cNvPr id="5" name="funnel-chart" descr=""/>
          <p:cNvGraphicFramePr/>
          <p:nvPr/>
        </p:nvGraphicFramePr>
        <p:xfrm>
          <a:off x="640080" y="2011680"/>
          <a:ext cx="10881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-100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Planning estimates at full pace (20 requests a day), not yet proven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/ 4  ·  WHAT WE OFFER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should build up month by month</a:t>
            </a:r>
            <a:endParaRPr lang="en-US" sz="3400" dirty="0"/>
          </a:p>
        </p:txBody>
      </p:sp>
      <p:graphicFrame>
        <p:nvGraphicFramePr>
          <p:cNvPr id="5" name="leads-chart" descr=""/>
          <p:cNvGraphicFramePr/>
          <p:nvPr/>
        </p:nvGraphicFramePr>
        <p:xfrm>
          <a:off x="640080" y="201168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box-101"/>
          <p:cNvSpPr/>
          <p:nvPr/>
        </p:nvSpPr>
        <p:spPr>
          <a:xfrm>
            <a:off x="7955280" y="2103120"/>
            <a:ext cx="3566160" cy="356616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102"/>
          <p:cNvSpPr txBox="1"/>
          <p:nvPr/>
        </p:nvSpPr>
        <p:spPr>
          <a:xfrm>
            <a:off x="82296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BY MONTH 6</a:t>
            </a:r>
            <a:endParaRPr lang="en-US" sz="1300" dirty="0"/>
          </a:p>
        </p:txBody>
      </p:sp>
      <p:sp>
        <p:nvSpPr>
          <p:cNvPr id="8" name="text-103"/>
          <p:cNvSpPr txBox="1"/>
          <p:nvPr/>
        </p:nvSpPr>
        <p:spPr>
          <a:xfrm>
            <a:off x="8229600" y="2788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600" dirty="0"/>
          </a:p>
        </p:txBody>
      </p:sp>
      <p:sp>
        <p:nvSpPr>
          <p:cNvPr id="9" name="text-104"/>
          <p:cNvSpPr txBox="1"/>
          <p:nvPr/>
        </p:nvSpPr>
        <p:spPr>
          <a:xfrm>
            <a:off x="9601200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leads a month</a:t>
            </a:r>
            <a:endParaRPr lang="en-US" sz="1700" dirty="0"/>
          </a:p>
        </p:txBody>
      </p:sp>
      <p:sp>
        <p:nvSpPr>
          <p:cNvPr id="10" name="text-105"/>
          <p:cNvSpPr txBox="1"/>
          <p:nvPr/>
        </p:nvSpPr>
        <p:spPr>
          <a:xfrm>
            <a:off x="8229600" y="3703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1" name="text-106"/>
          <p:cNvSpPr txBox="1"/>
          <p:nvPr/>
        </p:nvSpPr>
        <p:spPr>
          <a:xfrm>
            <a:off x="9601200" y="3703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real sales calls</a:t>
            </a:r>
            <a:endParaRPr lang="en-US" sz="1700" dirty="0"/>
          </a:p>
        </p:txBody>
      </p:sp>
      <p:sp>
        <p:nvSpPr>
          <p:cNvPr id="12" name="text-107"/>
          <p:cNvSpPr txBox="1"/>
          <p:nvPr/>
        </p:nvSpPr>
        <p:spPr>
          <a:xfrm>
            <a:off x="8229600" y="46177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</a:t>
            </a:r>
            <a:endParaRPr lang="en-US" sz="3600" dirty="0"/>
          </a:p>
        </p:txBody>
      </p:sp>
      <p:sp>
        <p:nvSpPr>
          <p:cNvPr id="13" name="text-108"/>
          <p:cNvSpPr txBox="1"/>
          <p:nvPr/>
        </p:nvSpPr>
        <p:spPr>
          <a:xfrm>
            <a:off x="9601200" y="4617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new clients</a:t>
            </a:r>
            <a:endParaRPr lang="en-US" sz="1700" dirty="0"/>
          </a:p>
        </p:txBody>
      </p:sp>
      <p:sp>
        <p:nvSpPr>
          <p:cNvPr id="14" name="text-109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Forecast, not yet proven. Big contracts take 6–12 months to close.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/ 4  ·  WHAT WE OFFER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costs: one monthly fee, every tool included</a:t>
            </a:r>
            <a:endParaRPr lang="en-US" sz="3400" dirty="0"/>
          </a:p>
        </p:txBody>
      </p:sp>
      <p:sp>
        <p:nvSpPr>
          <p:cNvPr id="5" name="box-110"/>
          <p:cNvSpPr/>
          <p:nvPr/>
        </p:nvSpPr>
        <p:spPr>
          <a:xfrm>
            <a:off x="640080" y="2103120"/>
            <a:ext cx="34290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11"/>
          <p:cNvSpPr txBox="1"/>
          <p:nvPr/>
        </p:nvSpPr>
        <p:spPr>
          <a:xfrm>
            <a:off x="10058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MONTH 1</a:t>
            </a:r>
            <a:endParaRPr lang="en-US" sz="1300" dirty="0"/>
          </a:p>
        </p:txBody>
      </p:sp>
      <p:sp>
        <p:nvSpPr>
          <p:cNvPr id="7" name="text-112"/>
          <p:cNvSpPr txBox="1"/>
          <p:nvPr/>
        </p:nvSpPr>
        <p:spPr>
          <a:xfrm>
            <a:off x="100584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£1,500</a:t>
            </a:r>
            <a:endParaRPr lang="en-US" sz="4400" dirty="0"/>
          </a:p>
        </p:txBody>
      </p:sp>
      <p:sp>
        <p:nvSpPr>
          <p:cNvPr id="8" name="text-113"/>
          <p:cNvSpPr txBox="1"/>
          <p:nvPr/>
        </p:nvSpPr>
        <p:spPr>
          <a:xfrm>
            <a:off x="1005840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Set-up and website</a:t>
            </a:r>
            <a:endParaRPr lang="en-US" sz="1700" dirty="0"/>
          </a:p>
        </p:txBody>
      </p:sp>
      <p:sp>
        <p:nvSpPr>
          <p:cNvPr id="9" name="box-114"/>
          <p:cNvSpPr/>
          <p:nvPr/>
        </p:nvSpPr>
        <p:spPr>
          <a:xfrm>
            <a:off x="4370832" y="2103120"/>
            <a:ext cx="342900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115"/>
          <p:cNvSpPr txBox="1"/>
          <p:nvPr/>
        </p:nvSpPr>
        <p:spPr>
          <a:xfrm>
            <a:off x="4736592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MONTHS 2–3</a:t>
            </a:r>
            <a:endParaRPr lang="en-US" sz="1300" dirty="0"/>
          </a:p>
        </p:txBody>
      </p:sp>
      <p:sp>
        <p:nvSpPr>
          <p:cNvPr id="11" name="text-116"/>
          <p:cNvSpPr txBox="1"/>
          <p:nvPr/>
        </p:nvSpPr>
        <p:spPr>
          <a:xfrm>
            <a:off x="4736592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£1,200</a:t>
            </a:r>
            <a:endParaRPr lang="en-US" sz="4400" dirty="0"/>
          </a:p>
        </p:txBody>
      </p:sp>
      <p:sp>
        <p:nvSpPr>
          <p:cNvPr id="12" name="text-117"/>
          <p:cNvSpPr txBox="1"/>
          <p:nvPr/>
        </p:nvSpPr>
        <p:spPr>
          <a:xfrm>
            <a:off x="4736592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Founding price</a:t>
            </a:r>
            <a:endParaRPr lang="en-US" sz="1700" dirty="0"/>
          </a:p>
        </p:txBody>
      </p:sp>
      <p:sp>
        <p:nvSpPr>
          <p:cNvPr id="13" name="box-118"/>
          <p:cNvSpPr/>
          <p:nvPr/>
        </p:nvSpPr>
        <p:spPr>
          <a:xfrm>
            <a:off x="8101584" y="2103120"/>
            <a:ext cx="3429000" cy="23774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-119"/>
          <p:cNvSpPr txBox="1"/>
          <p:nvPr/>
        </p:nvSpPr>
        <p:spPr>
          <a:xfrm>
            <a:off x="8467344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MONTH 4 ONWARDS</a:t>
            </a:r>
            <a:endParaRPr lang="en-US" sz="1300" dirty="0"/>
          </a:p>
        </p:txBody>
      </p:sp>
      <p:sp>
        <p:nvSpPr>
          <p:cNvPr id="15" name="text-120"/>
          <p:cNvSpPr txBox="1"/>
          <p:nvPr/>
        </p:nvSpPr>
        <p:spPr>
          <a:xfrm>
            <a:off x="8467344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£2,500</a:t>
            </a:r>
            <a:endParaRPr lang="en-US" sz="4400" dirty="0"/>
          </a:p>
        </p:txBody>
      </p:sp>
      <p:sp>
        <p:nvSpPr>
          <p:cNvPr id="16" name="text-121"/>
          <p:cNvSpPr txBox="1"/>
          <p:nvPr/>
        </p:nvSpPr>
        <p:spPr>
          <a:xfrm>
            <a:off x="8467344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Standard price</a:t>
            </a:r>
            <a:endParaRPr lang="en-US" sz="1700" dirty="0"/>
          </a:p>
        </p:txBody>
      </p:sp>
      <p:sp>
        <p:nvSpPr>
          <p:cNvPr id="17" name="icon-bg-122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12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29200"/>
            <a:ext cx="274320" cy="274320"/>
          </a:xfrm>
          <a:prstGeom prst="rect">
            <a:avLst/>
          </a:prstGeom>
        </p:spPr>
      </p:pic>
      <p:sp>
        <p:nvSpPr>
          <p:cNvPr id="19" name="text-124"/>
          <p:cNvSpPr txBox="1"/>
          <p:nvPr/>
        </p:nvSpPr>
        <p:spPr>
          <a:xfrm>
            <a:off x="1371600" y="48463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Our promise: at day 60 we review the results together. If we’re behind plan, we fix it in writing, or the client can leave.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/ 4  ·  WHAT WE OFFER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client win can pay for the whole year</a:t>
            </a:r>
            <a:endParaRPr lang="en-US" sz="3400" dirty="0"/>
          </a:p>
        </p:txBody>
      </p:sp>
      <p:graphicFrame>
        <p:nvGraphicFramePr>
          <p:cNvPr id="5" name="payback-chart" descr=""/>
          <p:cNvGraphicFramePr/>
          <p:nvPr/>
        </p:nvGraphicFramePr>
        <p:xfrm>
          <a:off x="640080" y="201168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box-125"/>
          <p:cNvSpPr/>
          <p:nvPr/>
        </p:nvSpPr>
        <p:spPr>
          <a:xfrm>
            <a:off x="7955280" y="2103120"/>
            <a:ext cx="3566160" cy="356616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-126"/>
          <p:cNvSpPr txBox="1"/>
          <p:nvPr/>
        </p:nvSpPr>
        <p:spPr>
          <a:xfrm>
            <a:off x="82296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3"/>
                </a:solidFill>
              </a:rPr>
              <a:t>RETURN ON THE FEE</a:t>
            </a:r>
            <a:endParaRPr lang="en-US" sz="1300" dirty="0"/>
          </a:p>
        </p:txBody>
      </p:sp>
      <p:sp>
        <p:nvSpPr>
          <p:cNvPr id="8" name="text-127"/>
          <p:cNvSpPr txBox="1"/>
          <p:nvPr/>
        </p:nvSpPr>
        <p:spPr>
          <a:xfrm>
            <a:off x="822960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0.9×</a:t>
            </a:r>
            <a:endParaRPr lang="en-US" sz="3600" dirty="0"/>
          </a:p>
        </p:txBody>
      </p:sp>
      <p:sp>
        <p:nvSpPr>
          <p:cNvPr id="9" name="text-128"/>
          <p:cNvSpPr txBox="1"/>
          <p:nvPr/>
        </p:nvSpPr>
        <p:spPr>
          <a:xfrm>
            <a:off x="9692640" y="2788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small piece</a:t>
            </a:r>
            <a:endParaRPr lang="en-US" sz="1700" dirty="0"/>
          </a:p>
        </p:txBody>
      </p:sp>
      <p:sp>
        <p:nvSpPr>
          <p:cNvPr id="10" name="text-129"/>
          <p:cNvSpPr txBox="1"/>
          <p:nvPr/>
        </p:nvSpPr>
        <p:spPr>
          <a:xfrm>
            <a:off x="8229600" y="3703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2.8×</a:t>
            </a:r>
            <a:endParaRPr lang="en-US" sz="3600" dirty="0"/>
          </a:p>
        </p:txBody>
      </p:sp>
      <p:sp>
        <p:nvSpPr>
          <p:cNvPr id="11" name="text-130"/>
          <p:cNvSpPr txBox="1"/>
          <p:nvPr/>
        </p:nvSpPr>
        <p:spPr>
          <a:xfrm>
            <a:off x="9692640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mid-size win</a:t>
            </a:r>
            <a:endParaRPr lang="en-US" sz="1700" dirty="0"/>
          </a:p>
        </p:txBody>
      </p:sp>
      <p:sp>
        <p:nvSpPr>
          <p:cNvPr id="12" name="text-131"/>
          <p:cNvSpPr txBox="1"/>
          <p:nvPr/>
        </p:nvSpPr>
        <p:spPr>
          <a:xfrm>
            <a:off x="8229600" y="4617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9.5×</a:t>
            </a:r>
            <a:endParaRPr lang="en-US" sz="3600" dirty="0"/>
          </a:p>
        </p:txBody>
      </p:sp>
      <p:sp>
        <p:nvSpPr>
          <p:cNvPr id="13" name="text-132"/>
          <p:cNvSpPr txBox="1"/>
          <p:nvPr/>
        </p:nvSpPr>
        <p:spPr>
          <a:xfrm>
            <a:off x="9692640" y="4617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two wins</a:t>
            </a:r>
            <a:endParaRPr lang="en-US" sz="1700" dirty="0"/>
          </a:p>
        </p:txBody>
      </p:sp>
      <p:sp>
        <p:nvSpPr>
          <p:cNvPr id="14" name="text-133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Illustrative figures, not results. Year-one fee: £26,400.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role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0233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How you can help, and how we’d work together.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4 / 4  ·  YOUR ROLE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you can help us grow</a:t>
            </a:r>
            <a:endParaRPr lang="en-US" sz="3400" dirty="0"/>
          </a:p>
        </p:txBody>
      </p:sp>
      <p:sp>
        <p:nvSpPr>
          <p:cNvPr id="5" name="box-134"/>
          <p:cNvSpPr/>
          <p:nvPr/>
        </p:nvSpPr>
        <p:spPr>
          <a:xfrm>
            <a:off x="6400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bg-135"/>
          <p:cNvSpPr/>
          <p:nvPr/>
        </p:nvSpPr>
        <p:spPr>
          <a:xfrm>
            <a:off x="10058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1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43200"/>
            <a:ext cx="365760" cy="365760"/>
          </a:xfrm>
          <a:prstGeom prst="rect">
            <a:avLst/>
          </a:prstGeom>
        </p:spPr>
      </p:pic>
      <p:sp>
        <p:nvSpPr>
          <p:cNvPr id="8" name="text-137"/>
          <p:cNvSpPr txBox="1"/>
          <p:nvPr/>
        </p:nvSpPr>
        <p:spPr>
          <a:xfrm>
            <a:off x="10058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</a:t>
            </a:r>
            <a:endParaRPr lang="en-US" sz="2200" dirty="0"/>
          </a:p>
        </p:txBody>
      </p:sp>
      <p:sp>
        <p:nvSpPr>
          <p:cNvPr id="9" name="text-138"/>
          <p:cNvSpPr txBox="1"/>
          <p:nvPr/>
        </p:nvSpPr>
        <p:spPr>
          <a:xfrm>
            <a:off x="10058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Sharpen our offer, pricing and pitch.</a:t>
            </a:r>
            <a:endParaRPr lang="en-US" sz="1700" dirty="0"/>
          </a:p>
        </p:txBody>
      </p:sp>
      <p:sp>
        <p:nvSpPr>
          <p:cNvPr id="10" name="box-139"/>
          <p:cNvSpPr/>
          <p:nvPr/>
        </p:nvSpPr>
        <p:spPr>
          <a:xfrm>
            <a:off x="43738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-bg-140"/>
          <p:cNvSpPr/>
          <p:nvPr/>
        </p:nvSpPr>
        <p:spPr>
          <a:xfrm>
            <a:off x="473964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14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20" y="2743200"/>
            <a:ext cx="365760" cy="365760"/>
          </a:xfrm>
          <a:prstGeom prst="rect">
            <a:avLst/>
          </a:prstGeom>
        </p:spPr>
      </p:pic>
      <p:sp>
        <p:nvSpPr>
          <p:cNvPr id="13" name="text-142"/>
          <p:cNvSpPr txBox="1"/>
          <p:nvPr/>
        </p:nvSpPr>
        <p:spPr>
          <a:xfrm>
            <a:off x="47396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</a:t>
            </a:r>
            <a:endParaRPr lang="en-US" sz="2200" dirty="0"/>
          </a:p>
        </p:txBody>
      </p:sp>
      <p:sp>
        <p:nvSpPr>
          <p:cNvPr id="14" name="text-143"/>
          <p:cNvSpPr txBox="1"/>
          <p:nvPr/>
        </p:nvSpPr>
        <p:spPr>
          <a:xfrm>
            <a:off x="47396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Help us choose the one market to focus on.</a:t>
            </a:r>
            <a:endParaRPr lang="en-US" sz="1700" dirty="0"/>
          </a:p>
        </p:txBody>
      </p:sp>
      <p:sp>
        <p:nvSpPr>
          <p:cNvPr id="15" name="box-144"/>
          <p:cNvSpPr/>
          <p:nvPr/>
        </p:nvSpPr>
        <p:spPr>
          <a:xfrm>
            <a:off x="8107680" y="219456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icon-bg-145"/>
          <p:cNvSpPr/>
          <p:nvPr/>
        </p:nvSpPr>
        <p:spPr>
          <a:xfrm>
            <a:off x="8473440" y="25603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14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0" y="2743200"/>
            <a:ext cx="365760" cy="365760"/>
          </a:xfrm>
          <a:prstGeom prst="rect">
            <a:avLst/>
          </a:prstGeom>
        </p:spPr>
      </p:pic>
      <p:sp>
        <p:nvSpPr>
          <p:cNvPr id="18" name="text-147"/>
          <p:cNvSpPr txBox="1"/>
          <p:nvPr/>
        </p:nvSpPr>
        <p:spPr>
          <a:xfrm>
            <a:off x="8473440" y="3520440"/>
            <a:ext cx="268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</a:t>
            </a:r>
            <a:endParaRPr lang="en-US" sz="2200" dirty="0"/>
          </a:p>
        </p:txBody>
      </p:sp>
      <p:sp>
        <p:nvSpPr>
          <p:cNvPr id="19" name="text-148"/>
          <p:cNvSpPr txBox="1"/>
          <p:nvPr/>
        </p:nvSpPr>
        <p:spPr>
          <a:xfrm>
            <a:off x="8473440" y="4160520"/>
            <a:ext cx="268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Connect us with businesses that need us.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4 / 4  ·  YOUR ROLE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experience matters most</a:t>
            </a:r>
            <a:endParaRPr lang="en-US" sz="3400" dirty="0"/>
          </a:p>
        </p:txBody>
      </p:sp>
      <p:sp>
        <p:nvSpPr>
          <p:cNvPr id="5" name="box-149"/>
          <p:cNvSpPr/>
          <p:nvPr/>
        </p:nvSpPr>
        <p:spPr>
          <a:xfrm>
            <a:off x="640080" y="2057400"/>
            <a:ext cx="53035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50"/>
          <p:cNvSpPr txBox="1"/>
          <p:nvPr/>
        </p:nvSpPr>
        <p:spPr>
          <a:xfrm>
            <a:off x="960120" y="2286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2100" dirty="0"/>
          </a:p>
        </p:txBody>
      </p:sp>
      <p:sp>
        <p:nvSpPr>
          <p:cNvPr id="7" name="text-151"/>
          <p:cNvSpPr txBox="1"/>
          <p:nvPr/>
        </p:nvSpPr>
        <p:spPr>
          <a:xfrm>
            <a:off x="96012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We don’t yet have a case study with hard numbers.</a:t>
            </a:r>
            <a:endParaRPr lang="en-US" sz="1700" dirty="0"/>
          </a:p>
        </p:txBody>
      </p:sp>
      <p:sp>
        <p:nvSpPr>
          <p:cNvPr id="8" name="text-152"/>
          <p:cNvSpPr txBox="1"/>
          <p:nvPr/>
        </p:nvSpPr>
        <p:spPr>
          <a:xfrm>
            <a:off x="960120" y="3154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What proof would your network trust?</a:t>
            </a:r>
            <a:endParaRPr lang="en-US" sz="1700" dirty="0"/>
          </a:p>
        </p:txBody>
      </p:sp>
      <p:sp>
        <p:nvSpPr>
          <p:cNvPr id="9" name="box-153"/>
          <p:cNvSpPr/>
          <p:nvPr/>
        </p:nvSpPr>
        <p:spPr>
          <a:xfrm>
            <a:off x="6217920" y="2057400"/>
            <a:ext cx="53035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154"/>
          <p:cNvSpPr txBox="1"/>
          <p:nvPr/>
        </p:nvSpPr>
        <p:spPr>
          <a:xfrm>
            <a:off x="6537960" y="2286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2100" dirty="0"/>
          </a:p>
        </p:txBody>
      </p:sp>
      <p:sp>
        <p:nvSpPr>
          <p:cNvPr id="11" name="text-155"/>
          <p:cNvSpPr txBox="1"/>
          <p:nvPr/>
        </p:nvSpPr>
        <p:spPr>
          <a:xfrm>
            <a:off x="653796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We work in three very different markets.</a:t>
            </a:r>
            <a:endParaRPr lang="en-US" sz="1700" dirty="0"/>
          </a:p>
        </p:txBody>
      </p:sp>
      <p:sp>
        <p:nvSpPr>
          <p:cNvPr id="12" name="text-156"/>
          <p:cNvSpPr txBox="1"/>
          <p:nvPr/>
        </p:nvSpPr>
        <p:spPr>
          <a:xfrm>
            <a:off x="6537960" y="3154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Which one should we own?</a:t>
            </a:r>
            <a:endParaRPr lang="en-US" sz="1700" dirty="0"/>
          </a:p>
        </p:txBody>
      </p:sp>
      <p:sp>
        <p:nvSpPr>
          <p:cNvPr id="13" name="box-157"/>
          <p:cNvSpPr/>
          <p:nvPr/>
        </p:nvSpPr>
        <p:spPr>
          <a:xfrm>
            <a:off x="640080" y="3977640"/>
            <a:ext cx="53035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58"/>
          <p:cNvSpPr txBox="1"/>
          <p:nvPr/>
        </p:nvSpPr>
        <p:spPr>
          <a:xfrm>
            <a:off x="96012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</a:t>
            </a:r>
            <a:endParaRPr lang="en-US" sz="2100" dirty="0"/>
          </a:p>
        </p:txBody>
      </p:sp>
      <p:sp>
        <p:nvSpPr>
          <p:cNvPr id="15" name="text-159"/>
          <p:cNvSpPr txBox="1"/>
          <p:nvPr/>
        </p:nvSpPr>
        <p:spPr>
          <a:xfrm>
            <a:off x="96012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Our price is tested with only one client.</a:t>
            </a:r>
            <a:endParaRPr lang="en-US" sz="1700" dirty="0"/>
          </a:p>
        </p:txBody>
      </p:sp>
      <p:sp>
        <p:nvSpPr>
          <p:cNvPr id="16" name="text-160"/>
          <p:cNvSpPr txBox="1"/>
          <p:nvPr/>
        </p:nvSpPr>
        <p:spPr>
          <a:xfrm>
            <a:off x="960120" y="5074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Is it right for the value?</a:t>
            </a:r>
            <a:endParaRPr lang="en-US" sz="1700" dirty="0"/>
          </a:p>
        </p:txBody>
      </p:sp>
      <p:sp>
        <p:nvSpPr>
          <p:cNvPr id="17" name="box-161"/>
          <p:cNvSpPr/>
          <p:nvPr/>
        </p:nvSpPr>
        <p:spPr>
          <a:xfrm>
            <a:off x="6217920" y="3977640"/>
            <a:ext cx="530352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-162"/>
          <p:cNvSpPr txBox="1"/>
          <p:nvPr/>
        </p:nvSpPr>
        <p:spPr>
          <a:xfrm>
            <a:off x="6537960" y="4206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2100" dirty="0"/>
          </a:p>
        </p:txBody>
      </p:sp>
      <p:sp>
        <p:nvSpPr>
          <p:cNvPr id="19" name="text-163"/>
          <p:cNvSpPr txBox="1"/>
          <p:nvPr/>
        </p:nvSpPr>
        <p:spPr>
          <a:xfrm>
            <a:off x="6537960" y="4663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Two founders do sales and delivery.</a:t>
            </a:r>
            <a:endParaRPr lang="en-US" sz="1700" dirty="0"/>
          </a:p>
        </p:txBody>
      </p:sp>
      <p:sp>
        <p:nvSpPr>
          <p:cNvPr id="20" name="text-164"/>
          <p:cNvSpPr txBox="1"/>
          <p:nvPr/>
        </p:nvSpPr>
        <p:spPr>
          <a:xfrm>
            <a:off x="6537960" y="5074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When should we hire, and who?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4 / 4  ·  YOUR ROLE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could work together: three options</a:t>
            </a:r>
            <a:endParaRPr lang="en-US" sz="3400" dirty="0"/>
          </a:p>
        </p:txBody>
      </p:sp>
      <p:sp>
        <p:nvSpPr>
          <p:cNvPr id="5" name="box-165"/>
          <p:cNvSpPr/>
          <p:nvPr/>
        </p:nvSpPr>
        <p:spPr>
          <a:xfrm>
            <a:off x="640080" y="210312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icon-bg-166"/>
          <p:cNvSpPr/>
          <p:nvPr/>
        </p:nvSpPr>
        <p:spPr>
          <a:xfrm>
            <a:off x="1005840" y="24231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1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06040"/>
            <a:ext cx="365760" cy="365760"/>
          </a:xfrm>
          <a:prstGeom prst="rect">
            <a:avLst/>
          </a:prstGeom>
        </p:spPr>
      </p:pic>
      <p:sp>
        <p:nvSpPr>
          <p:cNvPr id="8" name="text-168"/>
          <p:cNvSpPr txBox="1"/>
          <p:nvPr/>
        </p:nvSpPr>
        <p:spPr>
          <a:xfrm>
            <a:off x="1920240" y="2606040"/>
            <a:ext cx="195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OUR SUGGESTION TO START</a:t>
            </a:r>
            <a:endParaRPr lang="en-US" sz="1200" dirty="0"/>
          </a:p>
        </p:txBody>
      </p:sp>
      <p:sp>
        <p:nvSpPr>
          <p:cNvPr id="9" name="text-169"/>
          <p:cNvSpPr txBox="1"/>
          <p:nvPr/>
        </p:nvSpPr>
        <p:spPr>
          <a:xfrm>
            <a:off x="1005840" y="342900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Referral partner</a:t>
            </a:r>
            <a:endParaRPr lang="en-US" sz="2100" dirty="0"/>
          </a:p>
        </p:txBody>
      </p:sp>
      <p:sp>
        <p:nvSpPr>
          <p:cNvPr id="10" name="text-170"/>
          <p:cNvSpPr txBox="1"/>
          <p:nvPr/>
        </p:nvSpPr>
        <p:spPr>
          <a:xfrm>
            <a:off x="1005840" y="3977640"/>
            <a:ext cx="268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A share of fees from clients you introduce.</a:t>
            </a:r>
            <a:endParaRPr lang="en-US" sz="1700" dirty="0"/>
          </a:p>
        </p:txBody>
      </p:sp>
      <p:sp>
        <p:nvSpPr>
          <p:cNvPr id="11" name="box-171"/>
          <p:cNvSpPr/>
          <p:nvPr/>
        </p:nvSpPr>
        <p:spPr>
          <a:xfrm>
            <a:off x="4373880" y="210312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bg-172"/>
          <p:cNvSpPr/>
          <p:nvPr/>
        </p:nvSpPr>
        <p:spPr>
          <a:xfrm>
            <a:off x="473964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17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520" y="2606040"/>
            <a:ext cx="365760" cy="365760"/>
          </a:xfrm>
          <a:prstGeom prst="rect">
            <a:avLst/>
          </a:prstGeom>
        </p:spPr>
      </p:pic>
      <p:sp>
        <p:nvSpPr>
          <p:cNvPr id="14" name="text-174"/>
          <p:cNvSpPr txBox="1"/>
          <p:nvPr/>
        </p:nvSpPr>
        <p:spPr>
          <a:xfrm>
            <a:off x="4739640" y="342900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Advisor</a:t>
            </a:r>
            <a:endParaRPr lang="en-US" sz="2100" dirty="0"/>
          </a:p>
        </p:txBody>
      </p:sp>
      <p:sp>
        <p:nvSpPr>
          <p:cNvPr id="15" name="text-175"/>
          <p:cNvSpPr txBox="1"/>
          <p:nvPr/>
        </p:nvSpPr>
        <p:spPr>
          <a:xfrm>
            <a:off x="4739640" y="3977640"/>
            <a:ext cx="268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Set hours each month, plus a smaller share of fees.</a:t>
            </a:r>
            <a:endParaRPr lang="en-US" sz="1700" dirty="0"/>
          </a:p>
        </p:txBody>
      </p:sp>
      <p:sp>
        <p:nvSpPr>
          <p:cNvPr id="16" name="box-176"/>
          <p:cNvSpPr/>
          <p:nvPr/>
        </p:nvSpPr>
        <p:spPr>
          <a:xfrm>
            <a:off x="8107680" y="2103120"/>
            <a:ext cx="341376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-bg-177"/>
          <p:cNvSpPr/>
          <p:nvPr/>
        </p:nvSpPr>
        <p:spPr>
          <a:xfrm>
            <a:off x="8473440" y="2423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17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0" y="2606040"/>
            <a:ext cx="365760" cy="365760"/>
          </a:xfrm>
          <a:prstGeom prst="rect">
            <a:avLst/>
          </a:prstGeom>
        </p:spPr>
      </p:pic>
      <p:sp>
        <p:nvSpPr>
          <p:cNvPr id="19" name="text-179"/>
          <p:cNvSpPr txBox="1"/>
          <p:nvPr/>
        </p:nvSpPr>
        <p:spPr>
          <a:xfrm>
            <a:off x="8473440" y="3429000"/>
            <a:ext cx="268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Strategic advisor</a:t>
            </a:r>
            <a:endParaRPr lang="en-US" sz="2100" dirty="0"/>
          </a:p>
        </p:txBody>
      </p:sp>
      <p:sp>
        <p:nvSpPr>
          <p:cNvPr id="20" name="text-180"/>
          <p:cNvSpPr txBox="1"/>
          <p:nvPr/>
        </p:nvSpPr>
        <p:spPr>
          <a:xfrm>
            <a:off x="8473440" y="3977640"/>
            <a:ext cx="268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 small stake in Extol, once the fit is proven.</a:t>
            </a:r>
            <a:endParaRPr lang="en-US" sz="1700" dirty="0"/>
          </a:p>
        </p:txBody>
      </p:sp>
      <p:sp>
        <p:nvSpPr>
          <p:cNvPr id="21" name="text-181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Start with A for 90 days, then review together and move to B or C if it works for both sides.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4 / 4  ·  YOUR ROLE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90 days together</a:t>
            </a:r>
            <a:endParaRPr lang="en-US" sz="3400" dirty="0"/>
          </a:p>
        </p:txBody>
      </p:sp>
      <p:sp>
        <p:nvSpPr>
          <p:cNvPr id="5" name="line-182"/>
          <p:cNvSpPr/>
          <p:nvPr/>
        </p:nvSpPr>
        <p:spPr>
          <a:xfrm>
            <a:off x="960120" y="2514600"/>
            <a:ext cx="85039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6" name="dot-183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-184"/>
          <p:cNvSpPr txBox="1"/>
          <p:nvPr/>
        </p:nvSpPr>
        <p:spPr>
          <a:xfrm>
            <a:off x="64008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WEEK 1</a:t>
            </a:r>
            <a:endParaRPr lang="en-US" sz="1400" dirty="0"/>
          </a:p>
        </p:txBody>
      </p:sp>
      <p:sp>
        <p:nvSpPr>
          <p:cNvPr id="8" name="text-185"/>
          <p:cNvSpPr txBox="1"/>
          <p:nvPr/>
        </p:nvSpPr>
        <p:spPr>
          <a:xfrm>
            <a:off x="64008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role and terms</a:t>
            </a:r>
            <a:endParaRPr lang="en-US" sz="2000" dirty="0"/>
          </a:p>
        </p:txBody>
      </p:sp>
      <p:sp>
        <p:nvSpPr>
          <p:cNvPr id="9" name="dot-186"/>
          <p:cNvSpPr/>
          <p:nvPr/>
        </p:nvSpPr>
        <p:spPr>
          <a:xfrm>
            <a:off x="3566160" y="22860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-187"/>
          <p:cNvSpPr txBox="1"/>
          <p:nvPr/>
        </p:nvSpPr>
        <p:spPr>
          <a:xfrm>
            <a:off x="347472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DAY 30</a:t>
            </a:r>
            <a:endParaRPr lang="en-US" sz="1400" dirty="0"/>
          </a:p>
        </p:txBody>
      </p:sp>
      <p:sp>
        <p:nvSpPr>
          <p:cNvPr id="11" name="text-188"/>
          <p:cNvSpPr txBox="1"/>
          <p:nvPr/>
        </p:nvSpPr>
        <p:spPr>
          <a:xfrm>
            <a:off x="347472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one market and list 10 people to introduce</a:t>
            </a:r>
            <a:endParaRPr lang="en-US" sz="2000" dirty="0"/>
          </a:p>
        </p:txBody>
      </p:sp>
      <p:sp>
        <p:nvSpPr>
          <p:cNvPr id="12" name="dot-189"/>
          <p:cNvSpPr/>
          <p:nvPr/>
        </p:nvSpPr>
        <p:spPr>
          <a:xfrm>
            <a:off x="6400800" y="22860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-190"/>
          <p:cNvSpPr txBox="1"/>
          <p:nvPr/>
        </p:nvSpPr>
        <p:spPr>
          <a:xfrm>
            <a:off x="630936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DAY 60</a:t>
            </a:r>
            <a:endParaRPr lang="en-US" sz="1400" dirty="0"/>
          </a:p>
        </p:txBody>
      </p:sp>
      <p:sp>
        <p:nvSpPr>
          <p:cNvPr id="14" name="text-191"/>
          <p:cNvSpPr txBox="1"/>
          <p:nvPr/>
        </p:nvSpPr>
        <p:spPr>
          <a:xfrm>
            <a:off x="630936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introductions and calls</a:t>
            </a:r>
            <a:endParaRPr lang="en-US" sz="2000" dirty="0"/>
          </a:p>
        </p:txBody>
      </p:sp>
      <p:sp>
        <p:nvSpPr>
          <p:cNvPr id="15" name="dot-192"/>
          <p:cNvSpPr/>
          <p:nvPr/>
        </p:nvSpPr>
        <p:spPr>
          <a:xfrm>
            <a:off x="9235440" y="228600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-193"/>
          <p:cNvSpPr txBox="1"/>
          <p:nvPr/>
        </p:nvSpPr>
        <p:spPr>
          <a:xfrm>
            <a:off x="9144000" y="2971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DAY 90</a:t>
            </a:r>
            <a:endParaRPr lang="en-US" sz="1400" dirty="0"/>
          </a:p>
        </p:txBody>
      </p:sp>
      <p:sp>
        <p:nvSpPr>
          <p:cNvPr id="17" name="text-194"/>
          <p:cNvSpPr txBox="1"/>
          <p:nvPr/>
        </p:nvSpPr>
        <p:spPr>
          <a:xfrm>
            <a:off x="914400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new client, then review</a:t>
            </a:r>
            <a:endParaRPr lang="en-US" sz="2000" dirty="0"/>
          </a:p>
        </p:txBody>
      </p:sp>
      <p:sp>
        <p:nvSpPr>
          <p:cNvPr id="18" name="box-19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-196"/>
          <p:cNvSpPr txBox="1"/>
          <p:nvPr/>
        </p:nvSpPr>
        <p:spPr>
          <a:xfrm>
            <a:off x="960120" y="4892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2"/>
                </a:solidFill>
              </a:rPr>
              <a:t>Today: which market do you know best? Who comes to mind first?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THANK YOU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know the people.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the system.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886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</a:rPr>
              <a:t>Together we can win the right clients, faster.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Devasya Dwivedi  ·  Anshul Mikita Prajapati  ·  admin@extolaffiliates.com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tol Affiliates">
  <a:themeElements>
    <a:clrScheme name="Extol Affiliates">
      <a:dk1>
        <a:srgbClr val="101F14"/>
      </a:dk1>
      <a:lt1>
        <a:srgbClr val="FFFFFF"/>
      </a:lt1>
      <a:dk2>
        <a:srgbClr val="1D3524"/>
      </a:dk2>
      <a:lt2>
        <a:srgbClr val="E9F0C9"/>
      </a:lt2>
      <a:accent1>
        <a:srgbClr val="2B4A34"/>
      </a:accent1>
      <a:accent2>
        <a:srgbClr val="7E9C6B"/>
      </a:accent2>
      <a:accent3>
        <a:srgbClr val="9EBB80"/>
      </a:accent3>
      <a:accent4>
        <a:srgbClr val="C6DE9F"/>
      </a:accent4>
      <a:accent5>
        <a:srgbClr val="5B6B5E"/>
      </a:accent5>
      <a:accent6>
        <a:srgbClr val="F4F7EA"/>
      </a:accent6>
      <a:hlink>
        <a:srgbClr val="2B4A34"/>
      </a:hlink>
      <a:folHlink>
        <a:srgbClr val="7E9C6B"/>
      </a:folHlink>
    </a:clrScheme>
    <a:fontScheme name="Extol Affilia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Extol Affiliates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Extol Affiliates x David Samuel</dc:title>
  <dc:subject>PptxGenJS Presentation</dc:subject>
  <dc:creator>Extol Affiliates</dc:creator>
  <cp:lastModifiedBy>Extol Affiliates</cp:lastModifiedBy>
  <cp:revision>1</cp:revision>
  <dcterms:created xsi:type="dcterms:W3CDTF">2026-10-23T14:11:55Z</dcterms:created>
  <dcterms:modified xsi:type="dcterms:W3CDTF">2026-10-23T14:11:55Z</dcterms:modified>
</cp:coreProperties>
</file>