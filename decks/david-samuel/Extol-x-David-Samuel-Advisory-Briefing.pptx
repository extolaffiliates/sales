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5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9de6614-b166-fb5c-fa23-250204274e65}">
          <p14:sldIdLst>
            <p14:sldId id="256"/>
            <p14:sldId id="257"/>
          </p14:sldIdLst>
        </p14:section>
        <p14:section name="Who we are" id="{b65853b3-52df-1b60-0dd2-88e3f36d3e3c}">
          <p14:sldIdLst>
            <p14:sldId id="258"/>
            <p14:sldId id="259"/>
            <p14:sldId id="260"/>
            <p14:sldId id="261"/>
          </p14:sldIdLst>
        </p14:section>
        <p14:section name="What we’ve done" id="{54557722-63ce-3b39-0e26-5c884d04a661}">
          <p14:sldIdLst>
            <p14:sldId id="262"/>
            <p14:sldId id="263"/>
          </p14:sldIdLst>
        </p14:section>
        <p14:section name="What we offer" id="{775d8a95-ef41-640a-2a30-bb7e579abbc2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Your role" id="{9c76b9af-9de5-325a-be47-32fcc6153de1}">
          <p14:sldIdLst>
            <p14:sldId id="276"/>
            <p14:sldId id="277"/>
            <p14:sldId id="278"/>
            <p14:sldId id="279"/>
            <p14:sldId id="280"/>
          </p14:sldIdLst>
        </p14:section>
        <p14:section name="Close" id="{cae1f188-c4ed-f44e-15b0-26c3eb4d7698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B6B5E"/>
                </a:solidFill>
                <a:latin typeface="+mn-lt"/>
              </a:rPr>
              <a:t>Average reactions per post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reactions</c:v>
                </c:pt>
              </c:strCache>
            </c:strRef>
          </c:tx>
          <c:spPr>
            <a:solidFill>
              <a:srgbClr val="2B4A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Posts with real people</c:v>
                  </c:pt>
                  <c:pt idx="1">
                    <c:v>Framework posts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01F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B6B5E"/>
                </a:solidFill>
                <a:latin typeface="+mn-lt"/>
              </a:rPr>
              <a:t>What their comments said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6DE9F"/>
              </a:solidFill>
              <a:effectLst/>
            </c:spPr>
          </c:dPt>
          <c:dPt>
            <c:idx val="1"/>
            <c:bubble3D val="0"/>
            <c:spPr>
              <a:solidFill>
                <a:srgbClr val="7E9C6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101F14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101F14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Just “congrats”</c:v>
                </c:pt>
                <c:pt idx="1">
                  <c:v>Made a real point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76</c:v>
                </c:pt>
                <c:pt idx="1">
                  <c:v>24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01F1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B6B5E"/>
                </a:solidFill>
                <a:latin typeface="+mn-lt"/>
              </a:rPr>
              <a:t>Outreach in one month, at full pace (estimate)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 month</c:v>
                </c:pt>
              </c:strCache>
            </c:strRef>
          </c:tx>
          <c:spPr>
            <a:solidFill>
              <a:srgbClr val="2B4A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Connection requests</c:v>
                  </c:pt>
                  <c:pt idx="1">
                    <c:v>Accepted</c:v>
                  </c:pt>
                  <c:pt idx="2">
                    <c:v>Replied</c:v>
                  </c:pt>
                  <c:pt idx="3">
                    <c:v>Calls booked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400</c:v>
                </c:pt>
                <c:pt idx="1">
                  <c:v>150</c:v>
                </c:pt>
                <c:pt idx="2">
                  <c:v>27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01F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B6B5E"/>
                </a:solidFill>
                <a:latin typeface="+mn-lt"/>
              </a:rPr>
              <a:t>Qualified leads per month (forecast)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leads</c:v>
                </c:pt>
              </c:strCache>
            </c:strRef>
          </c:tx>
          <c:spPr>
            <a:solidFill>
              <a:srgbClr val="2B4A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Month 1</c:v>
                  </c:pt>
                  <c:pt idx="1">
                    <c:v>Month 3</c:v>
                  </c:pt>
                  <c:pt idx="2">
                    <c:v>Month 6</c:v>
                  </c:pt>
                  <c:pt idx="3">
                    <c:v>Month 12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</c:v>
                </c:pt>
                <c:pt idx="1">
                  <c:v>71</c:v>
                </c:pt>
                <c:pt idx="2">
                  <c:v>101</c:v>
                </c:pt>
                <c:pt idx="3">
                  <c:v>126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01F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B6B5E"/>
                </a:solidFill>
                <a:latin typeface="+mn-lt"/>
              </a:rPr>
              <a:t>Year-one fee vs. value of a client win (£)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B4A34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Year-one fee</c:v>
                  </c:pt>
                  <c:pt idx="1">
                    <c:v>One small advisory piece</c:v>
                  </c:pt>
                  <c:pt idx="2">
                    <c:v>One mid-size engagement</c:v>
                  </c:pt>
                  <c:pt idx="3">
                    <c:v>Two engagements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26400</c:v>
                </c:pt>
                <c:pt idx="1">
                  <c:v>50000</c:v>
                </c:pt>
                <c:pt idx="2">
                  <c:v>150000</c:v>
                </c:pt>
                <c:pt idx="3">
                  <c:v>500000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01F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agree how David works alongside Extol to advise, guide and bring in new clients.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Extol is two founders plus AI agents we built ourselves. Agents do the work; people approve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from a real October audit of a client (name kept private).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person, same audience: posts with named people got 69 reactions on average; framework posts got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3D Images AI and Bloggerly are public. The consultancy is under NDA, so it is not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Thought leadership is the strategy; every channel after this slide serves it. We build it in four layers, bottom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part feeds the next. The next slides explain the four that are newest to most clients.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 handle the daily work; the client only approves. Pace stays well under LinkedIn's limits (5 requests a day, rising to 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platform gets its own version, never a copy-paste. Buyer and community audiences are kept separate.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webinar formats never share a room: buyer sessions sell the expertise; community sessions build the audience.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Taste is Extol's creative-direction library, curated by our team. It is why nothing we make looks like generic AI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the most common worry: 'I don't have time.'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planning estimates from our consultancy client's plan, not proven results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Forecast mid-points from our consultancy client's plan. A qualified lead is a buyer who replies, books or signs up. Likes don't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Founding-client price. Prices exclude VAT. Covers every platform, agent, Skool and webinar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Illustrative, from the consultancy plan. Return is on profit at a 50% margin. Most cash from big contracts lands in year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David which of the three he wants to lead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honest about our gaps gets better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Terms are deliberately left open to agree in the meeting. Decide our walk-away numbers beforehand.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asking: which market do you know best, and who comes to mind first?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280160"/>
            <a:ext cx="10515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828800"/>
            <a:ext cx="105156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16052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20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3657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6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1546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206240"/>
            <a:ext cx="9144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accent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Shape 0"/>
          <p:cNvSpPr/>
          <p:nvPr/>
        </p:nvSpPr>
        <p:spPr>
          <a:xfrm>
            <a:off x="640080" y="6263640"/>
            <a:ext cx="10908792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640080" y="63733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chemeClr val="accent2"/>
                </a:solidFill>
              </a:rPr>
              <a:t>EXTOL AFFILIATES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7891272" y="63733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chemeClr val="accent2"/>
                </a:solidFill>
              </a:rPr>
              <a:t>× DAVID SAMUEL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Helvetica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Helvetica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Helvetica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2801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3"/>
                </a:solidFill>
              </a:rPr>
              <a:t>EXTOL AFFILIATES  ×  DAVID SAMUEL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82880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together to</a:t>
            </a:r>
            <a:endParaRPr lang="en-US" sz="5400" dirty="0"/>
          </a:p>
          <a:p>
            <a:pPr algn="l" indent="0" marL="0">
              <a:buNone/>
            </a:pPr>
            <a:r>
              <a:rPr lang="en-US" sz="54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 </a:t>
            </a:r>
            <a:pPr algn="l" indent="0" marL="0">
              <a:buNone/>
            </a:pPr>
            <a:r>
              <a:rPr lang="en-US" sz="54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</a:t>
            </a:r>
            <a:pPr algn="l" indent="0" marL="0">
              <a:buNone/>
            </a:pPr>
            <a:r>
              <a:rPr lang="en-US" sz="54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clients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16052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Who we are, what we offer, and how you can help.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3"/>
                </a:solidFill>
              </a:rPr>
              <a:t>MONDAY 26 OCTOBER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TODAY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questions, answered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order</a:t>
            </a:r>
            <a:endParaRPr lang="en-US" sz="3200" dirty="0"/>
          </a:p>
        </p:txBody>
      </p:sp>
      <p:sp>
        <p:nvSpPr>
          <p:cNvPr id="4" name="text-1"/>
          <p:cNvSpPr txBox="1"/>
          <p:nvPr/>
        </p:nvSpPr>
        <p:spPr>
          <a:xfrm>
            <a:off x="640080" y="2057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-2"/>
          <p:cNvSpPr txBox="1"/>
          <p:nvPr/>
        </p:nvSpPr>
        <p:spPr>
          <a:xfrm>
            <a:off x="169164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we are</a:t>
            </a:r>
            <a:endParaRPr lang="en-US" sz="2400" dirty="0"/>
          </a:p>
        </p:txBody>
      </p:sp>
      <p:sp>
        <p:nvSpPr>
          <p:cNvPr id="6" name="text-3"/>
          <p:cNvSpPr txBox="1"/>
          <p:nvPr/>
        </p:nvSpPr>
        <p:spPr>
          <a:xfrm>
            <a:off x="5669280" y="205740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What Extol does, in one line</a:t>
            </a:r>
            <a:endParaRPr lang="en-US" sz="1600" dirty="0"/>
          </a:p>
        </p:txBody>
      </p:sp>
      <p:sp>
        <p:nvSpPr>
          <p:cNvPr id="7" name="rule-4"/>
          <p:cNvSpPr/>
          <p:nvPr/>
        </p:nvSpPr>
        <p:spPr>
          <a:xfrm>
            <a:off x="1691640" y="2916936"/>
            <a:ext cx="9857232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-5"/>
          <p:cNvSpPr txBox="1"/>
          <p:nvPr/>
        </p:nvSpPr>
        <p:spPr>
          <a:xfrm>
            <a:off x="640080" y="304495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-6"/>
          <p:cNvSpPr txBox="1"/>
          <p:nvPr/>
        </p:nvSpPr>
        <p:spPr>
          <a:xfrm>
            <a:off x="1691640" y="3044952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we’ve done</a:t>
            </a:r>
            <a:endParaRPr lang="en-US" sz="2400" dirty="0"/>
          </a:p>
        </p:txBody>
      </p:sp>
      <p:sp>
        <p:nvSpPr>
          <p:cNvPr id="10" name="text-7"/>
          <p:cNvSpPr txBox="1"/>
          <p:nvPr/>
        </p:nvSpPr>
        <p:spPr>
          <a:xfrm>
            <a:off x="5669280" y="3044952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The clients we’ve worked with so far</a:t>
            </a:r>
            <a:endParaRPr lang="en-US" sz="1600" dirty="0"/>
          </a:p>
        </p:txBody>
      </p:sp>
      <p:sp>
        <p:nvSpPr>
          <p:cNvPr id="11" name="rule-8"/>
          <p:cNvSpPr/>
          <p:nvPr/>
        </p:nvSpPr>
        <p:spPr>
          <a:xfrm>
            <a:off x="1691640" y="3904488"/>
            <a:ext cx="9857232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-9"/>
          <p:cNvSpPr txBox="1"/>
          <p:nvPr/>
        </p:nvSpPr>
        <p:spPr>
          <a:xfrm>
            <a:off x="640080" y="403250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text-10"/>
          <p:cNvSpPr txBox="1"/>
          <p:nvPr/>
        </p:nvSpPr>
        <p:spPr>
          <a:xfrm>
            <a:off x="1691640" y="4032504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offer</a:t>
            </a:r>
            <a:endParaRPr lang="en-US" sz="2400" dirty="0"/>
          </a:p>
        </p:txBody>
      </p:sp>
      <p:sp>
        <p:nvSpPr>
          <p:cNvPr id="14" name="text-11"/>
          <p:cNvSpPr txBox="1"/>
          <p:nvPr/>
        </p:nvSpPr>
        <p:spPr>
          <a:xfrm>
            <a:off x="5669280" y="4032504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The system, why each part exists, and what it costs</a:t>
            </a:r>
            <a:endParaRPr lang="en-US" sz="1600" dirty="0"/>
          </a:p>
        </p:txBody>
      </p:sp>
      <p:sp>
        <p:nvSpPr>
          <p:cNvPr id="15" name="rule-12"/>
          <p:cNvSpPr/>
          <p:nvPr/>
        </p:nvSpPr>
        <p:spPr>
          <a:xfrm>
            <a:off x="1691640" y="4892040"/>
            <a:ext cx="9857232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-13"/>
          <p:cNvSpPr txBox="1"/>
          <p:nvPr/>
        </p:nvSpPr>
        <p:spPr>
          <a:xfrm>
            <a:off x="640080" y="5020056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600" dirty="0"/>
          </a:p>
        </p:txBody>
      </p:sp>
      <p:sp>
        <p:nvSpPr>
          <p:cNvPr id="17" name="text-14"/>
          <p:cNvSpPr txBox="1"/>
          <p:nvPr/>
        </p:nvSpPr>
        <p:spPr>
          <a:xfrm>
            <a:off x="1691640" y="5020056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role</a:t>
            </a:r>
            <a:endParaRPr lang="en-US" sz="2400" dirty="0"/>
          </a:p>
        </p:txBody>
      </p:sp>
      <p:sp>
        <p:nvSpPr>
          <p:cNvPr id="18" name="text-15"/>
          <p:cNvSpPr txBox="1"/>
          <p:nvPr/>
        </p:nvSpPr>
        <p:spPr>
          <a:xfrm>
            <a:off x="5669280" y="5020056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How you can help, and how we’d work together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154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we are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206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What Extol does, in one line.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6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1 / 4  ·  WHO WE ARE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make experts the name buyers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of first</a:t>
            </a:r>
            <a:endParaRPr lang="en-US" sz="3200" dirty="0"/>
          </a:p>
        </p:txBody>
      </p:sp>
      <p:sp>
        <p:nvSpPr>
          <p:cNvPr id="6" name="card-17"/>
          <p:cNvSpPr/>
          <p:nvPr/>
        </p:nvSpPr>
        <p:spPr>
          <a:xfrm>
            <a:off x="640080" y="2148840"/>
            <a:ext cx="3453384" cy="2926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7" name="icon-1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468880"/>
            <a:ext cx="502920" cy="502920"/>
          </a:xfrm>
          <a:prstGeom prst="rect">
            <a:avLst/>
          </a:prstGeom>
        </p:spPr>
      </p:pic>
      <p:sp>
        <p:nvSpPr>
          <p:cNvPr id="8" name="text-19"/>
          <p:cNvSpPr txBox="1"/>
          <p:nvPr/>
        </p:nvSpPr>
        <p:spPr>
          <a:xfrm>
            <a:off x="960120" y="3200400"/>
            <a:ext cx="2813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do</a:t>
            </a:r>
            <a:endParaRPr lang="en-US" sz="2100" dirty="0"/>
          </a:p>
        </p:txBody>
      </p:sp>
      <p:sp>
        <p:nvSpPr>
          <p:cNvPr id="9" name="text-20"/>
          <p:cNvSpPr txBox="1"/>
          <p:nvPr/>
        </p:nvSpPr>
        <p:spPr>
          <a:xfrm>
            <a:off x="960120" y="3749040"/>
            <a:ext cx="2813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Position the expert as a thought leader, then put them in front of the right buyers every week.</a:t>
            </a:r>
            <a:endParaRPr lang="en-US" sz="1500" dirty="0"/>
          </a:p>
        </p:txBody>
      </p:sp>
      <p:sp>
        <p:nvSpPr>
          <p:cNvPr id="10" name="card-21"/>
          <p:cNvSpPr/>
          <p:nvPr/>
        </p:nvSpPr>
        <p:spPr>
          <a:xfrm>
            <a:off x="4367784" y="2148840"/>
            <a:ext cx="3453384" cy="2926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1" name="icon-2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4" y="2468880"/>
            <a:ext cx="502920" cy="502920"/>
          </a:xfrm>
          <a:prstGeom prst="rect">
            <a:avLst/>
          </a:prstGeom>
        </p:spPr>
      </p:pic>
      <p:sp>
        <p:nvSpPr>
          <p:cNvPr id="12" name="text-23"/>
          <p:cNvSpPr txBox="1"/>
          <p:nvPr/>
        </p:nvSpPr>
        <p:spPr>
          <a:xfrm>
            <a:off x="4687824" y="3200400"/>
            <a:ext cx="2813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we are</a:t>
            </a:r>
            <a:endParaRPr lang="en-US" sz="2100" dirty="0"/>
          </a:p>
        </p:txBody>
      </p:sp>
      <p:sp>
        <p:nvSpPr>
          <p:cNvPr id="13" name="text-24"/>
          <p:cNvSpPr txBox="1"/>
          <p:nvPr/>
        </p:nvSpPr>
        <p:spPr>
          <a:xfrm>
            <a:off x="4687824" y="3749040"/>
            <a:ext cx="2813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Devasya Dwivedi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Anshul Mikita Prajapati</a:t>
            </a:r>
            <a:endParaRPr lang="en-US" sz="1500" dirty="0"/>
          </a:p>
        </p:txBody>
      </p:sp>
      <p:sp>
        <p:nvSpPr>
          <p:cNvPr id="14" name="card-25"/>
          <p:cNvSpPr/>
          <p:nvPr/>
        </p:nvSpPr>
        <p:spPr>
          <a:xfrm>
            <a:off x="8095488" y="2148840"/>
            <a:ext cx="3453384" cy="2926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5" name="icon-2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5528" y="2468880"/>
            <a:ext cx="502920" cy="502920"/>
          </a:xfrm>
          <a:prstGeom prst="rect">
            <a:avLst/>
          </a:prstGeom>
        </p:spPr>
      </p:pic>
      <p:sp>
        <p:nvSpPr>
          <p:cNvPr id="16" name="text-27"/>
          <p:cNvSpPr txBox="1"/>
          <p:nvPr/>
        </p:nvSpPr>
        <p:spPr>
          <a:xfrm>
            <a:off x="8415528" y="3200400"/>
            <a:ext cx="2813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work</a:t>
            </a:r>
            <a:endParaRPr lang="en-US" sz="2100" dirty="0"/>
          </a:p>
        </p:txBody>
      </p:sp>
      <p:sp>
        <p:nvSpPr>
          <p:cNvPr id="17" name="text-28"/>
          <p:cNvSpPr txBox="1"/>
          <p:nvPr/>
        </p:nvSpPr>
        <p:spPr>
          <a:xfrm>
            <a:off x="8415528" y="3749040"/>
            <a:ext cx="2813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AI agents do the heavy lifting. Nothing goes out without the client’s approval.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9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1 / 4  ·  WHO WE ARE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problem: buyers don’t know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great experts</a:t>
            </a:r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exist</a:t>
            </a:r>
            <a:endParaRPr lang="en-US" sz="3200" dirty="0"/>
          </a:p>
        </p:txBody>
      </p:sp>
      <p:sp>
        <p:nvSpPr>
          <p:cNvPr id="6" name="card-30"/>
          <p:cNvSpPr/>
          <p:nvPr/>
        </p:nvSpPr>
        <p:spPr>
          <a:xfrm>
            <a:off x="640080" y="2148840"/>
            <a:ext cx="3453384" cy="2743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7" name="icon-3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468880"/>
            <a:ext cx="502920" cy="502920"/>
          </a:xfrm>
          <a:prstGeom prst="rect">
            <a:avLst/>
          </a:prstGeom>
        </p:spPr>
      </p:pic>
      <p:sp>
        <p:nvSpPr>
          <p:cNvPr id="8" name="text-32"/>
          <p:cNvSpPr txBox="1"/>
          <p:nvPr/>
        </p:nvSpPr>
        <p:spPr>
          <a:xfrm>
            <a:off x="960120" y="3200400"/>
            <a:ext cx="2813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time</a:t>
            </a:r>
            <a:endParaRPr lang="en-US" sz="2100" dirty="0"/>
          </a:p>
        </p:txBody>
      </p:sp>
      <p:sp>
        <p:nvSpPr>
          <p:cNvPr id="9" name="text-33"/>
          <p:cNvSpPr txBox="1"/>
          <p:nvPr/>
        </p:nvSpPr>
        <p:spPr>
          <a:xfrm>
            <a:off x="960120" y="3749040"/>
            <a:ext cx="28133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Experts are busy doing the work. Marketing comes last.</a:t>
            </a:r>
            <a:endParaRPr lang="en-US" sz="1500" dirty="0"/>
          </a:p>
        </p:txBody>
      </p:sp>
      <p:sp>
        <p:nvSpPr>
          <p:cNvPr id="10" name="card-34"/>
          <p:cNvSpPr/>
          <p:nvPr/>
        </p:nvSpPr>
        <p:spPr>
          <a:xfrm>
            <a:off x="4367784" y="2148840"/>
            <a:ext cx="3453384" cy="2743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1" name="icon-3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4" y="2468880"/>
            <a:ext cx="502920" cy="502920"/>
          </a:xfrm>
          <a:prstGeom prst="rect">
            <a:avLst/>
          </a:prstGeom>
        </p:spPr>
      </p:pic>
      <p:sp>
        <p:nvSpPr>
          <p:cNvPr id="12" name="text-36"/>
          <p:cNvSpPr txBox="1"/>
          <p:nvPr/>
        </p:nvSpPr>
        <p:spPr>
          <a:xfrm>
            <a:off x="4687824" y="3200400"/>
            <a:ext cx="2813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system</a:t>
            </a:r>
            <a:endParaRPr lang="en-US" sz="2100" dirty="0"/>
          </a:p>
        </p:txBody>
      </p:sp>
      <p:sp>
        <p:nvSpPr>
          <p:cNvPr id="13" name="text-37"/>
          <p:cNvSpPr txBox="1"/>
          <p:nvPr/>
        </p:nvSpPr>
        <p:spPr>
          <a:xfrm>
            <a:off x="4687824" y="3749040"/>
            <a:ext cx="28133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New work comes only from referrals, so growth can’t be planned.</a:t>
            </a:r>
            <a:endParaRPr lang="en-US" sz="1500" dirty="0"/>
          </a:p>
        </p:txBody>
      </p:sp>
      <p:sp>
        <p:nvSpPr>
          <p:cNvPr id="14" name="card-38"/>
          <p:cNvSpPr/>
          <p:nvPr/>
        </p:nvSpPr>
        <p:spPr>
          <a:xfrm>
            <a:off x="8095488" y="2148840"/>
            <a:ext cx="3453384" cy="2743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5" name="icon-3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5528" y="2468880"/>
            <a:ext cx="502920" cy="502920"/>
          </a:xfrm>
          <a:prstGeom prst="rect">
            <a:avLst/>
          </a:prstGeom>
        </p:spPr>
      </p:pic>
      <p:sp>
        <p:nvSpPr>
          <p:cNvPr id="16" name="text-40"/>
          <p:cNvSpPr txBox="1"/>
          <p:nvPr/>
        </p:nvSpPr>
        <p:spPr>
          <a:xfrm>
            <a:off x="8415528" y="3200400"/>
            <a:ext cx="2813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much noise</a:t>
            </a:r>
            <a:endParaRPr lang="en-US" sz="2100" dirty="0"/>
          </a:p>
        </p:txBody>
      </p:sp>
      <p:sp>
        <p:nvSpPr>
          <p:cNvPr id="17" name="text-41"/>
          <p:cNvSpPr txBox="1"/>
          <p:nvPr/>
        </p:nvSpPr>
        <p:spPr>
          <a:xfrm>
            <a:off x="8415528" y="3749040"/>
            <a:ext cx="28133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Buyers ignore generic, AI-written posts and messages.</a:t>
            </a:r>
            <a:endParaRPr lang="en-US" sz="1500" dirty="0"/>
          </a:p>
        </p:txBody>
      </p:sp>
      <p:sp>
        <p:nvSpPr>
          <p:cNvPr id="18" name="text-42"/>
          <p:cNvSpPr txBox="1"/>
          <p:nvPr/>
        </p:nvSpPr>
        <p:spPr>
          <a:xfrm>
            <a:off x="640080" y="58521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Real example: a former Big Four partner had 1,597 LinkedIn followers and 9 reactions per post. Expert, but invisible.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3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1 / 4  ·  WHO WE ARE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audit shows it: real stories get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6×</a:t>
            </a:r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more attention</a:t>
            </a:r>
            <a:endParaRPr lang="en-US" sz="3200" dirty="0"/>
          </a:p>
        </p:txBody>
      </p:sp>
      <p:graphicFrame>
        <p:nvGraphicFramePr>
          <p:cNvPr id="6" name="stories-chart" descr=""/>
          <p:cNvGraphicFramePr/>
          <p:nvPr/>
        </p:nvGraphicFramePr>
        <p:xfrm>
          <a:off x="640080" y="201168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omments-chart" descr=""/>
          <p:cNvGraphicFramePr/>
          <p:nvPr/>
        </p:nvGraphicFramePr>
        <p:xfrm>
          <a:off x="6675120" y="2011680"/>
          <a:ext cx="48463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-44"/>
          <p:cNvSpPr txBox="1"/>
          <p:nvPr/>
        </p:nvSpPr>
        <p:spPr>
          <a:xfrm>
            <a:off x="640080" y="58521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The expertise is there. It just isn’t reaching buyers in a way they notice.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154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we’ve done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206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The clients we’ve worked with so far.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5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2 / 4  ·  WHAT WE’VE DONE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clients, three markets,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method</a:t>
            </a:r>
            <a:endParaRPr lang="en-US" sz="3200" dirty="0"/>
          </a:p>
        </p:txBody>
      </p:sp>
      <p:graphicFrame>
        <p:nvGraphicFramePr>
          <p:cNvPr id="9" name="table-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57400"/>
          <a:ext cx="109087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566160"/>
                <a:gridCol w="46908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chemeClr val="accent2"/>
                          </a:solidFill>
                        </a:rPr>
                        <a:t>CLIENT</a:t>
                      </a:r>
                      <a:endParaRPr lang="en-US" sz="1100" dirty="0"/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chemeClr val="accent2"/>
                          </a:solidFill>
                        </a:rPr>
                        <a:t>WHAT THEY SELL</a:t>
                      </a:r>
                      <a:endParaRPr lang="en-US" sz="1100" dirty="0"/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chemeClr val="accent2"/>
                          </a:solidFill>
                        </a:rPr>
                        <a:t>WHAT WE DID</a:t>
                      </a:r>
                      <a:endParaRPr lang="en-US" sz="1100" dirty="0"/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3D Images AI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3D product models for Amazon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Outreach to 2,100+ Amazon brand owners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Bloggerly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SEO articles for businesses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LinkedIn campaign; leads now asking for calls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UK consultancy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Finance and SAP advice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Full growth plan, delivered the day after the first call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7" name="card-47"/>
          <p:cNvSpPr/>
          <p:nvPr/>
        </p:nvSpPr>
        <p:spPr>
          <a:xfrm>
            <a:off x="640080" y="5120640"/>
            <a:ext cx="10908792" cy="640080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-48"/>
          <p:cNvSpPr txBox="1"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Our own proof: when Extol’s LinkedIn page reached about 50 followers, </a:t>
            </a:r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new clients started coming to us.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154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offer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206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The system, why each part exists, and what it costs.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9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3 / 4  ·  WHAT WE OFFER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goal: position the client as a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thoughtful leader</a:t>
            </a:r>
            <a:endParaRPr lang="en-US" sz="3200" dirty="0"/>
          </a:p>
        </p:txBody>
      </p:sp>
      <p:sp>
        <p:nvSpPr>
          <p:cNvPr id="6" name="card-50"/>
          <p:cNvSpPr/>
          <p:nvPr/>
        </p:nvSpPr>
        <p:spPr>
          <a:xfrm>
            <a:off x="2011680" y="2057400"/>
            <a:ext cx="4023360" cy="749808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pic>
        <p:nvPicPr>
          <p:cNvPr id="7" name="icon-5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0280" y="2240280"/>
            <a:ext cx="384048" cy="384048"/>
          </a:xfrm>
          <a:prstGeom prst="rect">
            <a:avLst/>
          </a:prstGeom>
        </p:spPr>
      </p:pic>
      <p:sp>
        <p:nvSpPr>
          <p:cNvPr id="8" name="text-52"/>
          <p:cNvSpPr txBox="1"/>
          <p:nvPr/>
        </p:nvSpPr>
        <p:spPr>
          <a:xfrm>
            <a:off x="2788920" y="21305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Presence</a:t>
            </a:r>
            <a:endParaRPr lang="en-US" sz="1700" dirty="0"/>
          </a:p>
        </p:txBody>
      </p:sp>
      <p:sp>
        <p:nvSpPr>
          <p:cNvPr id="9" name="text-53"/>
          <p:cNvSpPr txBox="1"/>
          <p:nvPr/>
        </p:nvSpPr>
        <p:spPr>
          <a:xfrm>
            <a:off x="2788920" y="24597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Feeds, inboxes, webinars and communities.</a:t>
            </a:r>
            <a:endParaRPr lang="en-US" sz="1200" dirty="0"/>
          </a:p>
        </p:txBody>
      </p:sp>
      <p:sp>
        <p:nvSpPr>
          <p:cNvPr id="10" name="card-54"/>
          <p:cNvSpPr/>
          <p:nvPr/>
        </p:nvSpPr>
        <p:spPr>
          <a:xfrm>
            <a:off x="1554480" y="2971800"/>
            <a:ext cx="4937760" cy="7498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1" name="icon-5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3154680"/>
            <a:ext cx="384048" cy="384048"/>
          </a:xfrm>
          <a:prstGeom prst="rect">
            <a:avLst/>
          </a:prstGeom>
        </p:spPr>
      </p:pic>
      <p:sp>
        <p:nvSpPr>
          <p:cNvPr id="12" name="text-56"/>
          <p:cNvSpPr txBox="1"/>
          <p:nvPr/>
        </p:nvSpPr>
        <p:spPr>
          <a:xfrm>
            <a:off x="2331720" y="304495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Proof</a:t>
            </a:r>
            <a:endParaRPr lang="en-US" sz="1700" dirty="0"/>
          </a:p>
        </p:txBody>
      </p:sp>
      <p:sp>
        <p:nvSpPr>
          <p:cNvPr id="13" name="text-57"/>
          <p:cNvSpPr txBox="1"/>
          <p:nvPr/>
        </p:nvSpPr>
        <p:spPr>
          <a:xfrm>
            <a:off x="2331720" y="3374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Client stories and results, named only with permission.</a:t>
            </a:r>
            <a:endParaRPr lang="en-US" sz="1200" dirty="0"/>
          </a:p>
        </p:txBody>
      </p:sp>
      <p:sp>
        <p:nvSpPr>
          <p:cNvPr id="14" name="card-58"/>
          <p:cNvSpPr/>
          <p:nvPr/>
        </p:nvSpPr>
        <p:spPr>
          <a:xfrm>
            <a:off x="1097280" y="3886200"/>
            <a:ext cx="5852160" cy="7498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5" name="icon-5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4069080"/>
            <a:ext cx="384048" cy="384048"/>
          </a:xfrm>
          <a:prstGeom prst="rect">
            <a:avLst/>
          </a:prstGeom>
        </p:spPr>
      </p:pic>
      <p:sp>
        <p:nvSpPr>
          <p:cNvPr id="16" name="text-60"/>
          <p:cNvSpPr txBox="1"/>
          <p:nvPr/>
        </p:nvSpPr>
        <p:spPr>
          <a:xfrm>
            <a:off x="1874520" y="39593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clear point of view</a:t>
            </a:r>
            <a:endParaRPr lang="en-US" sz="1700" dirty="0"/>
          </a:p>
        </p:txBody>
      </p:sp>
      <p:sp>
        <p:nvSpPr>
          <p:cNvPr id="17" name="text-61"/>
          <p:cNvSpPr txBox="1"/>
          <p:nvPr/>
        </p:nvSpPr>
        <p:spPr>
          <a:xfrm>
            <a:off x="1874520" y="42885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Weekly posts that take a side, in their own voice.</a:t>
            </a:r>
            <a:endParaRPr lang="en-US" sz="1200" dirty="0"/>
          </a:p>
        </p:txBody>
      </p:sp>
      <p:sp>
        <p:nvSpPr>
          <p:cNvPr id="18" name="card-62"/>
          <p:cNvSpPr/>
          <p:nvPr/>
        </p:nvSpPr>
        <p:spPr>
          <a:xfrm>
            <a:off x="640080" y="4800600"/>
            <a:ext cx="6766560" cy="7498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9" name="icon-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983480"/>
            <a:ext cx="384048" cy="384048"/>
          </a:xfrm>
          <a:prstGeom prst="rect">
            <a:avLst/>
          </a:prstGeom>
        </p:spPr>
      </p:pic>
      <p:sp>
        <p:nvSpPr>
          <p:cNvPr id="20" name="text-64"/>
          <p:cNvSpPr txBox="1"/>
          <p:nvPr/>
        </p:nvSpPr>
        <p:spPr>
          <a:xfrm>
            <a:off x="1417320" y="487375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signature idea</a:t>
            </a:r>
            <a:endParaRPr lang="en-US" sz="1700" dirty="0"/>
          </a:p>
        </p:txBody>
      </p:sp>
      <p:sp>
        <p:nvSpPr>
          <p:cNvPr id="21" name="text-65"/>
          <p:cNvSpPr txBox="1"/>
          <p:nvPr/>
        </p:nvSpPr>
        <p:spPr>
          <a:xfrm>
            <a:off x="1417320" y="520293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The line people remember and repeat.</a:t>
            </a:r>
            <a:endParaRPr lang="en-US" sz="1200" dirty="0"/>
          </a:p>
        </p:txBody>
      </p:sp>
      <p:sp>
        <p:nvSpPr>
          <p:cNvPr id="22" name="text-66"/>
          <p:cNvSpPr txBox="1"/>
          <p:nvPr/>
        </p:nvSpPr>
        <p:spPr>
          <a:xfrm>
            <a:off x="8001000" y="21945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an influencer.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voice buyers trust.</a:t>
            </a:r>
            <a:endParaRPr lang="en-US" sz="2600" dirty="0"/>
          </a:p>
        </p:txBody>
      </p:sp>
      <p:sp>
        <p:nvSpPr>
          <p:cNvPr id="23" name="text-67"/>
          <p:cNvSpPr txBox="1"/>
          <p:nvPr/>
        </p:nvSpPr>
        <p:spPr>
          <a:xfrm>
            <a:off x="8001000" y="352044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Buyers of big contracts never buy from one post. They buy from the person whose thinking they have followed for months, so when a budget lands, that is the first name they call.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8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3 / 4  ·  WHAT WE OFFER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system has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parts</a:t>
            </a:r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we run all of them</a:t>
            </a:r>
            <a:endParaRPr lang="en-US" sz="3200" dirty="0"/>
          </a:p>
        </p:txBody>
      </p:sp>
      <p:sp>
        <p:nvSpPr>
          <p:cNvPr id="6" name="card-69"/>
          <p:cNvSpPr/>
          <p:nvPr/>
        </p:nvSpPr>
        <p:spPr>
          <a:xfrm>
            <a:off x="640080" y="2057400"/>
            <a:ext cx="345338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7" name="icon-7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31720"/>
            <a:ext cx="411480" cy="411480"/>
          </a:xfrm>
          <a:prstGeom prst="rect">
            <a:avLst/>
          </a:prstGeom>
        </p:spPr>
      </p:pic>
      <p:sp>
        <p:nvSpPr>
          <p:cNvPr id="8" name="text-71"/>
          <p:cNvSpPr txBox="1"/>
          <p:nvPr/>
        </p:nvSpPr>
        <p:spPr>
          <a:xfrm>
            <a:off x="1508760" y="233172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LinkedIn, run by agents</a:t>
            </a:r>
            <a:endParaRPr lang="en-US" sz="1800" dirty="0"/>
          </a:p>
        </p:txBody>
      </p:sp>
      <p:sp>
        <p:nvSpPr>
          <p:cNvPr id="9" name="text-72"/>
          <p:cNvSpPr txBox="1"/>
          <p:nvPr/>
        </p:nvSpPr>
        <p:spPr>
          <a:xfrm>
            <a:off x="914400" y="2953512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Profile, posts, comments, connections and follow-ups.</a:t>
            </a:r>
            <a:endParaRPr lang="en-US" sz="1400" dirty="0"/>
          </a:p>
        </p:txBody>
      </p:sp>
      <p:sp>
        <p:nvSpPr>
          <p:cNvPr id="10" name="card-73"/>
          <p:cNvSpPr/>
          <p:nvPr/>
        </p:nvSpPr>
        <p:spPr>
          <a:xfrm>
            <a:off x="4367784" y="2057400"/>
            <a:ext cx="345338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1" name="icon-7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331720"/>
            <a:ext cx="411480" cy="411480"/>
          </a:xfrm>
          <a:prstGeom prst="rect">
            <a:avLst/>
          </a:prstGeom>
        </p:spPr>
      </p:pic>
      <p:sp>
        <p:nvSpPr>
          <p:cNvPr id="12" name="text-75"/>
          <p:cNvSpPr txBox="1"/>
          <p:nvPr/>
        </p:nvSpPr>
        <p:spPr>
          <a:xfrm>
            <a:off x="5236464" y="233172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Cross-platform posting</a:t>
            </a:r>
            <a:endParaRPr lang="en-US" sz="1800" dirty="0"/>
          </a:p>
        </p:txBody>
      </p:sp>
      <p:sp>
        <p:nvSpPr>
          <p:cNvPr id="13" name="text-76"/>
          <p:cNvSpPr txBox="1"/>
          <p:nvPr/>
        </p:nvSpPr>
        <p:spPr>
          <a:xfrm>
            <a:off x="4642104" y="2953512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One idea out to X, Instagram, Threads and Substack.</a:t>
            </a:r>
            <a:endParaRPr lang="en-US" sz="1400" dirty="0"/>
          </a:p>
        </p:txBody>
      </p:sp>
      <p:sp>
        <p:nvSpPr>
          <p:cNvPr id="14" name="card-77"/>
          <p:cNvSpPr/>
          <p:nvPr/>
        </p:nvSpPr>
        <p:spPr>
          <a:xfrm>
            <a:off x="8095488" y="2057400"/>
            <a:ext cx="345338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5" name="icon-7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9808" y="2331720"/>
            <a:ext cx="411480" cy="411480"/>
          </a:xfrm>
          <a:prstGeom prst="rect">
            <a:avLst/>
          </a:prstGeom>
        </p:spPr>
      </p:pic>
      <p:sp>
        <p:nvSpPr>
          <p:cNvPr id="16" name="text-79"/>
          <p:cNvSpPr txBox="1"/>
          <p:nvPr/>
        </p:nvSpPr>
        <p:spPr>
          <a:xfrm>
            <a:off x="8964168" y="233172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Webinars</a:t>
            </a:r>
            <a:endParaRPr lang="en-US" sz="1800" dirty="0"/>
          </a:p>
        </p:txBody>
      </p:sp>
      <p:sp>
        <p:nvSpPr>
          <p:cNvPr id="17" name="text-80"/>
          <p:cNvSpPr txBox="1"/>
          <p:nvPr/>
        </p:nvSpPr>
        <p:spPr>
          <a:xfrm>
            <a:off x="8369808" y="2953512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 monthly session that turns followers into conversations.</a:t>
            </a:r>
            <a:endParaRPr lang="en-US" sz="1400" dirty="0"/>
          </a:p>
        </p:txBody>
      </p:sp>
      <p:sp>
        <p:nvSpPr>
          <p:cNvPr id="18" name="card-81"/>
          <p:cNvSpPr/>
          <p:nvPr/>
        </p:nvSpPr>
        <p:spPr>
          <a:xfrm>
            <a:off x="640080" y="3931920"/>
            <a:ext cx="345338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9" name="icon-8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06240"/>
            <a:ext cx="411480" cy="411480"/>
          </a:xfrm>
          <a:prstGeom prst="rect">
            <a:avLst/>
          </a:prstGeom>
        </p:spPr>
      </p:pic>
      <p:sp>
        <p:nvSpPr>
          <p:cNvPr id="20" name="text-83"/>
          <p:cNvSpPr txBox="1"/>
          <p:nvPr/>
        </p:nvSpPr>
        <p:spPr>
          <a:xfrm>
            <a:off x="1508760" y="42062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Community on Skool</a:t>
            </a:r>
            <a:endParaRPr lang="en-US" sz="1800" dirty="0"/>
          </a:p>
        </p:txBody>
      </p:sp>
      <p:sp>
        <p:nvSpPr>
          <p:cNvPr id="21" name="text-84"/>
          <p:cNvSpPr txBox="1"/>
          <p:nvPr/>
        </p:nvSpPr>
        <p:spPr>
          <a:xfrm>
            <a:off x="914400" y="4828032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 home for the audience: waitlist, cohorts, membership.</a:t>
            </a:r>
            <a:endParaRPr lang="en-US" sz="1400" dirty="0"/>
          </a:p>
        </p:txBody>
      </p:sp>
      <p:sp>
        <p:nvSpPr>
          <p:cNvPr id="22" name="card-85"/>
          <p:cNvSpPr/>
          <p:nvPr/>
        </p:nvSpPr>
        <p:spPr>
          <a:xfrm>
            <a:off x="4367784" y="3931920"/>
            <a:ext cx="345338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23" name="icon-8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2104" y="4206240"/>
            <a:ext cx="411480" cy="411480"/>
          </a:xfrm>
          <a:prstGeom prst="rect">
            <a:avLst/>
          </a:prstGeom>
        </p:spPr>
      </p:pic>
      <p:sp>
        <p:nvSpPr>
          <p:cNvPr id="24" name="text-87"/>
          <p:cNvSpPr txBox="1"/>
          <p:nvPr/>
        </p:nvSpPr>
        <p:spPr>
          <a:xfrm>
            <a:off x="5236464" y="42062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 and articles</a:t>
            </a:r>
            <a:endParaRPr lang="en-US" sz="1800" dirty="0"/>
          </a:p>
        </p:txBody>
      </p:sp>
      <p:sp>
        <p:nvSpPr>
          <p:cNvPr id="25" name="text-88"/>
          <p:cNvSpPr txBox="1"/>
          <p:nvPr/>
        </p:nvSpPr>
        <p:spPr>
          <a:xfrm>
            <a:off x="4642104" y="4828032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One place to land, and articles that rank in search.</a:t>
            </a:r>
            <a:endParaRPr lang="en-US" sz="1400" dirty="0"/>
          </a:p>
        </p:txBody>
      </p:sp>
      <p:sp>
        <p:nvSpPr>
          <p:cNvPr id="26" name="card-89"/>
          <p:cNvSpPr/>
          <p:nvPr/>
        </p:nvSpPr>
        <p:spPr>
          <a:xfrm>
            <a:off x="8095488" y="3931920"/>
            <a:ext cx="345338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27" name="icon-9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9808" y="4206240"/>
            <a:ext cx="411480" cy="411480"/>
          </a:xfrm>
          <a:prstGeom prst="rect">
            <a:avLst/>
          </a:prstGeom>
        </p:spPr>
      </p:pic>
      <p:sp>
        <p:nvSpPr>
          <p:cNvPr id="28" name="text-91"/>
          <p:cNvSpPr txBox="1"/>
          <p:nvPr/>
        </p:nvSpPr>
        <p:spPr>
          <a:xfrm>
            <a:off x="8964168" y="42062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lang="en-US" sz="1800" dirty="0"/>
          </a:p>
        </p:txBody>
      </p:sp>
      <p:sp>
        <p:nvSpPr>
          <p:cNvPr id="29" name="text-92"/>
          <p:cNvSpPr txBox="1"/>
          <p:nvPr/>
        </p:nvSpPr>
        <p:spPr>
          <a:xfrm>
            <a:off x="8369808" y="4828032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 live dashboard and a monthly review of what works.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93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3 / 4  ·  WHAT WE OFFER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LinkedIn runs on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</a:t>
            </a:r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end to end</a:t>
            </a:r>
            <a:endParaRPr lang="en-US" sz="3200" dirty="0"/>
          </a:p>
        </p:txBody>
      </p:sp>
      <p:sp>
        <p:nvSpPr>
          <p:cNvPr id="6" name="spoke-94"/>
          <p:cNvSpPr/>
          <p:nvPr/>
        </p:nvSpPr>
        <p:spPr>
          <a:xfrm flipH="1">
            <a:off x="3931920" y="2316175"/>
            <a:ext cx="914" cy="1615745"/>
          </a:xfrm>
          <a:prstGeom prst="line">
            <a:avLst/>
          </a:prstGeom>
          <a:noFill/>
          <a:ln w="9525">
            <a:solidFill>
              <a:schemeClr val="accent3"/>
            </a:solidFill>
            <a:prstDash val="dash"/>
          </a:ln>
        </p:spPr>
      </p:sp>
      <p:sp>
        <p:nvSpPr>
          <p:cNvPr id="7" name="spoke-95"/>
          <p:cNvSpPr/>
          <p:nvPr/>
        </p:nvSpPr>
        <p:spPr>
          <a:xfrm flipH="1">
            <a:off x="3931920" y="3124048"/>
            <a:ext cx="2256897" cy="807872"/>
          </a:xfrm>
          <a:prstGeom prst="line">
            <a:avLst/>
          </a:prstGeom>
          <a:noFill/>
          <a:ln w="9525">
            <a:solidFill>
              <a:schemeClr val="accent3"/>
            </a:solidFill>
            <a:prstDash val="dash"/>
          </a:ln>
        </p:spPr>
      </p:sp>
      <p:sp>
        <p:nvSpPr>
          <p:cNvPr id="8" name="spoke-96"/>
          <p:cNvSpPr/>
          <p:nvPr/>
        </p:nvSpPr>
        <p:spPr>
          <a:xfrm>
            <a:off x="3931920" y="3931920"/>
            <a:ext cx="2256897" cy="807872"/>
          </a:xfrm>
          <a:prstGeom prst="line">
            <a:avLst/>
          </a:prstGeom>
          <a:noFill/>
          <a:ln w="9525">
            <a:solidFill>
              <a:schemeClr val="accent3"/>
            </a:solidFill>
            <a:prstDash val="dash"/>
          </a:ln>
        </p:spPr>
      </p:sp>
      <p:sp>
        <p:nvSpPr>
          <p:cNvPr id="9" name="spoke-97"/>
          <p:cNvSpPr/>
          <p:nvPr/>
        </p:nvSpPr>
        <p:spPr>
          <a:xfrm>
            <a:off x="3931920" y="3931920"/>
            <a:ext cx="914" cy="1615745"/>
          </a:xfrm>
          <a:prstGeom prst="line">
            <a:avLst/>
          </a:prstGeom>
          <a:noFill/>
          <a:ln w="9525">
            <a:solidFill>
              <a:schemeClr val="accent3"/>
            </a:solidFill>
            <a:prstDash val="dash"/>
          </a:ln>
        </p:spPr>
      </p:sp>
      <p:sp>
        <p:nvSpPr>
          <p:cNvPr id="10" name="spoke-98"/>
          <p:cNvSpPr/>
          <p:nvPr/>
        </p:nvSpPr>
        <p:spPr>
          <a:xfrm flipH="1">
            <a:off x="1675023" y="3931920"/>
            <a:ext cx="2256897" cy="807872"/>
          </a:xfrm>
          <a:prstGeom prst="line">
            <a:avLst/>
          </a:prstGeom>
          <a:noFill/>
          <a:ln w="9525">
            <a:solidFill>
              <a:schemeClr val="accent3"/>
            </a:solidFill>
            <a:prstDash val="dash"/>
          </a:ln>
        </p:spPr>
      </p:sp>
      <p:sp>
        <p:nvSpPr>
          <p:cNvPr id="11" name="spoke-99"/>
          <p:cNvSpPr/>
          <p:nvPr/>
        </p:nvSpPr>
        <p:spPr>
          <a:xfrm>
            <a:off x="1675023" y="3124048"/>
            <a:ext cx="2256897" cy="807872"/>
          </a:xfrm>
          <a:prstGeom prst="line">
            <a:avLst/>
          </a:prstGeom>
          <a:noFill/>
          <a:ln w="9525">
            <a:solidFill>
              <a:schemeClr val="accent3"/>
            </a:solidFill>
            <a:prstDash val="dash"/>
          </a:ln>
        </p:spPr>
      </p:sp>
      <p:sp>
        <p:nvSpPr>
          <p:cNvPr id="12" name="card-100"/>
          <p:cNvSpPr/>
          <p:nvPr/>
        </p:nvSpPr>
        <p:spPr>
          <a:xfrm>
            <a:off x="2788920" y="1932127"/>
            <a:ext cx="2286000" cy="76809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3" name="icon-10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3512" y="2133295"/>
            <a:ext cx="365760" cy="365760"/>
          </a:xfrm>
          <a:prstGeom prst="rect">
            <a:avLst/>
          </a:prstGeom>
        </p:spPr>
      </p:pic>
      <p:sp>
        <p:nvSpPr>
          <p:cNvPr id="14" name="text-102"/>
          <p:cNvSpPr txBox="1"/>
          <p:nvPr/>
        </p:nvSpPr>
        <p:spPr>
          <a:xfrm>
            <a:off x="3410712" y="2014423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Research</a:t>
            </a:r>
            <a:endParaRPr lang="en-US" sz="1400" dirty="0"/>
          </a:p>
        </p:txBody>
      </p:sp>
      <p:sp>
        <p:nvSpPr>
          <p:cNvPr id="15" name="text-103"/>
          <p:cNvSpPr txBox="1"/>
          <p:nvPr/>
        </p:nvSpPr>
        <p:spPr>
          <a:xfrm>
            <a:off x="3410712" y="2325319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buyers with a reason</a:t>
            </a:r>
            <a:endParaRPr lang="en-US" sz="1100" dirty="0"/>
          </a:p>
        </p:txBody>
      </p:sp>
      <p:sp>
        <p:nvSpPr>
          <p:cNvPr id="16" name="card-104"/>
          <p:cNvSpPr/>
          <p:nvPr/>
        </p:nvSpPr>
        <p:spPr>
          <a:xfrm>
            <a:off x="5045817" y="2740000"/>
            <a:ext cx="2286000" cy="76809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7" name="icon-10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0409" y="2941168"/>
            <a:ext cx="365760" cy="365760"/>
          </a:xfrm>
          <a:prstGeom prst="rect">
            <a:avLst/>
          </a:prstGeom>
        </p:spPr>
      </p:pic>
      <p:sp>
        <p:nvSpPr>
          <p:cNvPr id="18" name="text-106"/>
          <p:cNvSpPr txBox="1"/>
          <p:nvPr/>
        </p:nvSpPr>
        <p:spPr>
          <a:xfrm>
            <a:off x="5667609" y="282229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Connect</a:t>
            </a:r>
            <a:endParaRPr lang="en-US" sz="1400" dirty="0"/>
          </a:p>
        </p:txBody>
      </p:sp>
      <p:sp>
        <p:nvSpPr>
          <p:cNvPr id="19" name="text-107"/>
          <p:cNvSpPr txBox="1"/>
          <p:nvPr/>
        </p:nvSpPr>
        <p:spPr>
          <a:xfrm>
            <a:off x="5667609" y="3133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at a human pace</a:t>
            </a:r>
            <a:endParaRPr lang="en-US" sz="1100" dirty="0"/>
          </a:p>
        </p:txBody>
      </p:sp>
      <p:sp>
        <p:nvSpPr>
          <p:cNvPr id="20" name="card-108"/>
          <p:cNvSpPr/>
          <p:nvPr/>
        </p:nvSpPr>
        <p:spPr>
          <a:xfrm>
            <a:off x="5045817" y="4355744"/>
            <a:ext cx="2286000" cy="76809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21" name="icon-10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409" y="4556912"/>
            <a:ext cx="365760" cy="365760"/>
          </a:xfrm>
          <a:prstGeom prst="rect">
            <a:avLst/>
          </a:prstGeom>
        </p:spPr>
      </p:pic>
      <p:sp>
        <p:nvSpPr>
          <p:cNvPr id="22" name="text-110"/>
          <p:cNvSpPr txBox="1"/>
          <p:nvPr/>
        </p:nvSpPr>
        <p:spPr>
          <a:xfrm>
            <a:off x="5667609" y="44380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Comment</a:t>
            </a:r>
            <a:endParaRPr lang="en-US" sz="1400" dirty="0"/>
          </a:p>
        </p:txBody>
      </p:sp>
      <p:sp>
        <p:nvSpPr>
          <p:cNvPr id="23" name="text-111"/>
          <p:cNvSpPr txBox="1"/>
          <p:nvPr/>
        </p:nvSpPr>
        <p:spPr>
          <a:xfrm>
            <a:off x="5667609" y="474893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3–5 comments a day</a:t>
            </a:r>
            <a:endParaRPr lang="en-US" sz="1100" dirty="0"/>
          </a:p>
        </p:txBody>
      </p:sp>
      <p:sp>
        <p:nvSpPr>
          <p:cNvPr id="24" name="card-112"/>
          <p:cNvSpPr/>
          <p:nvPr/>
        </p:nvSpPr>
        <p:spPr>
          <a:xfrm>
            <a:off x="2788920" y="5163617"/>
            <a:ext cx="2286000" cy="76809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25" name="icon-1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3512" y="5364785"/>
            <a:ext cx="365760" cy="365760"/>
          </a:xfrm>
          <a:prstGeom prst="rect">
            <a:avLst/>
          </a:prstGeom>
        </p:spPr>
      </p:pic>
      <p:sp>
        <p:nvSpPr>
          <p:cNvPr id="26" name="text-114"/>
          <p:cNvSpPr txBox="1"/>
          <p:nvPr/>
        </p:nvSpPr>
        <p:spPr>
          <a:xfrm>
            <a:off x="3410712" y="5245913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Post</a:t>
            </a:r>
            <a:endParaRPr lang="en-US" sz="1400" dirty="0"/>
          </a:p>
        </p:txBody>
      </p:sp>
      <p:sp>
        <p:nvSpPr>
          <p:cNvPr id="27" name="text-115"/>
          <p:cNvSpPr txBox="1"/>
          <p:nvPr/>
        </p:nvSpPr>
        <p:spPr>
          <a:xfrm>
            <a:off x="3410712" y="5556809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weekly, in their voice</a:t>
            </a:r>
            <a:endParaRPr lang="en-US" sz="1100" dirty="0"/>
          </a:p>
        </p:txBody>
      </p:sp>
      <p:sp>
        <p:nvSpPr>
          <p:cNvPr id="28" name="card-116"/>
          <p:cNvSpPr/>
          <p:nvPr/>
        </p:nvSpPr>
        <p:spPr>
          <a:xfrm>
            <a:off x="532023" y="4355744"/>
            <a:ext cx="2286000" cy="76809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29" name="icon-11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615" y="4556912"/>
            <a:ext cx="365760" cy="365760"/>
          </a:xfrm>
          <a:prstGeom prst="rect">
            <a:avLst/>
          </a:prstGeom>
        </p:spPr>
      </p:pic>
      <p:sp>
        <p:nvSpPr>
          <p:cNvPr id="30" name="text-118"/>
          <p:cNvSpPr txBox="1"/>
          <p:nvPr/>
        </p:nvSpPr>
        <p:spPr>
          <a:xfrm>
            <a:off x="1153815" y="44380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Follow up</a:t>
            </a:r>
            <a:endParaRPr lang="en-US" sz="1400" dirty="0"/>
          </a:p>
        </p:txBody>
      </p:sp>
      <p:sp>
        <p:nvSpPr>
          <p:cNvPr id="31" name="text-119"/>
          <p:cNvSpPr txBox="1"/>
          <p:nvPr/>
        </p:nvSpPr>
        <p:spPr>
          <a:xfrm>
            <a:off x="1153815" y="474893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DMs, never a pitch</a:t>
            </a:r>
            <a:endParaRPr lang="en-US" sz="1100" dirty="0"/>
          </a:p>
        </p:txBody>
      </p:sp>
      <p:sp>
        <p:nvSpPr>
          <p:cNvPr id="32" name="card-120"/>
          <p:cNvSpPr/>
          <p:nvPr/>
        </p:nvSpPr>
        <p:spPr>
          <a:xfrm>
            <a:off x="532023" y="2740000"/>
            <a:ext cx="2286000" cy="76809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33" name="icon-12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615" y="2941168"/>
            <a:ext cx="365760" cy="365760"/>
          </a:xfrm>
          <a:prstGeom prst="rect">
            <a:avLst/>
          </a:prstGeom>
        </p:spPr>
      </p:pic>
      <p:sp>
        <p:nvSpPr>
          <p:cNvPr id="34" name="text-122"/>
          <p:cNvSpPr txBox="1"/>
          <p:nvPr/>
        </p:nvSpPr>
        <p:spPr>
          <a:xfrm>
            <a:off x="1153815" y="282229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</a:t>
            </a:r>
            <a:endParaRPr lang="en-US" sz="1400" dirty="0"/>
          </a:p>
        </p:txBody>
      </p:sp>
      <p:sp>
        <p:nvSpPr>
          <p:cNvPr id="35" name="text-123"/>
          <p:cNvSpPr txBox="1"/>
          <p:nvPr/>
        </p:nvSpPr>
        <p:spPr>
          <a:xfrm>
            <a:off x="1153815" y="3133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who replied and booked</a:t>
            </a:r>
            <a:endParaRPr lang="en-US" sz="1100" dirty="0"/>
          </a:p>
        </p:txBody>
      </p:sp>
      <p:sp>
        <p:nvSpPr>
          <p:cNvPr id="36" name="hub-124"/>
          <p:cNvSpPr/>
          <p:nvPr/>
        </p:nvSpPr>
        <p:spPr>
          <a:xfrm>
            <a:off x="2971800" y="2971800"/>
            <a:ext cx="1920240" cy="1920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7" name="text-125"/>
          <p:cNvSpPr txBox="1"/>
          <p:nvPr/>
        </p:nvSpPr>
        <p:spPr>
          <a:xfrm>
            <a:off x="3063240" y="33832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client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approves</a:t>
            </a:r>
            <a:endParaRPr lang="en-US" sz="1600" dirty="0"/>
          </a:p>
        </p:txBody>
      </p:sp>
      <p:sp>
        <p:nvSpPr>
          <p:cNvPr id="38" name="text-126"/>
          <p:cNvSpPr txBox="1"/>
          <p:nvPr/>
        </p:nvSpPr>
        <p:spPr>
          <a:xfrm>
            <a:off x="8138160" y="2148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WHAT THE CLIENT DOES</a:t>
            </a:r>
            <a:endParaRPr lang="en-US" sz="1100" dirty="0"/>
          </a:p>
        </p:txBody>
      </p:sp>
      <p:sp>
        <p:nvSpPr>
          <p:cNvPr id="39" name="text-127"/>
          <p:cNvSpPr txBox="1"/>
          <p:nvPr/>
        </p:nvSpPr>
        <p:spPr>
          <a:xfrm>
            <a:off x="8138160" y="25603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10 minutes a day, approving drafts on their phone.</a:t>
            </a:r>
            <a:endParaRPr lang="en-US" sz="2000" dirty="0"/>
          </a:p>
        </p:txBody>
      </p:sp>
      <p:sp>
        <p:nvSpPr>
          <p:cNvPr id="40" name="text-128"/>
          <p:cNvSpPr txBox="1"/>
          <p:nvPr/>
        </p:nvSpPr>
        <p:spPr>
          <a:xfrm>
            <a:off x="8138160" y="3794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WHAT THEY NEVER DO</a:t>
            </a:r>
            <a:endParaRPr lang="en-US" sz="1100" dirty="0"/>
          </a:p>
        </p:txBody>
      </p:sp>
      <p:sp>
        <p:nvSpPr>
          <p:cNvPr id="41" name="text-129"/>
          <p:cNvSpPr txBox="1"/>
          <p:nvPr/>
        </p:nvSpPr>
        <p:spPr>
          <a:xfrm>
            <a:off x="8138160" y="42062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Write from scratch, chase connections, or remember who to follow up.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30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3 / 4  ·  WHAT WE OFFER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idea, published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everywhere</a:t>
            </a:r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buyers look</a:t>
            </a:r>
            <a:endParaRPr lang="en-US" sz="3200" dirty="0"/>
          </a:p>
        </p:txBody>
      </p:sp>
      <p:sp>
        <p:nvSpPr>
          <p:cNvPr id="6" name="spoke-131"/>
          <p:cNvSpPr/>
          <p:nvPr/>
        </p:nvSpPr>
        <p:spPr>
          <a:xfrm flipH="1">
            <a:off x="3931920" y="2316175"/>
            <a:ext cx="914" cy="1615745"/>
          </a:xfrm>
          <a:prstGeom prst="line">
            <a:avLst/>
          </a:prstGeom>
          <a:noFill/>
          <a:ln w="9525">
            <a:solidFill>
              <a:schemeClr val="accent3"/>
            </a:solidFill>
            <a:prstDash val="dash"/>
          </a:ln>
        </p:spPr>
      </p:sp>
      <p:sp>
        <p:nvSpPr>
          <p:cNvPr id="7" name="spoke-132"/>
          <p:cNvSpPr/>
          <p:nvPr/>
        </p:nvSpPr>
        <p:spPr>
          <a:xfrm flipH="1">
            <a:off x="3931920" y="3124048"/>
            <a:ext cx="2256897" cy="807872"/>
          </a:xfrm>
          <a:prstGeom prst="line">
            <a:avLst/>
          </a:prstGeom>
          <a:noFill/>
          <a:ln w="9525">
            <a:solidFill>
              <a:schemeClr val="accent3"/>
            </a:solidFill>
            <a:prstDash val="dash"/>
          </a:ln>
        </p:spPr>
      </p:sp>
      <p:sp>
        <p:nvSpPr>
          <p:cNvPr id="8" name="spoke-133"/>
          <p:cNvSpPr/>
          <p:nvPr/>
        </p:nvSpPr>
        <p:spPr>
          <a:xfrm>
            <a:off x="3931920" y="3931920"/>
            <a:ext cx="2256897" cy="807872"/>
          </a:xfrm>
          <a:prstGeom prst="line">
            <a:avLst/>
          </a:prstGeom>
          <a:noFill/>
          <a:ln w="9525">
            <a:solidFill>
              <a:schemeClr val="accent3"/>
            </a:solidFill>
            <a:prstDash val="dash"/>
          </a:ln>
        </p:spPr>
      </p:sp>
      <p:sp>
        <p:nvSpPr>
          <p:cNvPr id="9" name="spoke-134"/>
          <p:cNvSpPr/>
          <p:nvPr/>
        </p:nvSpPr>
        <p:spPr>
          <a:xfrm>
            <a:off x="3931920" y="3931920"/>
            <a:ext cx="914" cy="1615745"/>
          </a:xfrm>
          <a:prstGeom prst="line">
            <a:avLst/>
          </a:prstGeom>
          <a:noFill/>
          <a:ln w="9525">
            <a:solidFill>
              <a:schemeClr val="accent3"/>
            </a:solidFill>
            <a:prstDash val="dash"/>
          </a:ln>
        </p:spPr>
      </p:sp>
      <p:sp>
        <p:nvSpPr>
          <p:cNvPr id="10" name="spoke-135"/>
          <p:cNvSpPr/>
          <p:nvPr/>
        </p:nvSpPr>
        <p:spPr>
          <a:xfrm flipH="1">
            <a:off x="1675023" y="3931920"/>
            <a:ext cx="2256897" cy="807872"/>
          </a:xfrm>
          <a:prstGeom prst="line">
            <a:avLst/>
          </a:prstGeom>
          <a:noFill/>
          <a:ln w="9525">
            <a:solidFill>
              <a:schemeClr val="accent3"/>
            </a:solidFill>
            <a:prstDash val="dash"/>
          </a:ln>
        </p:spPr>
      </p:sp>
      <p:sp>
        <p:nvSpPr>
          <p:cNvPr id="11" name="spoke-136"/>
          <p:cNvSpPr/>
          <p:nvPr/>
        </p:nvSpPr>
        <p:spPr>
          <a:xfrm>
            <a:off x="1675023" y="3124048"/>
            <a:ext cx="2256897" cy="807872"/>
          </a:xfrm>
          <a:prstGeom prst="line">
            <a:avLst/>
          </a:prstGeom>
          <a:noFill/>
          <a:ln w="9525">
            <a:solidFill>
              <a:schemeClr val="accent3"/>
            </a:solidFill>
            <a:prstDash val="dash"/>
          </a:ln>
        </p:spPr>
      </p:sp>
      <p:sp>
        <p:nvSpPr>
          <p:cNvPr id="12" name="card-137"/>
          <p:cNvSpPr/>
          <p:nvPr/>
        </p:nvSpPr>
        <p:spPr>
          <a:xfrm>
            <a:off x="2788920" y="1932127"/>
            <a:ext cx="2286000" cy="76809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3" name="icon-13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3512" y="2133295"/>
            <a:ext cx="365760" cy="365760"/>
          </a:xfrm>
          <a:prstGeom prst="rect">
            <a:avLst/>
          </a:prstGeom>
        </p:spPr>
      </p:pic>
      <p:sp>
        <p:nvSpPr>
          <p:cNvPr id="14" name="text-139"/>
          <p:cNvSpPr txBox="1"/>
          <p:nvPr/>
        </p:nvSpPr>
        <p:spPr>
          <a:xfrm>
            <a:off x="3410712" y="2014423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LinkedIn</a:t>
            </a:r>
            <a:endParaRPr lang="en-US" sz="1400" dirty="0"/>
          </a:p>
        </p:txBody>
      </p:sp>
      <p:sp>
        <p:nvSpPr>
          <p:cNvPr id="15" name="text-140"/>
          <p:cNvSpPr txBox="1"/>
          <p:nvPr/>
        </p:nvSpPr>
        <p:spPr>
          <a:xfrm>
            <a:off x="3410712" y="2325319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posts, newsletter</a:t>
            </a:r>
            <a:endParaRPr lang="en-US" sz="1100" dirty="0"/>
          </a:p>
        </p:txBody>
      </p:sp>
      <p:sp>
        <p:nvSpPr>
          <p:cNvPr id="16" name="card-141"/>
          <p:cNvSpPr/>
          <p:nvPr/>
        </p:nvSpPr>
        <p:spPr>
          <a:xfrm>
            <a:off x="5045817" y="2740000"/>
            <a:ext cx="2286000" cy="76809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7" name="icon-14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0409" y="2941168"/>
            <a:ext cx="365760" cy="365760"/>
          </a:xfrm>
          <a:prstGeom prst="rect">
            <a:avLst/>
          </a:prstGeom>
        </p:spPr>
      </p:pic>
      <p:sp>
        <p:nvSpPr>
          <p:cNvPr id="18" name="text-143"/>
          <p:cNvSpPr txBox="1"/>
          <p:nvPr/>
        </p:nvSpPr>
        <p:spPr>
          <a:xfrm>
            <a:off x="5667609" y="282229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X</a:t>
            </a:r>
            <a:endParaRPr lang="en-US" sz="1400" dirty="0"/>
          </a:p>
        </p:txBody>
      </p:sp>
      <p:sp>
        <p:nvSpPr>
          <p:cNvPr id="19" name="text-144"/>
          <p:cNvSpPr txBox="1"/>
          <p:nvPr/>
        </p:nvSpPr>
        <p:spPr>
          <a:xfrm>
            <a:off x="5667609" y="3133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takes and threads</a:t>
            </a:r>
            <a:endParaRPr lang="en-US" sz="1100" dirty="0"/>
          </a:p>
        </p:txBody>
      </p:sp>
      <p:sp>
        <p:nvSpPr>
          <p:cNvPr id="20" name="card-145"/>
          <p:cNvSpPr/>
          <p:nvPr/>
        </p:nvSpPr>
        <p:spPr>
          <a:xfrm>
            <a:off x="5045817" y="4355744"/>
            <a:ext cx="2286000" cy="76809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21" name="icon-14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409" y="4556912"/>
            <a:ext cx="365760" cy="365760"/>
          </a:xfrm>
          <a:prstGeom prst="rect">
            <a:avLst/>
          </a:prstGeom>
        </p:spPr>
      </p:pic>
      <p:sp>
        <p:nvSpPr>
          <p:cNvPr id="22" name="text-147"/>
          <p:cNvSpPr txBox="1"/>
          <p:nvPr/>
        </p:nvSpPr>
        <p:spPr>
          <a:xfrm>
            <a:off x="5667609" y="44380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Instagram</a:t>
            </a:r>
            <a:endParaRPr lang="en-US" sz="1400" dirty="0"/>
          </a:p>
        </p:txBody>
      </p:sp>
      <p:sp>
        <p:nvSpPr>
          <p:cNvPr id="23" name="text-148"/>
          <p:cNvSpPr txBox="1"/>
          <p:nvPr/>
        </p:nvSpPr>
        <p:spPr>
          <a:xfrm>
            <a:off x="5667609" y="474893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carousels and clips</a:t>
            </a:r>
            <a:endParaRPr lang="en-US" sz="1100" dirty="0"/>
          </a:p>
        </p:txBody>
      </p:sp>
      <p:sp>
        <p:nvSpPr>
          <p:cNvPr id="24" name="card-149"/>
          <p:cNvSpPr/>
          <p:nvPr/>
        </p:nvSpPr>
        <p:spPr>
          <a:xfrm>
            <a:off x="2788920" y="5163617"/>
            <a:ext cx="2286000" cy="76809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25" name="icon-15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3512" y="5364785"/>
            <a:ext cx="365760" cy="365760"/>
          </a:xfrm>
          <a:prstGeom prst="rect">
            <a:avLst/>
          </a:prstGeom>
        </p:spPr>
      </p:pic>
      <p:sp>
        <p:nvSpPr>
          <p:cNvPr id="26" name="text-151"/>
          <p:cNvSpPr txBox="1"/>
          <p:nvPr/>
        </p:nvSpPr>
        <p:spPr>
          <a:xfrm>
            <a:off x="3410712" y="5245913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Threads</a:t>
            </a:r>
            <a:endParaRPr lang="en-US" sz="1400" dirty="0"/>
          </a:p>
        </p:txBody>
      </p:sp>
      <p:sp>
        <p:nvSpPr>
          <p:cNvPr id="27" name="text-152"/>
          <p:cNvSpPr txBox="1"/>
          <p:nvPr/>
        </p:nvSpPr>
        <p:spPr>
          <a:xfrm>
            <a:off x="3410712" y="5556809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text versions</a:t>
            </a:r>
            <a:endParaRPr lang="en-US" sz="1100" dirty="0"/>
          </a:p>
        </p:txBody>
      </p:sp>
      <p:sp>
        <p:nvSpPr>
          <p:cNvPr id="28" name="card-153"/>
          <p:cNvSpPr/>
          <p:nvPr/>
        </p:nvSpPr>
        <p:spPr>
          <a:xfrm>
            <a:off x="532023" y="4355744"/>
            <a:ext cx="2286000" cy="76809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29" name="icon-15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615" y="4556912"/>
            <a:ext cx="365760" cy="365760"/>
          </a:xfrm>
          <a:prstGeom prst="rect">
            <a:avLst/>
          </a:prstGeom>
        </p:spPr>
      </p:pic>
      <p:sp>
        <p:nvSpPr>
          <p:cNvPr id="30" name="text-155"/>
          <p:cNvSpPr txBox="1"/>
          <p:nvPr/>
        </p:nvSpPr>
        <p:spPr>
          <a:xfrm>
            <a:off x="1153815" y="44380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Substack</a:t>
            </a:r>
            <a:endParaRPr lang="en-US" sz="1400" dirty="0"/>
          </a:p>
        </p:txBody>
      </p:sp>
      <p:sp>
        <p:nvSpPr>
          <p:cNvPr id="31" name="text-156"/>
          <p:cNvSpPr txBox="1"/>
          <p:nvPr/>
        </p:nvSpPr>
        <p:spPr>
          <a:xfrm>
            <a:off x="1153815" y="474893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 newsletter they own</a:t>
            </a:r>
            <a:endParaRPr lang="en-US" sz="1100" dirty="0"/>
          </a:p>
        </p:txBody>
      </p:sp>
      <p:sp>
        <p:nvSpPr>
          <p:cNvPr id="32" name="card-157"/>
          <p:cNvSpPr/>
          <p:nvPr/>
        </p:nvSpPr>
        <p:spPr>
          <a:xfrm>
            <a:off x="532023" y="2740000"/>
            <a:ext cx="2286000" cy="76809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33" name="icon-15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615" y="2941168"/>
            <a:ext cx="365760" cy="365760"/>
          </a:xfrm>
          <a:prstGeom prst="rect">
            <a:avLst/>
          </a:prstGeom>
        </p:spPr>
      </p:pic>
      <p:sp>
        <p:nvSpPr>
          <p:cNvPr id="34" name="text-159"/>
          <p:cNvSpPr txBox="1"/>
          <p:nvPr/>
        </p:nvSpPr>
        <p:spPr>
          <a:xfrm>
            <a:off x="1153815" y="282229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YouTube</a:t>
            </a:r>
            <a:endParaRPr lang="en-US" sz="1400" dirty="0"/>
          </a:p>
        </p:txBody>
      </p:sp>
      <p:sp>
        <p:nvSpPr>
          <p:cNvPr id="35" name="text-160"/>
          <p:cNvSpPr txBox="1"/>
          <p:nvPr/>
        </p:nvSpPr>
        <p:spPr>
          <a:xfrm>
            <a:off x="1153815" y="3133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webinar replays</a:t>
            </a:r>
            <a:endParaRPr lang="en-US" sz="1100" dirty="0"/>
          </a:p>
        </p:txBody>
      </p:sp>
      <p:sp>
        <p:nvSpPr>
          <p:cNvPr id="36" name="hub-161"/>
          <p:cNvSpPr/>
          <p:nvPr/>
        </p:nvSpPr>
        <p:spPr>
          <a:xfrm>
            <a:off x="2971800" y="2971800"/>
            <a:ext cx="1920240" cy="1920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7" name="text-162"/>
          <p:cNvSpPr txBox="1"/>
          <p:nvPr/>
        </p:nvSpPr>
        <p:spPr>
          <a:xfrm>
            <a:off x="3063240" y="33832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note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</a:t>
            </a:r>
            <a:endParaRPr lang="en-US" sz="1600" dirty="0"/>
          </a:p>
        </p:txBody>
      </p:sp>
      <p:sp>
        <p:nvSpPr>
          <p:cNvPr id="38" name="text-163"/>
          <p:cNvSpPr txBox="1"/>
          <p:nvPr/>
        </p:nvSpPr>
        <p:spPr>
          <a:xfrm>
            <a:off x="8138160" y="2148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WHY</a:t>
            </a:r>
            <a:endParaRPr lang="en-US" sz="1100" dirty="0"/>
          </a:p>
        </p:txBody>
      </p:sp>
      <p:sp>
        <p:nvSpPr>
          <p:cNvPr id="39" name="text-164"/>
          <p:cNvSpPr txBox="1"/>
          <p:nvPr/>
        </p:nvSpPr>
        <p:spPr>
          <a:xfrm>
            <a:off x="8138160" y="25603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once. Be seen in six places.</a:t>
            </a:r>
            <a:endParaRPr lang="en-US" sz="2000" dirty="0"/>
          </a:p>
        </p:txBody>
      </p:sp>
      <p:sp>
        <p:nvSpPr>
          <p:cNvPr id="40" name="text-165"/>
          <p:cNvSpPr txBox="1"/>
          <p:nvPr/>
        </p:nvSpPr>
        <p:spPr>
          <a:xfrm>
            <a:off x="8138160" y="361188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Buyers don’t all live on LinkedIn. The same thinking reaches them wherever they read, and the newsletter builds an audience the client owns.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66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3 / 4  ·  WHAT WE OFFER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Webinars and community turn followers into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clients</a:t>
            </a:r>
            <a:endParaRPr lang="en-US" sz="3200" dirty="0"/>
          </a:p>
        </p:txBody>
      </p:sp>
      <p:sp>
        <p:nvSpPr>
          <p:cNvPr id="6" name="card-167"/>
          <p:cNvSpPr/>
          <p:nvPr/>
        </p:nvSpPr>
        <p:spPr>
          <a:xfrm>
            <a:off x="640080" y="2057400"/>
            <a:ext cx="5312664" cy="36118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7" name="icon-16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77440"/>
            <a:ext cx="502920" cy="502920"/>
          </a:xfrm>
          <a:prstGeom prst="rect">
            <a:avLst/>
          </a:prstGeom>
        </p:spPr>
      </p:pic>
      <p:sp>
        <p:nvSpPr>
          <p:cNvPr id="8" name="text-169"/>
          <p:cNvSpPr txBox="1"/>
          <p:nvPr/>
        </p:nvSpPr>
        <p:spPr>
          <a:xfrm>
            <a:off x="1691640" y="23317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Webinars</a:t>
            </a:r>
            <a:endParaRPr lang="en-US" sz="2200" dirty="0"/>
          </a:p>
        </p:txBody>
      </p:sp>
      <p:sp>
        <p:nvSpPr>
          <p:cNvPr id="9" name="text-170"/>
          <p:cNvSpPr txBox="1"/>
          <p:nvPr/>
        </p:nvSpPr>
        <p:spPr>
          <a:xfrm>
            <a:off x="1691640" y="2761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MONTHLY, 45 MINUTES</a:t>
            </a:r>
            <a:endParaRPr lang="en-US" sz="1100" dirty="0"/>
          </a:p>
        </p:txBody>
      </p:sp>
      <p:sp>
        <p:nvSpPr>
          <p:cNvPr id="10" name="text-171"/>
          <p:cNvSpPr txBox="1"/>
          <p:nvPr/>
        </p:nvSpPr>
        <p:spPr>
          <a:xfrm>
            <a:off x="1005840" y="33832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—</a:t>
            </a:r>
            <a:endParaRPr lang="en-US" sz="1500" dirty="0"/>
          </a:p>
        </p:txBody>
      </p:sp>
      <p:sp>
        <p:nvSpPr>
          <p:cNvPr id="11" name="text-172"/>
          <p:cNvSpPr txBox="1"/>
          <p:nvPr/>
        </p:nvSpPr>
        <p:spPr>
          <a:xfrm>
            <a:off x="1417320" y="33832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Buyers bring a real problem; the expert solves it live</a:t>
            </a:r>
            <a:endParaRPr lang="en-US" sz="1500" dirty="0"/>
          </a:p>
        </p:txBody>
      </p:sp>
      <p:sp>
        <p:nvSpPr>
          <p:cNvPr id="12" name="text-173"/>
          <p:cNvSpPr txBox="1"/>
          <p:nvPr/>
        </p:nvSpPr>
        <p:spPr>
          <a:xfrm>
            <a:off x="1005840" y="409651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—</a:t>
            </a:r>
            <a:endParaRPr lang="en-US" sz="1500" dirty="0"/>
          </a:p>
        </p:txBody>
      </p:sp>
      <p:sp>
        <p:nvSpPr>
          <p:cNvPr id="13" name="text-174"/>
          <p:cNvSpPr txBox="1"/>
          <p:nvPr/>
        </p:nvSpPr>
        <p:spPr>
          <a:xfrm>
            <a:off x="1417320" y="409651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Every session cut into clips for all platforms</a:t>
            </a:r>
            <a:endParaRPr lang="en-US" sz="1500" dirty="0"/>
          </a:p>
        </p:txBody>
      </p:sp>
      <p:sp>
        <p:nvSpPr>
          <p:cNvPr id="14" name="text-175"/>
          <p:cNvSpPr txBox="1"/>
          <p:nvPr/>
        </p:nvSpPr>
        <p:spPr>
          <a:xfrm>
            <a:off x="1005840" y="480974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—</a:t>
            </a:r>
            <a:endParaRPr lang="en-US" sz="1500" dirty="0"/>
          </a:p>
        </p:txBody>
      </p:sp>
      <p:sp>
        <p:nvSpPr>
          <p:cNvPr id="15" name="text-176"/>
          <p:cNvSpPr txBox="1"/>
          <p:nvPr/>
        </p:nvSpPr>
        <p:spPr>
          <a:xfrm>
            <a:off x="1417320" y="4809744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Every attendee followed up within 48 hours</a:t>
            </a:r>
            <a:endParaRPr lang="en-US" sz="1500" dirty="0"/>
          </a:p>
        </p:txBody>
      </p:sp>
      <p:sp>
        <p:nvSpPr>
          <p:cNvPr id="16" name="card-177"/>
          <p:cNvSpPr/>
          <p:nvPr/>
        </p:nvSpPr>
        <p:spPr>
          <a:xfrm>
            <a:off x="6236208" y="2057400"/>
            <a:ext cx="5312664" cy="3611880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pic>
        <p:nvPicPr>
          <p:cNvPr id="17" name="icon-17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68" y="2377440"/>
            <a:ext cx="502920" cy="502920"/>
          </a:xfrm>
          <a:prstGeom prst="rect">
            <a:avLst/>
          </a:prstGeom>
        </p:spPr>
      </p:pic>
      <p:sp>
        <p:nvSpPr>
          <p:cNvPr id="18" name="text-179"/>
          <p:cNvSpPr txBox="1"/>
          <p:nvPr/>
        </p:nvSpPr>
        <p:spPr>
          <a:xfrm>
            <a:off x="7287768" y="23317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Community on Skool</a:t>
            </a:r>
            <a:endParaRPr lang="en-US" sz="2200" dirty="0"/>
          </a:p>
        </p:txBody>
      </p:sp>
      <p:sp>
        <p:nvSpPr>
          <p:cNvPr id="19" name="text-180"/>
          <p:cNvSpPr txBox="1"/>
          <p:nvPr/>
        </p:nvSpPr>
        <p:spPr>
          <a:xfrm>
            <a:off x="7287768" y="2761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THE AUDIENCE’S HOME</a:t>
            </a:r>
            <a:endParaRPr lang="en-US" sz="1100" dirty="0"/>
          </a:p>
        </p:txBody>
      </p:sp>
      <p:sp>
        <p:nvSpPr>
          <p:cNvPr id="20" name="text-181"/>
          <p:cNvSpPr txBox="1"/>
          <p:nvPr/>
        </p:nvSpPr>
        <p:spPr>
          <a:xfrm>
            <a:off x="6601968" y="33832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—</a:t>
            </a:r>
            <a:endParaRPr lang="en-US" sz="1500" dirty="0"/>
          </a:p>
        </p:txBody>
      </p:sp>
      <p:sp>
        <p:nvSpPr>
          <p:cNvPr id="21" name="text-182"/>
          <p:cNvSpPr txBox="1"/>
          <p:nvPr/>
        </p:nvSpPr>
        <p:spPr>
          <a:xfrm>
            <a:off x="7013448" y="33832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waitlist and a free taster to start</a:t>
            </a:r>
            <a:endParaRPr lang="en-US" sz="1500" dirty="0"/>
          </a:p>
        </p:txBody>
      </p:sp>
      <p:sp>
        <p:nvSpPr>
          <p:cNvPr id="22" name="text-183"/>
          <p:cNvSpPr txBox="1"/>
          <p:nvPr/>
        </p:nvSpPr>
        <p:spPr>
          <a:xfrm>
            <a:off x="6601968" y="409651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—</a:t>
            </a:r>
            <a:endParaRPr lang="en-US" sz="1500" dirty="0"/>
          </a:p>
        </p:txBody>
      </p:sp>
      <p:sp>
        <p:nvSpPr>
          <p:cNvPr id="23" name="text-184"/>
          <p:cNvSpPr txBox="1"/>
          <p:nvPr/>
        </p:nvSpPr>
        <p:spPr>
          <a:xfrm>
            <a:off x="7013448" y="409651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Paid cohorts and a self-paced membership</a:t>
            </a:r>
            <a:endParaRPr lang="en-US" sz="1500" dirty="0"/>
          </a:p>
        </p:txBody>
      </p:sp>
      <p:sp>
        <p:nvSpPr>
          <p:cNvPr id="24" name="text-185"/>
          <p:cNvSpPr txBox="1"/>
          <p:nvPr/>
        </p:nvSpPr>
        <p:spPr>
          <a:xfrm>
            <a:off x="6601968" y="480974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—</a:t>
            </a:r>
            <a:endParaRPr lang="en-US" sz="1500" dirty="0"/>
          </a:p>
        </p:txBody>
      </p:sp>
      <p:sp>
        <p:nvSpPr>
          <p:cNvPr id="25" name="text-186"/>
          <p:cNvSpPr txBox="1"/>
          <p:nvPr/>
        </p:nvSpPr>
        <p:spPr>
          <a:xfrm>
            <a:off x="7013448" y="4809744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Agents handle admin, prompts and reminders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87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3 / 4  ·  WHAT WE OFFER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piece passes our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</a:t>
            </a:r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system</a:t>
            </a:r>
            <a:endParaRPr lang="en-US" sz="3200" dirty="0"/>
          </a:p>
        </p:txBody>
      </p:sp>
      <p:sp>
        <p:nvSpPr>
          <p:cNvPr id="6" name="text-188"/>
          <p:cNvSpPr txBox="1"/>
          <p:nvPr/>
        </p:nvSpPr>
        <p:spPr>
          <a:xfrm>
            <a:off x="640080" y="20116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8000" dirty="0"/>
          </a:p>
        </p:txBody>
      </p:sp>
      <p:sp>
        <p:nvSpPr>
          <p:cNvPr id="7" name="text-189"/>
          <p:cNvSpPr txBox="1"/>
          <p:nvPr/>
        </p:nvSpPr>
        <p:spPr>
          <a:xfrm>
            <a:off x="640080" y="32918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proven posts, reels and websites studied and broken down: why each one works, and when to use it.</a:t>
            </a:r>
            <a:endParaRPr lang="en-US" sz="1600" dirty="0"/>
          </a:p>
        </p:txBody>
      </p:sp>
      <p:sp>
        <p:nvSpPr>
          <p:cNvPr id="8" name="card-190"/>
          <p:cNvSpPr/>
          <p:nvPr/>
        </p:nvSpPr>
        <p:spPr>
          <a:xfrm>
            <a:off x="4937760" y="2057400"/>
            <a:ext cx="6611112" cy="1051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9" name="text-191"/>
          <p:cNvSpPr txBox="1"/>
          <p:nvPr/>
        </p:nvSpPr>
        <p:spPr>
          <a:xfrm>
            <a:off x="5166360" y="224028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pic>
        <p:nvPicPr>
          <p:cNvPr id="10" name="icon-19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377440"/>
            <a:ext cx="411480" cy="411480"/>
          </a:xfrm>
          <a:prstGeom prst="rect">
            <a:avLst/>
          </a:prstGeom>
        </p:spPr>
      </p:pic>
      <p:sp>
        <p:nvSpPr>
          <p:cNvPr id="11" name="text-193"/>
          <p:cNvSpPr txBox="1"/>
          <p:nvPr/>
        </p:nvSpPr>
        <p:spPr>
          <a:xfrm>
            <a:off x="6400800" y="22219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</a:t>
            </a:r>
            <a:endParaRPr lang="en-US" sz="1800" dirty="0"/>
          </a:p>
        </p:txBody>
      </p:sp>
      <p:sp>
        <p:nvSpPr>
          <p:cNvPr id="12" name="text-194"/>
          <p:cNvSpPr txBox="1"/>
          <p:nvPr/>
        </p:nvSpPr>
        <p:spPr>
          <a:xfrm>
            <a:off x="6400800" y="2606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Each piece is matched to the one reference that fits it.</a:t>
            </a:r>
            <a:endParaRPr lang="en-US" sz="1400" dirty="0"/>
          </a:p>
        </p:txBody>
      </p:sp>
      <p:sp>
        <p:nvSpPr>
          <p:cNvPr id="13" name="card-195"/>
          <p:cNvSpPr/>
          <p:nvPr/>
        </p:nvSpPr>
        <p:spPr>
          <a:xfrm>
            <a:off x="4937760" y="3273552"/>
            <a:ext cx="6611112" cy="1051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4" name="text-196"/>
          <p:cNvSpPr txBox="1"/>
          <p:nvPr/>
        </p:nvSpPr>
        <p:spPr>
          <a:xfrm>
            <a:off x="5166360" y="3456432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pic>
        <p:nvPicPr>
          <p:cNvPr id="15" name="icon-19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593592"/>
            <a:ext cx="411480" cy="411480"/>
          </a:xfrm>
          <a:prstGeom prst="rect">
            <a:avLst/>
          </a:prstGeom>
        </p:spPr>
      </p:pic>
      <p:sp>
        <p:nvSpPr>
          <p:cNvPr id="16" name="text-198"/>
          <p:cNvSpPr txBox="1"/>
          <p:nvPr/>
        </p:nvSpPr>
        <p:spPr>
          <a:xfrm>
            <a:off x="6400800" y="34381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</a:t>
            </a:r>
            <a:endParaRPr lang="en-US" sz="1800" dirty="0"/>
          </a:p>
        </p:txBody>
      </p:sp>
      <p:sp>
        <p:nvSpPr>
          <p:cNvPr id="17" name="text-199"/>
          <p:cNvSpPr txBox="1"/>
          <p:nvPr/>
        </p:nvSpPr>
        <p:spPr>
          <a:xfrm>
            <a:off x="6400800" y="3822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We use its craft: structure, pacing, type and layout.</a:t>
            </a:r>
            <a:endParaRPr lang="en-US" sz="1400" dirty="0"/>
          </a:p>
        </p:txBody>
      </p:sp>
      <p:sp>
        <p:nvSpPr>
          <p:cNvPr id="18" name="card-200"/>
          <p:cNvSpPr/>
          <p:nvPr/>
        </p:nvSpPr>
        <p:spPr>
          <a:xfrm>
            <a:off x="4937760" y="4489704"/>
            <a:ext cx="6611112" cy="1051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text-201"/>
          <p:cNvSpPr txBox="1"/>
          <p:nvPr/>
        </p:nvSpPr>
        <p:spPr>
          <a:xfrm>
            <a:off x="5166360" y="4672584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pic>
        <p:nvPicPr>
          <p:cNvPr id="20" name="icon-20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809744"/>
            <a:ext cx="411480" cy="411480"/>
          </a:xfrm>
          <a:prstGeom prst="rect">
            <a:avLst/>
          </a:prstGeom>
        </p:spPr>
      </p:pic>
      <p:sp>
        <p:nvSpPr>
          <p:cNvPr id="21" name="text-203"/>
          <p:cNvSpPr txBox="1"/>
          <p:nvPr/>
        </p:nvSpPr>
        <p:spPr>
          <a:xfrm>
            <a:off x="6400800" y="46542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copy</a:t>
            </a:r>
            <a:endParaRPr lang="en-US" sz="1800" dirty="0"/>
          </a:p>
        </p:txBody>
      </p:sp>
      <p:sp>
        <p:nvSpPr>
          <p:cNvPr id="22" name="text-204"/>
          <p:cNvSpPr txBox="1"/>
          <p:nvPr/>
        </p:nvSpPr>
        <p:spPr>
          <a:xfrm>
            <a:off x="6400800" y="50383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Their assets stay theirs. Colours and voice stay the client’s.</a:t>
            </a:r>
            <a:endParaRPr lang="en-US" sz="1400" dirty="0"/>
          </a:p>
        </p:txBody>
      </p:sp>
      <p:sp>
        <p:nvSpPr>
          <p:cNvPr id="23" name="text-205"/>
          <p:cNvSpPr txBox="1"/>
          <p:nvPr/>
        </p:nvSpPr>
        <p:spPr>
          <a:xfrm>
            <a:off x="640080" y="58521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This deck itself was designed from one Taste reference.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06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3 / 4  ·  WHAT WE OFFER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works: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2½ hours</a:t>
            </a:r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week from the client</a:t>
            </a:r>
            <a:endParaRPr lang="en-US" sz="3200" dirty="0"/>
          </a:p>
        </p:txBody>
      </p:sp>
      <p:sp>
        <p:nvSpPr>
          <p:cNvPr id="6" name="card-207"/>
          <p:cNvSpPr/>
          <p:nvPr/>
        </p:nvSpPr>
        <p:spPr>
          <a:xfrm>
            <a:off x="640080" y="2194560"/>
            <a:ext cx="2468880" cy="2834640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pic>
        <p:nvPicPr>
          <p:cNvPr id="7" name="icon-20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514600"/>
            <a:ext cx="548640" cy="548640"/>
          </a:xfrm>
          <a:prstGeom prst="rect">
            <a:avLst/>
          </a:prstGeom>
        </p:spPr>
      </p:pic>
      <p:sp>
        <p:nvSpPr>
          <p:cNvPr id="8" name="text-209"/>
          <p:cNvSpPr txBox="1"/>
          <p:nvPr/>
        </p:nvSpPr>
        <p:spPr>
          <a:xfrm>
            <a:off x="640080" y="3291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accent3"/>
                </a:solidFill>
              </a:rPr>
              <a:t>CLIENT</a:t>
            </a:r>
            <a:endParaRPr lang="en-US" sz="1100" dirty="0"/>
          </a:p>
        </p:txBody>
      </p:sp>
      <p:sp>
        <p:nvSpPr>
          <p:cNvPr id="9" name="text-210"/>
          <p:cNvSpPr txBox="1"/>
          <p:nvPr/>
        </p:nvSpPr>
        <p:spPr>
          <a:xfrm>
            <a:off x="868680" y="365760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Sends one short note a week</a:t>
            </a:r>
            <a:endParaRPr lang="en-US" sz="1800" dirty="0"/>
          </a:p>
        </p:txBody>
      </p:sp>
      <p:sp>
        <p:nvSpPr>
          <p:cNvPr id="10" name="text-211"/>
          <p:cNvSpPr txBox="1"/>
          <p:nvPr/>
        </p:nvSpPr>
        <p:spPr>
          <a:xfrm>
            <a:off x="3108960" y="338328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card-212"/>
          <p:cNvSpPr/>
          <p:nvPr/>
        </p:nvSpPr>
        <p:spPr>
          <a:xfrm>
            <a:off x="3456432" y="2194560"/>
            <a:ext cx="2468880" cy="28346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2" name="icon-2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2514600"/>
            <a:ext cx="548640" cy="548640"/>
          </a:xfrm>
          <a:prstGeom prst="rect">
            <a:avLst/>
          </a:prstGeom>
        </p:spPr>
      </p:pic>
      <p:sp>
        <p:nvSpPr>
          <p:cNvPr id="13" name="text-214"/>
          <p:cNvSpPr txBox="1"/>
          <p:nvPr/>
        </p:nvSpPr>
        <p:spPr>
          <a:xfrm>
            <a:off x="3456432" y="3291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EXTOL</a:t>
            </a:r>
            <a:endParaRPr lang="en-US" sz="1100" dirty="0"/>
          </a:p>
        </p:txBody>
      </p:sp>
      <p:sp>
        <p:nvSpPr>
          <p:cNvPr id="14" name="text-215"/>
          <p:cNvSpPr txBox="1"/>
          <p:nvPr/>
        </p:nvSpPr>
        <p:spPr>
          <a:xfrm>
            <a:off x="3685032" y="365760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 turn it into posts, clips and messages</a:t>
            </a:r>
            <a:endParaRPr lang="en-US" sz="1800" dirty="0"/>
          </a:p>
        </p:txBody>
      </p:sp>
      <p:sp>
        <p:nvSpPr>
          <p:cNvPr id="15" name="text-216"/>
          <p:cNvSpPr txBox="1"/>
          <p:nvPr/>
        </p:nvSpPr>
        <p:spPr>
          <a:xfrm>
            <a:off x="5925312" y="338328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card-217"/>
          <p:cNvSpPr/>
          <p:nvPr/>
        </p:nvSpPr>
        <p:spPr>
          <a:xfrm>
            <a:off x="6272784" y="2194560"/>
            <a:ext cx="2468880" cy="2834640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pic>
        <p:nvPicPr>
          <p:cNvPr id="17" name="icon-2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904" y="2514600"/>
            <a:ext cx="548640" cy="548640"/>
          </a:xfrm>
          <a:prstGeom prst="rect">
            <a:avLst/>
          </a:prstGeom>
        </p:spPr>
      </p:pic>
      <p:sp>
        <p:nvSpPr>
          <p:cNvPr id="18" name="text-219"/>
          <p:cNvSpPr txBox="1"/>
          <p:nvPr/>
        </p:nvSpPr>
        <p:spPr>
          <a:xfrm>
            <a:off x="6272784" y="3291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accent3"/>
                </a:solidFill>
              </a:rPr>
              <a:t>CLIENT</a:t>
            </a:r>
            <a:endParaRPr lang="en-US" sz="1100" dirty="0"/>
          </a:p>
        </p:txBody>
      </p:sp>
      <p:sp>
        <p:nvSpPr>
          <p:cNvPr id="19" name="text-220"/>
          <p:cNvSpPr txBox="1"/>
          <p:nvPr/>
        </p:nvSpPr>
        <p:spPr>
          <a:xfrm>
            <a:off x="6501384" y="365760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Approves on their phone</a:t>
            </a:r>
            <a:endParaRPr lang="en-US" sz="1800" dirty="0"/>
          </a:p>
        </p:txBody>
      </p:sp>
      <p:sp>
        <p:nvSpPr>
          <p:cNvPr id="20" name="text-221"/>
          <p:cNvSpPr txBox="1"/>
          <p:nvPr/>
        </p:nvSpPr>
        <p:spPr>
          <a:xfrm>
            <a:off x="8741664" y="338328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card-222"/>
          <p:cNvSpPr/>
          <p:nvPr/>
        </p:nvSpPr>
        <p:spPr>
          <a:xfrm>
            <a:off x="9089136" y="2194560"/>
            <a:ext cx="2468880" cy="28346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22" name="icon-22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9256" y="2514600"/>
            <a:ext cx="548640" cy="548640"/>
          </a:xfrm>
          <a:prstGeom prst="rect">
            <a:avLst/>
          </a:prstGeom>
        </p:spPr>
      </p:pic>
      <p:sp>
        <p:nvSpPr>
          <p:cNvPr id="23" name="text-224"/>
          <p:cNvSpPr txBox="1"/>
          <p:nvPr/>
        </p:nvSpPr>
        <p:spPr>
          <a:xfrm>
            <a:off x="9089136" y="3291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EXTOL</a:t>
            </a:r>
            <a:endParaRPr lang="en-US" sz="1100" dirty="0"/>
          </a:p>
        </p:txBody>
      </p:sp>
      <p:sp>
        <p:nvSpPr>
          <p:cNvPr id="24" name="text-225"/>
          <p:cNvSpPr txBox="1"/>
          <p:nvPr/>
        </p:nvSpPr>
        <p:spPr>
          <a:xfrm>
            <a:off x="9317736" y="365760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Publishes everywhere and reports results</a:t>
            </a:r>
            <a:endParaRPr lang="en-US" sz="1800" dirty="0"/>
          </a:p>
        </p:txBody>
      </p:sp>
      <p:sp>
        <p:nvSpPr>
          <p:cNvPr id="25" name="text-226"/>
          <p:cNvSpPr txBox="1"/>
          <p:nvPr/>
        </p:nvSpPr>
        <p:spPr>
          <a:xfrm>
            <a:off x="640080" y="58521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Nothing is ever published without the client’s yes.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27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3 / 4  ·  WHAT WE OFFER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expect outreach to produce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month</a:t>
            </a:r>
            <a:endParaRPr lang="en-US" sz="3200" dirty="0"/>
          </a:p>
        </p:txBody>
      </p:sp>
      <p:graphicFrame>
        <p:nvGraphicFramePr>
          <p:cNvPr id="6" name="funnel-chart" descr=""/>
          <p:cNvGraphicFramePr/>
          <p:nvPr/>
        </p:nvGraphicFramePr>
        <p:xfrm>
          <a:off x="640080" y="2011680"/>
          <a:ext cx="108813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-228"/>
          <p:cNvSpPr txBox="1"/>
          <p:nvPr/>
        </p:nvSpPr>
        <p:spPr>
          <a:xfrm>
            <a:off x="640080" y="58521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Planning estimates at full pace (20 requests a day), not yet proven results.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29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3 / 4  ·  WHAT WE OFFER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Leads should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up</a:t>
            </a:r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month by month</a:t>
            </a:r>
            <a:endParaRPr lang="en-US" sz="3200" dirty="0"/>
          </a:p>
        </p:txBody>
      </p:sp>
      <p:graphicFrame>
        <p:nvGraphicFramePr>
          <p:cNvPr id="6" name="leads-chart" descr=""/>
          <p:cNvGraphicFramePr/>
          <p:nvPr/>
        </p:nvGraphicFramePr>
        <p:xfrm>
          <a:off x="640080" y="2011680"/>
          <a:ext cx="69494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rd-230"/>
          <p:cNvSpPr/>
          <p:nvPr/>
        </p:nvSpPr>
        <p:spPr>
          <a:xfrm>
            <a:off x="7955280" y="2103120"/>
            <a:ext cx="3593592" cy="3566160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-231"/>
          <p:cNvSpPr txBox="1"/>
          <p:nvPr/>
        </p:nvSpPr>
        <p:spPr>
          <a:xfrm>
            <a:off x="8275320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3"/>
                </a:solidFill>
              </a:rPr>
              <a:t>BY MONTH 6</a:t>
            </a:r>
            <a:endParaRPr lang="en-US" sz="1100" dirty="0"/>
          </a:p>
        </p:txBody>
      </p:sp>
      <p:sp>
        <p:nvSpPr>
          <p:cNvPr id="9" name="text-232"/>
          <p:cNvSpPr txBox="1"/>
          <p:nvPr/>
        </p:nvSpPr>
        <p:spPr>
          <a:xfrm>
            <a:off x="8275320" y="27889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3600" dirty="0"/>
          </a:p>
        </p:txBody>
      </p:sp>
      <p:sp>
        <p:nvSpPr>
          <p:cNvPr id="10" name="text-233"/>
          <p:cNvSpPr txBox="1"/>
          <p:nvPr/>
        </p:nvSpPr>
        <p:spPr>
          <a:xfrm>
            <a:off x="9692640" y="27889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leads a month</a:t>
            </a:r>
            <a:endParaRPr lang="en-US" sz="1600" dirty="0"/>
          </a:p>
        </p:txBody>
      </p:sp>
      <p:sp>
        <p:nvSpPr>
          <p:cNvPr id="11" name="text-234"/>
          <p:cNvSpPr txBox="1"/>
          <p:nvPr/>
        </p:nvSpPr>
        <p:spPr>
          <a:xfrm>
            <a:off x="8275320" y="37033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600" dirty="0"/>
          </a:p>
        </p:txBody>
      </p:sp>
      <p:sp>
        <p:nvSpPr>
          <p:cNvPr id="12" name="text-235"/>
          <p:cNvSpPr txBox="1"/>
          <p:nvPr/>
        </p:nvSpPr>
        <p:spPr>
          <a:xfrm>
            <a:off x="9692640" y="3703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real sales calls</a:t>
            </a:r>
            <a:endParaRPr lang="en-US" sz="1600" dirty="0"/>
          </a:p>
        </p:txBody>
      </p:sp>
      <p:sp>
        <p:nvSpPr>
          <p:cNvPr id="13" name="text-236"/>
          <p:cNvSpPr txBox="1"/>
          <p:nvPr/>
        </p:nvSpPr>
        <p:spPr>
          <a:xfrm>
            <a:off x="8275320" y="4617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2–3</a:t>
            </a:r>
            <a:endParaRPr lang="en-US" sz="3600" dirty="0"/>
          </a:p>
        </p:txBody>
      </p:sp>
      <p:sp>
        <p:nvSpPr>
          <p:cNvPr id="14" name="text-237"/>
          <p:cNvSpPr txBox="1"/>
          <p:nvPr/>
        </p:nvSpPr>
        <p:spPr>
          <a:xfrm>
            <a:off x="9692640" y="4617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new clients</a:t>
            </a:r>
            <a:endParaRPr lang="en-US" sz="1600" dirty="0"/>
          </a:p>
        </p:txBody>
      </p:sp>
      <p:sp>
        <p:nvSpPr>
          <p:cNvPr id="15" name="text-238"/>
          <p:cNvSpPr txBox="1"/>
          <p:nvPr/>
        </p:nvSpPr>
        <p:spPr>
          <a:xfrm>
            <a:off x="640080" y="58521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Forecast, not yet proven. Big contracts take 6–12 months to close.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39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3 / 4  ·  WHAT WE OFFER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costs: one fee,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</a:t>
            </a:r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tool included</a:t>
            </a:r>
            <a:endParaRPr lang="en-US" sz="3200" dirty="0"/>
          </a:p>
        </p:txBody>
      </p:sp>
      <p:sp>
        <p:nvSpPr>
          <p:cNvPr id="6" name="card-240"/>
          <p:cNvSpPr/>
          <p:nvPr/>
        </p:nvSpPr>
        <p:spPr>
          <a:xfrm>
            <a:off x="640080" y="2103120"/>
            <a:ext cx="3483864" cy="23774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-241"/>
          <p:cNvSpPr txBox="1"/>
          <p:nvPr/>
        </p:nvSpPr>
        <p:spPr>
          <a:xfrm>
            <a:off x="1005840" y="2377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MONTH 1</a:t>
            </a:r>
            <a:endParaRPr lang="en-US" sz="1100" dirty="0"/>
          </a:p>
        </p:txBody>
      </p:sp>
      <p:sp>
        <p:nvSpPr>
          <p:cNvPr id="8" name="text-242"/>
          <p:cNvSpPr txBox="1"/>
          <p:nvPr/>
        </p:nvSpPr>
        <p:spPr>
          <a:xfrm>
            <a:off x="1005840" y="27432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£1,500</a:t>
            </a:r>
            <a:endParaRPr lang="en-US" sz="4600" dirty="0"/>
          </a:p>
        </p:txBody>
      </p:sp>
      <p:sp>
        <p:nvSpPr>
          <p:cNvPr id="9" name="text-243"/>
          <p:cNvSpPr txBox="1"/>
          <p:nvPr/>
        </p:nvSpPr>
        <p:spPr>
          <a:xfrm>
            <a:off x="100584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Set-up and website</a:t>
            </a:r>
            <a:endParaRPr lang="en-US" sz="1600" dirty="0"/>
          </a:p>
        </p:txBody>
      </p:sp>
      <p:sp>
        <p:nvSpPr>
          <p:cNvPr id="10" name="card-244"/>
          <p:cNvSpPr/>
          <p:nvPr/>
        </p:nvSpPr>
        <p:spPr>
          <a:xfrm>
            <a:off x="4352544" y="2103120"/>
            <a:ext cx="3483864" cy="23774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-245"/>
          <p:cNvSpPr txBox="1"/>
          <p:nvPr/>
        </p:nvSpPr>
        <p:spPr>
          <a:xfrm>
            <a:off x="4718304" y="2377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MONTHS 2–3</a:t>
            </a:r>
            <a:endParaRPr lang="en-US" sz="1100" dirty="0"/>
          </a:p>
        </p:txBody>
      </p:sp>
      <p:sp>
        <p:nvSpPr>
          <p:cNvPr id="12" name="text-246"/>
          <p:cNvSpPr txBox="1"/>
          <p:nvPr/>
        </p:nvSpPr>
        <p:spPr>
          <a:xfrm>
            <a:off x="4718304" y="27432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£1,200</a:t>
            </a:r>
            <a:endParaRPr lang="en-US" sz="4600" dirty="0"/>
          </a:p>
        </p:txBody>
      </p:sp>
      <p:sp>
        <p:nvSpPr>
          <p:cNvPr id="13" name="text-247"/>
          <p:cNvSpPr txBox="1"/>
          <p:nvPr/>
        </p:nvSpPr>
        <p:spPr>
          <a:xfrm>
            <a:off x="4718304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Founding price</a:t>
            </a:r>
            <a:endParaRPr lang="en-US" sz="1600" dirty="0"/>
          </a:p>
        </p:txBody>
      </p:sp>
      <p:sp>
        <p:nvSpPr>
          <p:cNvPr id="14" name="card-248"/>
          <p:cNvSpPr/>
          <p:nvPr/>
        </p:nvSpPr>
        <p:spPr>
          <a:xfrm>
            <a:off x="8065008" y="2103120"/>
            <a:ext cx="3483864" cy="2377440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-249"/>
          <p:cNvSpPr txBox="1"/>
          <p:nvPr/>
        </p:nvSpPr>
        <p:spPr>
          <a:xfrm>
            <a:off x="8430768" y="2377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3"/>
                </a:solidFill>
              </a:rPr>
              <a:t>MONTH 4 ONWARDS</a:t>
            </a:r>
            <a:endParaRPr lang="en-US" sz="1100" dirty="0"/>
          </a:p>
        </p:txBody>
      </p:sp>
      <p:sp>
        <p:nvSpPr>
          <p:cNvPr id="16" name="text-250"/>
          <p:cNvSpPr txBox="1"/>
          <p:nvPr/>
        </p:nvSpPr>
        <p:spPr>
          <a:xfrm>
            <a:off x="8430768" y="27432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£2,500</a:t>
            </a:r>
            <a:endParaRPr lang="en-US" sz="4600" dirty="0"/>
          </a:p>
        </p:txBody>
      </p:sp>
      <p:sp>
        <p:nvSpPr>
          <p:cNvPr id="17" name="text-251"/>
          <p:cNvSpPr txBox="1"/>
          <p:nvPr/>
        </p:nvSpPr>
        <p:spPr>
          <a:xfrm>
            <a:off x="8430768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Standard price</a:t>
            </a:r>
            <a:endParaRPr lang="en-US" sz="1600" dirty="0"/>
          </a:p>
        </p:txBody>
      </p:sp>
      <p:pic>
        <p:nvPicPr>
          <p:cNvPr id="18" name="icon-2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956048"/>
            <a:ext cx="411480" cy="411480"/>
          </a:xfrm>
          <a:prstGeom prst="rect">
            <a:avLst/>
          </a:prstGeom>
        </p:spPr>
      </p:pic>
      <p:sp>
        <p:nvSpPr>
          <p:cNvPr id="19" name="text-253"/>
          <p:cNvSpPr txBox="1"/>
          <p:nvPr/>
        </p:nvSpPr>
        <p:spPr>
          <a:xfrm>
            <a:off x="1234440" y="48463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Our promise: at day 60 we review the results together. If we’re behind plan, we fix it in writing, or the client can leave.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54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3 / 4  ·  WHAT WE OFFER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client win can pay for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whole year</a:t>
            </a:r>
            <a:endParaRPr lang="en-US" sz="3200" dirty="0"/>
          </a:p>
        </p:txBody>
      </p:sp>
      <p:graphicFrame>
        <p:nvGraphicFramePr>
          <p:cNvPr id="6" name="payback-chart" descr=""/>
          <p:cNvGraphicFramePr/>
          <p:nvPr/>
        </p:nvGraphicFramePr>
        <p:xfrm>
          <a:off x="640080" y="2011680"/>
          <a:ext cx="69494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rd-255"/>
          <p:cNvSpPr/>
          <p:nvPr/>
        </p:nvSpPr>
        <p:spPr>
          <a:xfrm>
            <a:off x="7955280" y="2103120"/>
            <a:ext cx="3593592" cy="3566160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-256"/>
          <p:cNvSpPr txBox="1"/>
          <p:nvPr/>
        </p:nvSpPr>
        <p:spPr>
          <a:xfrm>
            <a:off x="8275320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3"/>
                </a:solidFill>
              </a:rPr>
              <a:t>RETURN ON THE FEE</a:t>
            </a:r>
            <a:endParaRPr lang="en-US" sz="1100" dirty="0"/>
          </a:p>
        </p:txBody>
      </p:sp>
      <p:sp>
        <p:nvSpPr>
          <p:cNvPr id="9" name="text-257"/>
          <p:cNvSpPr txBox="1"/>
          <p:nvPr/>
        </p:nvSpPr>
        <p:spPr>
          <a:xfrm>
            <a:off x="8275320" y="278892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0.9×</a:t>
            </a:r>
            <a:endParaRPr lang="en-US" sz="3600" dirty="0"/>
          </a:p>
        </p:txBody>
      </p:sp>
      <p:sp>
        <p:nvSpPr>
          <p:cNvPr id="10" name="text-258"/>
          <p:cNvSpPr txBox="1"/>
          <p:nvPr/>
        </p:nvSpPr>
        <p:spPr>
          <a:xfrm>
            <a:off x="9784080" y="27889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small piece</a:t>
            </a:r>
            <a:endParaRPr lang="en-US" sz="1600" dirty="0"/>
          </a:p>
        </p:txBody>
      </p:sp>
      <p:sp>
        <p:nvSpPr>
          <p:cNvPr id="11" name="text-259"/>
          <p:cNvSpPr txBox="1"/>
          <p:nvPr/>
        </p:nvSpPr>
        <p:spPr>
          <a:xfrm>
            <a:off x="8275320" y="370332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2.8×</a:t>
            </a:r>
            <a:endParaRPr lang="en-US" sz="3600" dirty="0"/>
          </a:p>
        </p:txBody>
      </p:sp>
      <p:sp>
        <p:nvSpPr>
          <p:cNvPr id="12" name="text-260"/>
          <p:cNvSpPr txBox="1"/>
          <p:nvPr/>
        </p:nvSpPr>
        <p:spPr>
          <a:xfrm>
            <a:off x="9784080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mid-size win</a:t>
            </a:r>
            <a:endParaRPr lang="en-US" sz="1600" dirty="0"/>
          </a:p>
        </p:txBody>
      </p:sp>
      <p:sp>
        <p:nvSpPr>
          <p:cNvPr id="13" name="text-261"/>
          <p:cNvSpPr txBox="1"/>
          <p:nvPr/>
        </p:nvSpPr>
        <p:spPr>
          <a:xfrm>
            <a:off x="8275320" y="461772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9.5×</a:t>
            </a:r>
            <a:endParaRPr lang="en-US" sz="3600" dirty="0"/>
          </a:p>
        </p:txBody>
      </p:sp>
      <p:sp>
        <p:nvSpPr>
          <p:cNvPr id="14" name="text-262"/>
          <p:cNvSpPr txBox="1"/>
          <p:nvPr/>
        </p:nvSpPr>
        <p:spPr>
          <a:xfrm>
            <a:off x="9784080" y="46177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two wins</a:t>
            </a:r>
            <a:endParaRPr lang="en-US" sz="1600" dirty="0"/>
          </a:p>
        </p:txBody>
      </p:sp>
      <p:sp>
        <p:nvSpPr>
          <p:cNvPr id="15" name="text-263"/>
          <p:cNvSpPr txBox="1"/>
          <p:nvPr/>
        </p:nvSpPr>
        <p:spPr>
          <a:xfrm>
            <a:off x="640080" y="58521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Illustrative figures, not results. Year-one fee: £26,400.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154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role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206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How you can help, and how we’d work together.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64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4 / 4  ·  YOUR ROLE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ways you can help us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</a:t>
            </a:r>
            <a:endParaRPr lang="en-US" sz="3200" dirty="0"/>
          </a:p>
        </p:txBody>
      </p:sp>
      <p:sp>
        <p:nvSpPr>
          <p:cNvPr id="6" name="card-265"/>
          <p:cNvSpPr/>
          <p:nvPr/>
        </p:nvSpPr>
        <p:spPr>
          <a:xfrm>
            <a:off x="640080" y="2148840"/>
            <a:ext cx="3453384" cy="2926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7" name="icon-26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468880"/>
            <a:ext cx="502920" cy="502920"/>
          </a:xfrm>
          <a:prstGeom prst="rect">
            <a:avLst/>
          </a:prstGeom>
        </p:spPr>
      </p:pic>
      <p:sp>
        <p:nvSpPr>
          <p:cNvPr id="8" name="text-267"/>
          <p:cNvSpPr txBox="1"/>
          <p:nvPr/>
        </p:nvSpPr>
        <p:spPr>
          <a:xfrm>
            <a:off x="960120" y="3200400"/>
            <a:ext cx="2813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Advise</a:t>
            </a:r>
            <a:endParaRPr lang="en-US" sz="2100" dirty="0"/>
          </a:p>
        </p:txBody>
      </p:sp>
      <p:sp>
        <p:nvSpPr>
          <p:cNvPr id="9" name="text-268"/>
          <p:cNvSpPr txBox="1"/>
          <p:nvPr/>
        </p:nvSpPr>
        <p:spPr>
          <a:xfrm>
            <a:off x="960120" y="3749040"/>
            <a:ext cx="2813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Sharpen our offer, pricing and pitch.</a:t>
            </a:r>
            <a:endParaRPr lang="en-US" sz="1500" dirty="0"/>
          </a:p>
        </p:txBody>
      </p:sp>
      <p:sp>
        <p:nvSpPr>
          <p:cNvPr id="10" name="card-269"/>
          <p:cNvSpPr/>
          <p:nvPr/>
        </p:nvSpPr>
        <p:spPr>
          <a:xfrm>
            <a:off x="4367784" y="2148840"/>
            <a:ext cx="3453384" cy="2926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1" name="icon-27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4" y="2468880"/>
            <a:ext cx="502920" cy="502920"/>
          </a:xfrm>
          <a:prstGeom prst="rect">
            <a:avLst/>
          </a:prstGeom>
        </p:spPr>
      </p:pic>
      <p:sp>
        <p:nvSpPr>
          <p:cNvPr id="12" name="text-271"/>
          <p:cNvSpPr txBox="1"/>
          <p:nvPr/>
        </p:nvSpPr>
        <p:spPr>
          <a:xfrm>
            <a:off x="4687824" y="3200400"/>
            <a:ext cx="2813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Guide</a:t>
            </a:r>
            <a:endParaRPr lang="en-US" sz="2100" dirty="0"/>
          </a:p>
        </p:txBody>
      </p:sp>
      <p:sp>
        <p:nvSpPr>
          <p:cNvPr id="13" name="text-272"/>
          <p:cNvSpPr txBox="1"/>
          <p:nvPr/>
        </p:nvSpPr>
        <p:spPr>
          <a:xfrm>
            <a:off x="4687824" y="3749040"/>
            <a:ext cx="2813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Help us choose the one market to focus on.</a:t>
            </a:r>
            <a:endParaRPr lang="en-US" sz="1500" dirty="0"/>
          </a:p>
        </p:txBody>
      </p:sp>
      <p:sp>
        <p:nvSpPr>
          <p:cNvPr id="14" name="card-273"/>
          <p:cNvSpPr/>
          <p:nvPr/>
        </p:nvSpPr>
        <p:spPr>
          <a:xfrm>
            <a:off x="8095488" y="2148840"/>
            <a:ext cx="3453384" cy="2926080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pic>
        <p:nvPicPr>
          <p:cNvPr id="15" name="icon-27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5528" y="2468880"/>
            <a:ext cx="502920" cy="502920"/>
          </a:xfrm>
          <a:prstGeom prst="rect">
            <a:avLst/>
          </a:prstGeom>
        </p:spPr>
      </p:pic>
      <p:sp>
        <p:nvSpPr>
          <p:cNvPr id="16" name="text-275"/>
          <p:cNvSpPr txBox="1"/>
          <p:nvPr/>
        </p:nvSpPr>
        <p:spPr>
          <a:xfrm>
            <a:off x="8415528" y="3200400"/>
            <a:ext cx="2813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</a:t>
            </a:r>
            <a:endParaRPr lang="en-US" sz="2100" dirty="0"/>
          </a:p>
        </p:txBody>
      </p:sp>
      <p:sp>
        <p:nvSpPr>
          <p:cNvPr id="17" name="text-276"/>
          <p:cNvSpPr txBox="1"/>
          <p:nvPr/>
        </p:nvSpPr>
        <p:spPr>
          <a:xfrm>
            <a:off x="8415528" y="3749040"/>
            <a:ext cx="2813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Connect us with experts and firms who need us.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77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4 / 4  ·  YOUR ROLE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your experience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matters</a:t>
            </a:r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most</a:t>
            </a:r>
            <a:endParaRPr lang="en-US" sz="3200" dirty="0"/>
          </a:p>
        </p:txBody>
      </p:sp>
      <p:sp>
        <p:nvSpPr>
          <p:cNvPr id="6" name="card-278"/>
          <p:cNvSpPr/>
          <p:nvPr/>
        </p:nvSpPr>
        <p:spPr>
          <a:xfrm>
            <a:off x="640080" y="2057400"/>
            <a:ext cx="531266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-279"/>
          <p:cNvSpPr txBox="1"/>
          <p:nvPr/>
        </p:nvSpPr>
        <p:spPr>
          <a:xfrm>
            <a:off x="960120" y="22860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Proof</a:t>
            </a:r>
            <a:endParaRPr lang="en-US" sz="2100" dirty="0"/>
          </a:p>
        </p:txBody>
      </p:sp>
      <p:sp>
        <p:nvSpPr>
          <p:cNvPr id="8" name="text-280"/>
          <p:cNvSpPr txBox="1"/>
          <p:nvPr/>
        </p:nvSpPr>
        <p:spPr>
          <a:xfrm>
            <a:off x="960120" y="2770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No case study with hard numbers yet.</a:t>
            </a:r>
            <a:endParaRPr lang="en-US" sz="1500" dirty="0"/>
          </a:p>
        </p:txBody>
      </p:sp>
      <p:sp>
        <p:nvSpPr>
          <p:cNvPr id="9" name="text-281"/>
          <p:cNvSpPr txBox="1"/>
          <p:nvPr/>
        </p:nvSpPr>
        <p:spPr>
          <a:xfrm>
            <a:off x="960120" y="3154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proof would your network trust?</a:t>
            </a:r>
            <a:endParaRPr lang="en-US" sz="1500" dirty="0"/>
          </a:p>
        </p:txBody>
      </p:sp>
      <p:sp>
        <p:nvSpPr>
          <p:cNvPr id="10" name="card-282"/>
          <p:cNvSpPr/>
          <p:nvPr/>
        </p:nvSpPr>
        <p:spPr>
          <a:xfrm>
            <a:off x="6236208" y="2057400"/>
            <a:ext cx="531266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-283"/>
          <p:cNvSpPr txBox="1"/>
          <p:nvPr/>
        </p:nvSpPr>
        <p:spPr>
          <a:xfrm>
            <a:off x="6556248" y="22860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Focus</a:t>
            </a:r>
            <a:endParaRPr lang="en-US" sz="2100" dirty="0"/>
          </a:p>
        </p:txBody>
      </p:sp>
      <p:sp>
        <p:nvSpPr>
          <p:cNvPr id="12" name="text-284"/>
          <p:cNvSpPr txBox="1"/>
          <p:nvPr/>
        </p:nvSpPr>
        <p:spPr>
          <a:xfrm>
            <a:off x="6556248" y="2770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We work in three very different markets.</a:t>
            </a:r>
            <a:endParaRPr lang="en-US" sz="1500" dirty="0"/>
          </a:p>
        </p:txBody>
      </p:sp>
      <p:sp>
        <p:nvSpPr>
          <p:cNvPr id="13" name="text-285"/>
          <p:cNvSpPr txBox="1"/>
          <p:nvPr/>
        </p:nvSpPr>
        <p:spPr>
          <a:xfrm>
            <a:off x="6556248" y="3154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one should we own?</a:t>
            </a:r>
            <a:endParaRPr lang="en-US" sz="1500" dirty="0"/>
          </a:p>
        </p:txBody>
      </p:sp>
      <p:sp>
        <p:nvSpPr>
          <p:cNvPr id="14" name="card-286"/>
          <p:cNvSpPr/>
          <p:nvPr/>
        </p:nvSpPr>
        <p:spPr>
          <a:xfrm>
            <a:off x="640080" y="3931920"/>
            <a:ext cx="531266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5" name="text-287"/>
          <p:cNvSpPr txBox="1"/>
          <p:nvPr/>
        </p:nvSpPr>
        <p:spPr>
          <a:xfrm>
            <a:off x="960120" y="4160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</a:t>
            </a:r>
            <a:endParaRPr lang="en-US" sz="2100" dirty="0"/>
          </a:p>
        </p:txBody>
      </p:sp>
      <p:sp>
        <p:nvSpPr>
          <p:cNvPr id="16" name="text-288"/>
          <p:cNvSpPr txBox="1"/>
          <p:nvPr/>
        </p:nvSpPr>
        <p:spPr>
          <a:xfrm>
            <a:off x="960120" y="46451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Our price is tested with only one client.</a:t>
            </a:r>
            <a:endParaRPr lang="en-US" sz="1500" dirty="0"/>
          </a:p>
        </p:txBody>
      </p:sp>
      <p:sp>
        <p:nvSpPr>
          <p:cNvPr id="17" name="text-289"/>
          <p:cNvSpPr txBox="1"/>
          <p:nvPr/>
        </p:nvSpPr>
        <p:spPr>
          <a:xfrm>
            <a:off x="96012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it right for the value?</a:t>
            </a:r>
            <a:endParaRPr lang="en-US" sz="1500" dirty="0"/>
          </a:p>
        </p:txBody>
      </p:sp>
      <p:sp>
        <p:nvSpPr>
          <p:cNvPr id="18" name="card-290"/>
          <p:cNvSpPr/>
          <p:nvPr/>
        </p:nvSpPr>
        <p:spPr>
          <a:xfrm>
            <a:off x="6236208" y="3931920"/>
            <a:ext cx="531266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text-291"/>
          <p:cNvSpPr txBox="1"/>
          <p:nvPr/>
        </p:nvSpPr>
        <p:spPr>
          <a:xfrm>
            <a:off x="6556248" y="4160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</a:t>
            </a:r>
            <a:endParaRPr lang="en-US" sz="2100" dirty="0"/>
          </a:p>
        </p:txBody>
      </p:sp>
      <p:sp>
        <p:nvSpPr>
          <p:cNvPr id="20" name="text-292"/>
          <p:cNvSpPr txBox="1"/>
          <p:nvPr/>
        </p:nvSpPr>
        <p:spPr>
          <a:xfrm>
            <a:off x="6556248" y="46451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Two founders do sales and delivery.</a:t>
            </a:r>
            <a:endParaRPr lang="en-US" sz="1500" dirty="0"/>
          </a:p>
        </p:txBody>
      </p:sp>
      <p:sp>
        <p:nvSpPr>
          <p:cNvPr id="21" name="text-293"/>
          <p:cNvSpPr txBox="1"/>
          <p:nvPr/>
        </p:nvSpPr>
        <p:spPr>
          <a:xfrm>
            <a:off x="6556248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should we hire, and who?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94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4 / 4  ·  YOUR ROLE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could work together: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</a:t>
            </a:r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options</a:t>
            </a:r>
            <a:endParaRPr lang="en-US" sz="3200" dirty="0"/>
          </a:p>
        </p:txBody>
      </p:sp>
      <p:sp>
        <p:nvSpPr>
          <p:cNvPr id="6" name="card-295"/>
          <p:cNvSpPr/>
          <p:nvPr/>
        </p:nvSpPr>
        <p:spPr>
          <a:xfrm>
            <a:off x="640080" y="2103120"/>
            <a:ext cx="3453384" cy="3017520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pic>
        <p:nvPicPr>
          <p:cNvPr id="7" name="icon-29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423160"/>
            <a:ext cx="502920" cy="502920"/>
          </a:xfrm>
          <a:prstGeom prst="rect">
            <a:avLst/>
          </a:prstGeom>
        </p:spPr>
      </p:pic>
      <p:sp>
        <p:nvSpPr>
          <p:cNvPr id="8" name="text-297"/>
          <p:cNvSpPr txBox="1"/>
          <p:nvPr/>
        </p:nvSpPr>
        <p:spPr>
          <a:xfrm>
            <a:off x="1645920" y="2514600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OUR SUGGESTION TO START</a:t>
            </a:r>
            <a:endParaRPr lang="en-US" sz="1000" dirty="0"/>
          </a:p>
        </p:txBody>
      </p:sp>
      <p:sp>
        <p:nvSpPr>
          <p:cNvPr id="9" name="text-298"/>
          <p:cNvSpPr txBox="1"/>
          <p:nvPr/>
        </p:nvSpPr>
        <p:spPr>
          <a:xfrm>
            <a:off x="960120" y="3200400"/>
            <a:ext cx="2813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Referral partner</a:t>
            </a:r>
            <a:endParaRPr lang="en-US" sz="2100" dirty="0"/>
          </a:p>
        </p:txBody>
      </p:sp>
      <p:sp>
        <p:nvSpPr>
          <p:cNvPr id="10" name="text-299"/>
          <p:cNvSpPr txBox="1"/>
          <p:nvPr/>
        </p:nvSpPr>
        <p:spPr>
          <a:xfrm>
            <a:off x="960120" y="3794760"/>
            <a:ext cx="2813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share of fees from clients you introduce.</a:t>
            </a:r>
            <a:endParaRPr lang="en-US" sz="1500" dirty="0"/>
          </a:p>
        </p:txBody>
      </p:sp>
      <p:sp>
        <p:nvSpPr>
          <p:cNvPr id="11" name="card-300"/>
          <p:cNvSpPr/>
          <p:nvPr/>
        </p:nvSpPr>
        <p:spPr>
          <a:xfrm>
            <a:off x="4367784" y="2103120"/>
            <a:ext cx="3453384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2" name="icon-30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4" y="2423160"/>
            <a:ext cx="502920" cy="502920"/>
          </a:xfrm>
          <a:prstGeom prst="rect">
            <a:avLst/>
          </a:prstGeom>
        </p:spPr>
      </p:pic>
      <p:sp>
        <p:nvSpPr>
          <p:cNvPr id="13" name="text-302"/>
          <p:cNvSpPr txBox="1"/>
          <p:nvPr/>
        </p:nvSpPr>
        <p:spPr>
          <a:xfrm>
            <a:off x="4687824" y="3200400"/>
            <a:ext cx="2813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Advisor</a:t>
            </a:r>
            <a:endParaRPr lang="en-US" sz="2100" dirty="0"/>
          </a:p>
        </p:txBody>
      </p:sp>
      <p:sp>
        <p:nvSpPr>
          <p:cNvPr id="14" name="text-303"/>
          <p:cNvSpPr txBox="1"/>
          <p:nvPr/>
        </p:nvSpPr>
        <p:spPr>
          <a:xfrm>
            <a:off x="4687824" y="3794760"/>
            <a:ext cx="2813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Set hours each month, plus a smaller share of fees.</a:t>
            </a:r>
            <a:endParaRPr lang="en-US" sz="1500" dirty="0"/>
          </a:p>
        </p:txBody>
      </p:sp>
      <p:sp>
        <p:nvSpPr>
          <p:cNvPr id="15" name="card-304"/>
          <p:cNvSpPr/>
          <p:nvPr/>
        </p:nvSpPr>
        <p:spPr>
          <a:xfrm>
            <a:off x="8095488" y="2103120"/>
            <a:ext cx="3453384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6" name="icon-30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5528" y="2423160"/>
            <a:ext cx="502920" cy="502920"/>
          </a:xfrm>
          <a:prstGeom prst="rect">
            <a:avLst/>
          </a:prstGeom>
        </p:spPr>
      </p:pic>
      <p:sp>
        <p:nvSpPr>
          <p:cNvPr id="17" name="text-306"/>
          <p:cNvSpPr txBox="1"/>
          <p:nvPr/>
        </p:nvSpPr>
        <p:spPr>
          <a:xfrm>
            <a:off x="8415528" y="3200400"/>
            <a:ext cx="2813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Strategic advisor</a:t>
            </a:r>
            <a:endParaRPr lang="en-US" sz="2100" dirty="0"/>
          </a:p>
        </p:txBody>
      </p:sp>
      <p:sp>
        <p:nvSpPr>
          <p:cNvPr id="18" name="text-307"/>
          <p:cNvSpPr txBox="1"/>
          <p:nvPr/>
        </p:nvSpPr>
        <p:spPr>
          <a:xfrm>
            <a:off x="8415528" y="3794760"/>
            <a:ext cx="2813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 small stake in Extol, once the fit is proven.</a:t>
            </a:r>
            <a:endParaRPr lang="en-US" sz="1500" dirty="0"/>
          </a:p>
        </p:txBody>
      </p:sp>
      <p:sp>
        <p:nvSpPr>
          <p:cNvPr id="19" name="text-308"/>
          <p:cNvSpPr txBox="1"/>
          <p:nvPr/>
        </p:nvSpPr>
        <p:spPr>
          <a:xfrm>
            <a:off x="640080" y="58521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Start with A for 90 days, then review together and move to B or C if it works for both sides.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09"/>
          <p:cNvSpPr txBox="1"/>
          <p:nvPr/>
        </p:nvSpPr>
        <p:spPr>
          <a:xfrm>
            <a:off x="9418320" y="1828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600" i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4 / 4  ·  YOUR ROLE</a:t>
            </a:r>
            <a:endParaRPr lang="en-US" sz="11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80467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</a:t>
            </a:r>
            <a:pPr algn="l" indent="0" marL="0">
              <a:buNone/>
            </a:pPr>
            <a:r>
              <a:rPr lang="en-US" sz="3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 days</a:t>
            </a:r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together</a:t>
            </a:r>
            <a:endParaRPr lang="en-US" sz="3200" dirty="0"/>
          </a:p>
        </p:txBody>
      </p:sp>
      <p:sp>
        <p:nvSpPr>
          <p:cNvPr id="6" name="line-310"/>
          <p:cNvSpPr/>
          <p:nvPr/>
        </p:nvSpPr>
        <p:spPr>
          <a:xfrm>
            <a:off x="868680" y="2423160"/>
            <a:ext cx="850392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dash"/>
          </a:ln>
        </p:spPr>
      </p:sp>
      <p:sp>
        <p:nvSpPr>
          <p:cNvPr id="7" name="dot-311"/>
          <p:cNvSpPr/>
          <p:nvPr/>
        </p:nvSpPr>
        <p:spPr>
          <a:xfrm>
            <a:off x="731520" y="2286000"/>
            <a:ext cx="274320" cy="2743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-312"/>
          <p:cNvSpPr txBox="1"/>
          <p:nvPr/>
        </p:nvSpPr>
        <p:spPr>
          <a:xfrm>
            <a:off x="640080" y="2834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WEEK 1</a:t>
            </a:r>
            <a:endParaRPr lang="en-US" sz="1100" dirty="0"/>
          </a:p>
        </p:txBody>
      </p:sp>
      <p:sp>
        <p:nvSpPr>
          <p:cNvPr id="9" name="text-313"/>
          <p:cNvSpPr txBox="1"/>
          <p:nvPr/>
        </p:nvSpPr>
        <p:spPr>
          <a:xfrm>
            <a:off x="64008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Agree the role and terms</a:t>
            </a:r>
            <a:endParaRPr lang="en-US" sz="1900" dirty="0"/>
          </a:p>
        </p:txBody>
      </p:sp>
      <p:sp>
        <p:nvSpPr>
          <p:cNvPr id="10" name="dot-314"/>
          <p:cNvSpPr/>
          <p:nvPr/>
        </p:nvSpPr>
        <p:spPr>
          <a:xfrm>
            <a:off x="3566160" y="2286000"/>
            <a:ext cx="274320" cy="2743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315"/>
          <p:cNvSpPr txBox="1"/>
          <p:nvPr/>
        </p:nvSpPr>
        <p:spPr>
          <a:xfrm>
            <a:off x="3474720" y="2834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DAY 30</a:t>
            </a:r>
            <a:endParaRPr lang="en-US" sz="1100" dirty="0"/>
          </a:p>
        </p:txBody>
      </p:sp>
      <p:sp>
        <p:nvSpPr>
          <p:cNvPr id="12" name="text-316"/>
          <p:cNvSpPr txBox="1"/>
          <p:nvPr/>
        </p:nvSpPr>
        <p:spPr>
          <a:xfrm>
            <a:off x="347472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 one market; list 10 people to introduce</a:t>
            </a:r>
            <a:endParaRPr lang="en-US" sz="1900" dirty="0"/>
          </a:p>
        </p:txBody>
      </p:sp>
      <p:sp>
        <p:nvSpPr>
          <p:cNvPr id="13" name="dot-317"/>
          <p:cNvSpPr/>
          <p:nvPr/>
        </p:nvSpPr>
        <p:spPr>
          <a:xfrm>
            <a:off x="6400800" y="2286000"/>
            <a:ext cx="274320" cy="2743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318"/>
          <p:cNvSpPr txBox="1"/>
          <p:nvPr/>
        </p:nvSpPr>
        <p:spPr>
          <a:xfrm>
            <a:off x="6309360" y="2834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DAY 60</a:t>
            </a:r>
            <a:endParaRPr lang="en-US" sz="1100" dirty="0"/>
          </a:p>
        </p:txBody>
      </p:sp>
      <p:sp>
        <p:nvSpPr>
          <p:cNvPr id="15" name="text-319"/>
          <p:cNvSpPr txBox="1"/>
          <p:nvPr/>
        </p:nvSpPr>
        <p:spPr>
          <a:xfrm>
            <a:off x="630936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introductions and calls</a:t>
            </a:r>
            <a:endParaRPr lang="en-US" sz="1900" dirty="0"/>
          </a:p>
        </p:txBody>
      </p:sp>
      <p:sp>
        <p:nvSpPr>
          <p:cNvPr id="16" name="dot-320"/>
          <p:cNvSpPr/>
          <p:nvPr/>
        </p:nvSpPr>
        <p:spPr>
          <a:xfrm>
            <a:off x="9235440" y="228600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-321"/>
          <p:cNvSpPr txBox="1"/>
          <p:nvPr/>
        </p:nvSpPr>
        <p:spPr>
          <a:xfrm>
            <a:off x="9144000" y="2834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DAY 90</a:t>
            </a:r>
            <a:endParaRPr lang="en-US" sz="1100" dirty="0"/>
          </a:p>
        </p:txBody>
      </p:sp>
      <p:sp>
        <p:nvSpPr>
          <p:cNvPr id="18" name="text-322"/>
          <p:cNvSpPr txBox="1"/>
          <p:nvPr/>
        </p:nvSpPr>
        <p:spPr>
          <a:xfrm>
            <a:off x="914400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new client, then review</a:t>
            </a:r>
            <a:endParaRPr lang="en-US" sz="1900" dirty="0"/>
          </a:p>
        </p:txBody>
      </p:sp>
      <p:sp>
        <p:nvSpPr>
          <p:cNvPr id="19" name="card-323"/>
          <p:cNvSpPr/>
          <p:nvPr/>
        </p:nvSpPr>
        <p:spPr>
          <a:xfrm>
            <a:off x="640080" y="4846320"/>
            <a:ext cx="10908792" cy="822960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0" name="text-324"/>
          <p:cNvSpPr txBox="1"/>
          <p:nvPr/>
        </p:nvSpPr>
        <p:spPr>
          <a:xfrm>
            <a:off x="960120" y="48463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which market do you know best? </a:t>
            </a:r>
            <a:pPr indent="0" marL="0">
              <a:buNone/>
            </a:pPr>
            <a:r>
              <a:rPr lang="en-US" sz="18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comes to mind first?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733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2801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3"/>
                </a:solidFill>
              </a:rPr>
              <a:t>THANK YOU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82880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know the people.</a:t>
            </a:r>
            <a:endParaRPr lang="en-US" sz="5400" dirty="0"/>
          </a:p>
          <a:p>
            <a:pPr algn="l" indent="0" marL="0">
              <a:buNone/>
            </a:pPr>
            <a:r>
              <a:rPr lang="en-US" sz="54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build the </a:t>
            </a:r>
            <a:pPr algn="l" indent="0" marL="0">
              <a:buNone/>
            </a:pPr>
            <a:r>
              <a:rPr lang="en-US" sz="5400" i="1" dirty="0">
                <a:solidFill>
                  <a:schemeClr val="accent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</a:t>
            </a:r>
            <a:pPr algn="l" indent="0" marL="0">
              <a:buNone/>
            </a:pPr>
            <a:r>
              <a:rPr lang="en-US" sz="54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16052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Together we can win the right clients, faster.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3"/>
                </a:solidFill>
              </a:rPr>
              <a:t>DEVASYA DWIVEDI  ·  ANSHUL MIKITA PRAJAPATI  ·  ADMIN@EXTOLAFFILIATES.COM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tol Affiliates">
  <a:themeElements>
    <a:clrScheme name="Extol Affiliates">
      <a:dk1>
        <a:srgbClr val="101F14"/>
      </a:dk1>
      <a:lt1>
        <a:srgbClr val="FFFFFF"/>
      </a:lt1>
      <a:dk2>
        <a:srgbClr val="1D3524"/>
      </a:dk2>
      <a:lt2>
        <a:srgbClr val="E9F0C9"/>
      </a:lt2>
      <a:accent1>
        <a:srgbClr val="2B4A34"/>
      </a:accent1>
      <a:accent2>
        <a:srgbClr val="7E9C6B"/>
      </a:accent2>
      <a:accent3>
        <a:srgbClr val="9EBB80"/>
      </a:accent3>
      <a:accent4>
        <a:srgbClr val="C6DE9F"/>
      </a:accent4>
      <a:accent5>
        <a:srgbClr val="5B6B5E"/>
      </a:accent5>
      <a:accent6>
        <a:srgbClr val="F6F8EE"/>
      </a:accent6>
      <a:hlink>
        <a:srgbClr val="2B4A34"/>
      </a:hlink>
      <a:folHlink>
        <a:srgbClr val="7E9C6B"/>
      </a:folHlink>
    </a:clrScheme>
    <a:fontScheme name="Extol Affiliates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Extol Affiliates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Extol Affiliates x David Samuel</dc:title>
  <dc:subject>PptxGenJS Presentation</dc:subject>
  <dc:creator>Extol Affiliates</dc:creator>
  <cp:lastModifiedBy>Extol Affiliates</cp:lastModifiedBy>
  <cp:revision>1</cp:revision>
  <dcterms:created xsi:type="dcterms:W3CDTF">2026-10-23T14:23:37Z</dcterms:created>
  <dcterms:modified xsi:type="dcterms:W3CDTF">2026-10-23T14:23:37Z</dcterms:modified>
</cp:coreProperties>
</file>