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fa6126f-6388-3ef1-8f1b-1252e5377a04}">
          <p14:sldIdLst>
            <p14:sldId id="256"/>
            <p14:sldId id="257"/>
          </p14:sldIdLst>
        </p14:section>
        <p14:section name="Who we are" id="{998c28cf-ec9d-a400-30f2-316f6ad72fde}">
          <p14:sldIdLst>
            <p14:sldId id="258"/>
            <p14:sldId id="259"/>
            <p14:sldId id="260"/>
          </p14:sldIdLst>
        </p14:section>
        <p14:section name="What we’ve done" id="{91387f0a-82a2-b5f7-9096-2826636e78d2}">
          <p14:sldIdLst>
            <p14:sldId id="261"/>
            <p14:sldId id="262"/>
          </p14:sldIdLst>
        </p14:section>
        <p14:section name="What we offer" id="{9decd1b6-142c-a46b-e91c-ef7bacd07c53}">
          <p14:sldIdLst>
            <p14:sldId id="263"/>
            <p14:sldId id="264"/>
            <p14:sldId id="265"/>
            <p14:sldId id="266"/>
            <p14:sldId id="267"/>
          </p14:sldIdLst>
        </p14:section>
        <p14:section name="Your role" id="{2c132a51-793f-ce43-4322-d40f4a5a1410}">
          <p14:sldIdLst>
            <p14:sldId id="268"/>
            <p14:sldId id="269"/>
            <p14:sldId id="270"/>
            <p14:sldId id="271"/>
            <p14:sldId id="272"/>
          </p14:sldIdLst>
        </p14:section>
        <p14:section name="Close" id="{45e165c0-f6ad-e8dd-7246-870487d8db0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 month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Connection requests</c:v>
                  </c:pt>
                  <c:pt idx="1">
                    <c:v>Accepted</c:v>
                  </c:pt>
                  <c:pt idx="2">
                    <c:v>Replied</c:v>
                  </c:pt>
                  <c:pt idx="3">
                    <c:v>Calls booked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150</c:v>
                </c:pt>
                <c:pt idx="2">
                  <c:v>27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agree how David works alongside Extol to advise, guide and bring in new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Extol is two founders plus a set of AI tools we built ourselves. AI drafts; people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from a real October audit of a client (name kept private): 1,597 followers, 9 reactions per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3D Images AI and Bloggerly are public. The consultancy is under NDA, so it is not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card: what we do, then why. Steps 1 and 4 are set up in the first month; 2 and 3 run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most common worry: 'I don't have time.'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planning estimates from our consultancy client's plan, not proven results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Founding-client price. Prices exclude VAT.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David which of the three he wants to lead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about our gaps gets better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Terms are deliberately left open to agree in the meeting. Decide our walk-away numbers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asking: which market do you know best, and who comes to mind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chemeClr val="accent2"/>
                </a:solidFill>
              </a:rPr>
              <a:t>EXTOL AFFILIATES  ×  DAVID SAMUEL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EXTOL AFFILIATES  ×  DAVID SAMUEL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together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win new clients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Who we are, what we offer, and how you can help.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Monday 26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TODAY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questions, answered in order</a:t>
            </a:r>
            <a:endParaRPr lang="en-US" sz="3400" dirty="0"/>
          </a:p>
        </p:txBody>
      </p:sp>
      <p:sp>
        <p:nvSpPr>
          <p:cNvPr id="4" name="num-1"/>
          <p:cNvSpPr/>
          <p:nvPr/>
        </p:nvSpPr>
        <p:spPr>
          <a:xfrm>
            <a:off x="640080" y="20574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2"/>
          <p:cNvSpPr txBox="1"/>
          <p:nvPr/>
        </p:nvSpPr>
        <p:spPr>
          <a:xfrm>
            <a:off x="64008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-3"/>
          <p:cNvSpPr txBox="1"/>
          <p:nvPr/>
        </p:nvSpPr>
        <p:spPr>
          <a:xfrm>
            <a:off x="1600200" y="20756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7" name="text-4"/>
          <p:cNvSpPr txBox="1"/>
          <p:nvPr/>
        </p:nvSpPr>
        <p:spPr>
          <a:xfrm>
            <a:off x="5486400" y="207568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What Extol does, in one line</a:t>
            </a:r>
            <a:endParaRPr lang="en-US" sz="1800" dirty="0"/>
          </a:p>
        </p:txBody>
      </p:sp>
      <p:sp>
        <p:nvSpPr>
          <p:cNvPr id="8" name="num-5"/>
          <p:cNvSpPr/>
          <p:nvPr/>
        </p:nvSpPr>
        <p:spPr>
          <a:xfrm>
            <a:off x="640080" y="304495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-6"/>
          <p:cNvSpPr txBox="1"/>
          <p:nvPr/>
        </p:nvSpPr>
        <p:spPr>
          <a:xfrm>
            <a:off x="640080" y="304495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-7"/>
          <p:cNvSpPr txBox="1"/>
          <p:nvPr/>
        </p:nvSpPr>
        <p:spPr>
          <a:xfrm>
            <a:off x="1600200" y="3063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we’ve done</a:t>
            </a:r>
            <a:endParaRPr lang="en-US" sz="2400" dirty="0"/>
          </a:p>
        </p:txBody>
      </p:sp>
      <p:sp>
        <p:nvSpPr>
          <p:cNvPr id="11" name="text-8"/>
          <p:cNvSpPr txBox="1"/>
          <p:nvPr/>
        </p:nvSpPr>
        <p:spPr>
          <a:xfrm>
            <a:off x="5486400" y="306324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clients we’ve worked with so far</a:t>
            </a:r>
            <a:endParaRPr lang="en-US" sz="1800" dirty="0"/>
          </a:p>
        </p:txBody>
      </p:sp>
      <p:sp>
        <p:nvSpPr>
          <p:cNvPr id="12" name="num-9"/>
          <p:cNvSpPr/>
          <p:nvPr/>
        </p:nvSpPr>
        <p:spPr>
          <a:xfrm>
            <a:off x="640080" y="4032504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10"/>
          <p:cNvSpPr txBox="1"/>
          <p:nvPr/>
        </p:nvSpPr>
        <p:spPr>
          <a:xfrm>
            <a:off x="640080" y="403250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-11"/>
          <p:cNvSpPr txBox="1"/>
          <p:nvPr/>
        </p:nvSpPr>
        <p:spPr>
          <a:xfrm>
            <a:off x="1600200" y="405079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offer</a:t>
            </a:r>
            <a:endParaRPr lang="en-US" sz="2400" dirty="0"/>
          </a:p>
        </p:txBody>
      </p:sp>
      <p:sp>
        <p:nvSpPr>
          <p:cNvPr id="15" name="text-12"/>
          <p:cNvSpPr txBox="1"/>
          <p:nvPr/>
        </p:nvSpPr>
        <p:spPr>
          <a:xfrm>
            <a:off x="5486400" y="405079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What a client gets, why, and what it costs</a:t>
            </a:r>
            <a:endParaRPr lang="en-US" sz="1800" dirty="0"/>
          </a:p>
        </p:txBody>
      </p:sp>
      <p:sp>
        <p:nvSpPr>
          <p:cNvPr id="16" name="num-13"/>
          <p:cNvSpPr/>
          <p:nvPr/>
        </p:nvSpPr>
        <p:spPr>
          <a:xfrm>
            <a:off x="640080" y="5020056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-14"/>
          <p:cNvSpPr txBox="1"/>
          <p:nvPr/>
        </p:nvSpPr>
        <p:spPr>
          <a:xfrm>
            <a:off x="640080" y="502005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-15"/>
          <p:cNvSpPr txBox="1"/>
          <p:nvPr/>
        </p:nvSpPr>
        <p:spPr>
          <a:xfrm>
            <a:off x="1600200" y="503834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</a:t>
            </a:r>
            <a:endParaRPr lang="en-US" sz="2400" dirty="0"/>
          </a:p>
        </p:txBody>
      </p:sp>
      <p:sp>
        <p:nvSpPr>
          <p:cNvPr id="19" name="text-16"/>
          <p:cNvSpPr txBox="1"/>
          <p:nvPr/>
        </p:nvSpPr>
        <p:spPr>
          <a:xfrm>
            <a:off x="5486400" y="503834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How you can help, and how we’d work together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What Extol does, in one line.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 / 4  ·  WHO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help experts win clients, without using their time</a:t>
            </a:r>
            <a:endParaRPr lang="en-US" sz="3400" dirty="0"/>
          </a:p>
        </p:txBody>
      </p:sp>
      <p:sp>
        <p:nvSpPr>
          <p:cNvPr id="5" name="box-17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18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20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</a:t>
            </a:r>
            <a:endParaRPr lang="en-US" sz="2200" dirty="0"/>
          </a:p>
        </p:txBody>
      </p:sp>
      <p:sp>
        <p:nvSpPr>
          <p:cNvPr id="9" name="text-21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Find the right buyers, reach them, and keep the expert visible every week.</a:t>
            </a:r>
            <a:endParaRPr lang="en-US" sz="1700" dirty="0"/>
          </a:p>
        </p:txBody>
      </p:sp>
      <p:sp>
        <p:nvSpPr>
          <p:cNvPr id="10" name="box-22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23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25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2200" dirty="0"/>
          </a:p>
        </p:txBody>
      </p:sp>
      <p:sp>
        <p:nvSpPr>
          <p:cNvPr id="14" name="text-26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Devasya Dwivedi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Anshul Mikita Prajapati</a:t>
            </a:r>
            <a:endParaRPr lang="en-US" sz="1700" dirty="0"/>
          </a:p>
        </p:txBody>
      </p:sp>
      <p:sp>
        <p:nvSpPr>
          <p:cNvPr id="15" name="box-27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-bg-28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2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30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</a:t>
            </a:r>
            <a:endParaRPr lang="en-US" sz="2200" dirty="0"/>
          </a:p>
        </p:txBody>
      </p:sp>
      <p:sp>
        <p:nvSpPr>
          <p:cNvPr id="19" name="text-31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AI does the heavy lifting. Nothing goes out without the client’s approval.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 / 4  ·  WHO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buyers don’t know great experts exist</a:t>
            </a:r>
            <a:endParaRPr lang="en-US" sz="3400" dirty="0"/>
          </a:p>
        </p:txBody>
      </p:sp>
      <p:sp>
        <p:nvSpPr>
          <p:cNvPr id="5" name="box-32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33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35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time</a:t>
            </a:r>
            <a:endParaRPr lang="en-US" sz="2200" dirty="0"/>
          </a:p>
        </p:txBody>
      </p:sp>
      <p:sp>
        <p:nvSpPr>
          <p:cNvPr id="9" name="text-36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Experts are busy doing the work. Marketing comes last.</a:t>
            </a:r>
            <a:endParaRPr lang="en-US" sz="1700" dirty="0"/>
          </a:p>
        </p:txBody>
      </p:sp>
      <p:sp>
        <p:nvSpPr>
          <p:cNvPr id="10" name="box-37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38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40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system</a:t>
            </a:r>
            <a:endParaRPr lang="en-US" sz="2200" dirty="0"/>
          </a:p>
        </p:txBody>
      </p:sp>
      <p:sp>
        <p:nvSpPr>
          <p:cNvPr id="14" name="text-41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New work comes only from referrals, so growth can’t be planned.</a:t>
            </a:r>
            <a:endParaRPr lang="en-US" sz="1700" dirty="0"/>
          </a:p>
        </p:txBody>
      </p:sp>
      <p:sp>
        <p:nvSpPr>
          <p:cNvPr id="15" name="box-42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-bg-43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45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noise</a:t>
            </a:r>
            <a:endParaRPr lang="en-US" sz="2200" dirty="0"/>
          </a:p>
        </p:txBody>
      </p:sp>
      <p:sp>
        <p:nvSpPr>
          <p:cNvPr id="19" name="text-46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Buyers ignore generic, AI-written messages.</a:t>
            </a:r>
            <a:endParaRPr lang="en-US" sz="1700" dirty="0"/>
          </a:p>
        </p:txBody>
      </p:sp>
      <p:sp>
        <p:nvSpPr>
          <p:cNvPr id="20" name="text-47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Real example: a former Big Four partner had 1,597 LinkedIn followers and 9 reactions per post. Expert, but invisible.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we’ve done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The clients we’ve worked with so far.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 / 4  ·  WHAT WE’VE DONE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clients, three different markets, one method</a:t>
            </a:r>
            <a:endParaRPr lang="en-US" sz="3400" dirty="0"/>
          </a:p>
        </p:txBody>
      </p:sp>
      <p:graphicFrame>
        <p:nvGraphicFramePr>
          <p:cNvPr id="8" name="table-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657600"/>
                <a:gridCol w="45720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they sell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we did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3D Images AI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3D product models for Amazon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Outreach to 2,100+ Amazon brand owners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Bloggerly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SEO articles for businesses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LinkedIn campaign; leads now asking for calls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UK consultancy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Finance and SAP advice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Full growth plan, delivered the day after the first call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box-49"/>
          <p:cNvSpPr/>
          <p:nvPr/>
        </p:nvSpPr>
        <p:spPr>
          <a:xfrm>
            <a:off x="640080" y="5257800"/>
            <a:ext cx="10881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50"/>
          <p:cNvSpPr txBox="1"/>
          <p:nvPr/>
        </p:nvSpPr>
        <p:spPr>
          <a:xfrm>
            <a:off x="914400" y="52578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Our own proof: when Extol’s LinkedIn page reached about 50 followers, new clients started coming to 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offer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What a client gets, why, and what it costs.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client gets four things</a:t>
            </a:r>
            <a:endParaRPr lang="en-US" sz="3400" dirty="0"/>
          </a:p>
        </p:txBody>
      </p:sp>
      <p:sp>
        <p:nvSpPr>
          <p:cNvPr id="5" name="box-51"/>
          <p:cNvSpPr/>
          <p:nvPr/>
        </p:nvSpPr>
        <p:spPr>
          <a:xfrm>
            <a:off x="64008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52"/>
          <p:cNvSpPr/>
          <p:nvPr/>
        </p:nvSpPr>
        <p:spPr>
          <a:xfrm>
            <a:off x="96012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5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606040"/>
            <a:ext cx="365760" cy="365760"/>
          </a:xfrm>
          <a:prstGeom prst="rect">
            <a:avLst/>
          </a:prstGeom>
        </p:spPr>
      </p:pic>
      <p:sp>
        <p:nvSpPr>
          <p:cNvPr id="8" name="text-54"/>
          <p:cNvSpPr txBox="1"/>
          <p:nvPr/>
        </p:nvSpPr>
        <p:spPr>
          <a:xfrm>
            <a:off x="96012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Look credible</a:t>
            </a:r>
            <a:endParaRPr lang="en-US" sz="2100" dirty="0"/>
          </a:p>
        </p:txBody>
      </p:sp>
      <p:sp>
        <p:nvSpPr>
          <p:cNvPr id="9" name="text-55"/>
          <p:cNvSpPr txBox="1"/>
          <p:nvPr/>
        </p:nvSpPr>
        <p:spPr>
          <a:xfrm>
            <a:off x="96012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Fix the profile and website.</a:t>
            </a:r>
            <a:endParaRPr lang="en-US" sz="1700" dirty="0"/>
          </a:p>
        </p:txBody>
      </p:sp>
      <p:sp>
        <p:nvSpPr>
          <p:cNvPr id="10" name="text-56"/>
          <p:cNvSpPr txBox="1"/>
          <p:nvPr/>
        </p:nvSpPr>
        <p:spPr>
          <a:xfrm>
            <a:off x="96012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Buyers check you before they reply.</a:t>
            </a:r>
            <a:endParaRPr lang="en-US" sz="1500" dirty="0"/>
          </a:p>
        </p:txBody>
      </p:sp>
      <p:sp>
        <p:nvSpPr>
          <p:cNvPr id="11" name="box-57"/>
          <p:cNvSpPr/>
          <p:nvPr/>
        </p:nvSpPr>
        <p:spPr>
          <a:xfrm>
            <a:off x="344043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58"/>
          <p:cNvSpPr/>
          <p:nvPr/>
        </p:nvSpPr>
        <p:spPr>
          <a:xfrm>
            <a:off x="376047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350" y="2606040"/>
            <a:ext cx="365760" cy="365760"/>
          </a:xfrm>
          <a:prstGeom prst="rect">
            <a:avLst/>
          </a:prstGeom>
        </p:spPr>
      </p:pic>
      <p:sp>
        <p:nvSpPr>
          <p:cNvPr id="14" name="text-60"/>
          <p:cNvSpPr txBox="1"/>
          <p:nvPr/>
        </p:nvSpPr>
        <p:spPr>
          <a:xfrm>
            <a:off x="376047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Reach buyers</a:t>
            </a:r>
            <a:endParaRPr lang="en-US" sz="2100" dirty="0"/>
          </a:p>
        </p:txBody>
      </p:sp>
      <p:sp>
        <p:nvSpPr>
          <p:cNvPr id="15" name="text-61"/>
          <p:cNvSpPr txBox="1"/>
          <p:nvPr/>
        </p:nvSpPr>
        <p:spPr>
          <a:xfrm>
            <a:off x="376047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Message the right people daily.</a:t>
            </a:r>
            <a:endParaRPr lang="en-US" sz="1700" dirty="0"/>
          </a:p>
        </p:txBody>
      </p:sp>
      <p:sp>
        <p:nvSpPr>
          <p:cNvPr id="16" name="text-62"/>
          <p:cNvSpPr txBox="1"/>
          <p:nvPr/>
        </p:nvSpPr>
        <p:spPr>
          <a:xfrm>
            <a:off x="376047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A reason to talk gets replies.</a:t>
            </a:r>
            <a:endParaRPr lang="en-US" sz="1500" dirty="0"/>
          </a:p>
        </p:txBody>
      </p:sp>
      <p:sp>
        <p:nvSpPr>
          <p:cNvPr id="17" name="box-63"/>
          <p:cNvSpPr/>
          <p:nvPr/>
        </p:nvSpPr>
        <p:spPr>
          <a:xfrm>
            <a:off x="624078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-bg-64"/>
          <p:cNvSpPr/>
          <p:nvPr/>
        </p:nvSpPr>
        <p:spPr>
          <a:xfrm>
            <a:off x="656082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-6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0" y="2606040"/>
            <a:ext cx="365760" cy="365760"/>
          </a:xfrm>
          <a:prstGeom prst="rect">
            <a:avLst/>
          </a:prstGeom>
        </p:spPr>
      </p:pic>
      <p:sp>
        <p:nvSpPr>
          <p:cNvPr id="20" name="text-66"/>
          <p:cNvSpPr txBox="1"/>
          <p:nvPr/>
        </p:nvSpPr>
        <p:spPr>
          <a:xfrm>
            <a:off x="656082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Stay visible</a:t>
            </a:r>
            <a:endParaRPr lang="en-US" sz="2100" dirty="0"/>
          </a:p>
        </p:txBody>
      </p:sp>
      <p:sp>
        <p:nvSpPr>
          <p:cNvPr id="21" name="text-67"/>
          <p:cNvSpPr txBox="1"/>
          <p:nvPr/>
        </p:nvSpPr>
        <p:spPr>
          <a:xfrm>
            <a:off x="656082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Post and comment every week.</a:t>
            </a:r>
            <a:endParaRPr lang="en-US" sz="1700" dirty="0"/>
          </a:p>
        </p:txBody>
      </p:sp>
      <p:sp>
        <p:nvSpPr>
          <p:cNvPr id="22" name="text-68"/>
          <p:cNvSpPr txBox="1"/>
          <p:nvPr/>
        </p:nvSpPr>
        <p:spPr>
          <a:xfrm>
            <a:off x="656082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Buyers remember who they see.</a:t>
            </a:r>
            <a:endParaRPr lang="en-US" sz="1500" dirty="0"/>
          </a:p>
        </p:txBody>
      </p:sp>
      <p:sp>
        <p:nvSpPr>
          <p:cNvPr id="23" name="box-69"/>
          <p:cNvSpPr/>
          <p:nvPr/>
        </p:nvSpPr>
        <p:spPr>
          <a:xfrm>
            <a:off x="904113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-bg-70"/>
          <p:cNvSpPr/>
          <p:nvPr/>
        </p:nvSpPr>
        <p:spPr>
          <a:xfrm>
            <a:off x="936117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-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4050" y="2606040"/>
            <a:ext cx="365760" cy="365760"/>
          </a:xfrm>
          <a:prstGeom prst="rect">
            <a:avLst/>
          </a:prstGeom>
        </p:spPr>
      </p:pic>
      <p:sp>
        <p:nvSpPr>
          <p:cNvPr id="26" name="text-72"/>
          <p:cNvSpPr txBox="1"/>
          <p:nvPr/>
        </p:nvSpPr>
        <p:spPr>
          <a:xfrm>
            <a:off x="936117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Track results</a:t>
            </a:r>
            <a:endParaRPr lang="en-US" sz="2100" dirty="0"/>
          </a:p>
        </p:txBody>
      </p:sp>
      <p:sp>
        <p:nvSpPr>
          <p:cNvPr id="27" name="text-73"/>
          <p:cNvSpPr txBox="1"/>
          <p:nvPr/>
        </p:nvSpPr>
        <p:spPr>
          <a:xfrm>
            <a:off x="936117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Live dashboard, monthly review.</a:t>
            </a:r>
            <a:endParaRPr lang="en-US" sz="1700" dirty="0"/>
          </a:p>
        </p:txBody>
      </p:sp>
      <p:sp>
        <p:nvSpPr>
          <p:cNvPr id="28" name="text-74"/>
          <p:cNvSpPr txBox="1"/>
          <p:nvPr/>
        </p:nvSpPr>
        <p:spPr>
          <a:xfrm>
            <a:off x="936117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Keep what works, drop what doesn’t.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works: the client spends about 2½ hours a week</a:t>
            </a:r>
            <a:endParaRPr lang="en-US" sz="3400" dirty="0"/>
          </a:p>
        </p:txBody>
      </p:sp>
      <p:sp>
        <p:nvSpPr>
          <p:cNvPr id="5" name="box-75"/>
          <p:cNvSpPr/>
          <p:nvPr/>
        </p:nvSpPr>
        <p:spPr>
          <a:xfrm>
            <a:off x="64008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icon-bg-76"/>
          <p:cNvSpPr/>
          <p:nvPr/>
        </p:nvSpPr>
        <p:spPr>
          <a:xfrm>
            <a:off x="1417320" y="2606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on-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811780"/>
            <a:ext cx="411480" cy="411480"/>
          </a:xfrm>
          <a:prstGeom prst="rect">
            <a:avLst/>
          </a:prstGeom>
        </p:spPr>
      </p:pic>
      <p:sp>
        <p:nvSpPr>
          <p:cNvPr id="8" name="text-78"/>
          <p:cNvSpPr txBox="1"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CLIENT</a:t>
            </a:r>
            <a:endParaRPr lang="en-US" sz="1300" dirty="0"/>
          </a:p>
        </p:txBody>
      </p:sp>
      <p:sp>
        <p:nvSpPr>
          <p:cNvPr id="9" name="text-79"/>
          <p:cNvSpPr txBox="1"/>
          <p:nvPr/>
        </p:nvSpPr>
        <p:spPr>
          <a:xfrm>
            <a:off x="86868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Sends one short note a week</a:t>
            </a:r>
            <a:endParaRPr lang="en-US" sz="1800" dirty="0"/>
          </a:p>
        </p:txBody>
      </p:sp>
      <p:sp>
        <p:nvSpPr>
          <p:cNvPr id="10" name="arrow-80"/>
          <p:cNvSpPr/>
          <p:nvPr/>
        </p:nvSpPr>
        <p:spPr>
          <a:xfrm>
            <a:off x="310896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box-81"/>
          <p:cNvSpPr/>
          <p:nvPr/>
        </p:nvSpPr>
        <p:spPr>
          <a:xfrm>
            <a:off x="347472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82"/>
          <p:cNvSpPr/>
          <p:nvPr/>
        </p:nvSpPr>
        <p:spPr>
          <a:xfrm>
            <a:off x="4251960" y="26060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8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2811780"/>
            <a:ext cx="411480" cy="411480"/>
          </a:xfrm>
          <a:prstGeom prst="rect">
            <a:avLst/>
          </a:prstGeom>
        </p:spPr>
      </p:pic>
      <p:sp>
        <p:nvSpPr>
          <p:cNvPr id="14" name="text-84"/>
          <p:cNvSpPr txBox="1"/>
          <p:nvPr/>
        </p:nvSpPr>
        <p:spPr>
          <a:xfrm>
            <a:off x="347472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EXTOL</a:t>
            </a:r>
            <a:endParaRPr lang="en-US" sz="1300" dirty="0"/>
          </a:p>
        </p:txBody>
      </p:sp>
      <p:sp>
        <p:nvSpPr>
          <p:cNvPr id="15" name="text-85"/>
          <p:cNvSpPr txBox="1"/>
          <p:nvPr/>
        </p:nvSpPr>
        <p:spPr>
          <a:xfrm>
            <a:off x="370332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Turns it into posts and messages</a:t>
            </a:r>
            <a:endParaRPr lang="en-US" sz="1800" dirty="0"/>
          </a:p>
        </p:txBody>
      </p:sp>
      <p:sp>
        <p:nvSpPr>
          <p:cNvPr id="16" name="arrow-86"/>
          <p:cNvSpPr/>
          <p:nvPr/>
        </p:nvSpPr>
        <p:spPr>
          <a:xfrm>
            <a:off x="594360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box-87"/>
          <p:cNvSpPr/>
          <p:nvPr/>
        </p:nvSpPr>
        <p:spPr>
          <a:xfrm>
            <a:off x="630936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-bg-88"/>
          <p:cNvSpPr/>
          <p:nvPr/>
        </p:nvSpPr>
        <p:spPr>
          <a:xfrm>
            <a:off x="7086600" y="2606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-8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340" y="2811780"/>
            <a:ext cx="411480" cy="411480"/>
          </a:xfrm>
          <a:prstGeom prst="rect">
            <a:avLst/>
          </a:prstGeom>
        </p:spPr>
      </p:pic>
      <p:sp>
        <p:nvSpPr>
          <p:cNvPr id="20" name="text-90"/>
          <p:cNvSpPr txBox="1"/>
          <p:nvPr/>
        </p:nvSpPr>
        <p:spPr>
          <a:xfrm>
            <a:off x="630936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CLIENT</a:t>
            </a:r>
            <a:endParaRPr lang="en-US" sz="1300" dirty="0"/>
          </a:p>
        </p:txBody>
      </p:sp>
      <p:sp>
        <p:nvSpPr>
          <p:cNvPr id="21" name="text-91"/>
          <p:cNvSpPr txBox="1"/>
          <p:nvPr/>
        </p:nvSpPr>
        <p:spPr>
          <a:xfrm>
            <a:off x="653796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Approves on their phone</a:t>
            </a:r>
            <a:endParaRPr lang="en-US" sz="1800" dirty="0"/>
          </a:p>
        </p:txBody>
      </p:sp>
      <p:sp>
        <p:nvSpPr>
          <p:cNvPr id="22" name="arrow-92"/>
          <p:cNvSpPr/>
          <p:nvPr/>
        </p:nvSpPr>
        <p:spPr>
          <a:xfrm>
            <a:off x="877824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box-93"/>
          <p:cNvSpPr/>
          <p:nvPr/>
        </p:nvSpPr>
        <p:spPr>
          <a:xfrm>
            <a:off x="914400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-bg-94"/>
          <p:cNvSpPr/>
          <p:nvPr/>
        </p:nvSpPr>
        <p:spPr>
          <a:xfrm>
            <a:off x="9921240" y="26060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-9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6980" y="2811780"/>
            <a:ext cx="411480" cy="411480"/>
          </a:xfrm>
          <a:prstGeom prst="rect">
            <a:avLst/>
          </a:prstGeom>
        </p:spPr>
      </p:pic>
      <p:sp>
        <p:nvSpPr>
          <p:cNvPr id="26" name="text-96"/>
          <p:cNvSpPr txBox="1"/>
          <p:nvPr/>
        </p:nvSpPr>
        <p:spPr>
          <a:xfrm>
            <a:off x="914400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EXTOL</a:t>
            </a:r>
            <a:endParaRPr lang="en-US" sz="1300" dirty="0"/>
          </a:p>
        </p:txBody>
      </p:sp>
      <p:sp>
        <p:nvSpPr>
          <p:cNvPr id="27" name="text-97"/>
          <p:cNvSpPr txBox="1"/>
          <p:nvPr/>
        </p:nvSpPr>
        <p:spPr>
          <a:xfrm>
            <a:off x="937260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Publishes and reports results</a:t>
            </a:r>
            <a:endParaRPr lang="en-US" sz="1800" dirty="0"/>
          </a:p>
        </p:txBody>
      </p:sp>
      <p:sp>
        <p:nvSpPr>
          <p:cNvPr id="28" name="text-98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Nothing is ever published without the client’s yes.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expect it to produce each month</a:t>
            </a:r>
            <a:endParaRPr lang="en-US" sz="3400" dirty="0"/>
          </a:p>
        </p:txBody>
      </p:sp>
      <p:graphicFrame>
        <p:nvGraphicFramePr>
          <p:cNvPr id="5" name="funnel-chart" descr=""/>
          <p:cNvGraphicFramePr/>
          <p:nvPr/>
        </p:nvGraphicFramePr>
        <p:xfrm>
          <a:off x="640080" y="201168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box-99"/>
          <p:cNvSpPr/>
          <p:nvPr/>
        </p:nvSpPr>
        <p:spPr>
          <a:xfrm>
            <a:off x="7955280" y="2103120"/>
            <a:ext cx="3566160" cy="35661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-100"/>
          <p:cNvSpPr txBox="1"/>
          <p:nvPr/>
        </p:nvSpPr>
        <p:spPr>
          <a:xfrm>
            <a:off x="822960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BY MONTH 6</a:t>
            </a:r>
            <a:endParaRPr lang="en-US" sz="1300" dirty="0"/>
          </a:p>
        </p:txBody>
      </p:sp>
      <p:sp>
        <p:nvSpPr>
          <p:cNvPr id="8" name="text-101"/>
          <p:cNvSpPr txBox="1"/>
          <p:nvPr/>
        </p:nvSpPr>
        <p:spPr>
          <a:xfrm>
            <a:off x="8229600" y="2788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600" dirty="0"/>
          </a:p>
        </p:txBody>
      </p:sp>
      <p:sp>
        <p:nvSpPr>
          <p:cNvPr id="9" name="text-102"/>
          <p:cNvSpPr txBox="1"/>
          <p:nvPr/>
        </p:nvSpPr>
        <p:spPr>
          <a:xfrm>
            <a:off x="9601200" y="2788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leads a month</a:t>
            </a:r>
            <a:endParaRPr lang="en-US" sz="1700" dirty="0"/>
          </a:p>
        </p:txBody>
      </p:sp>
      <p:sp>
        <p:nvSpPr>
          <p:cNvPr id="10" name="text-103"/>
          <p:cNvSpPr txBox="1"/>
          <p:nvPr/>
        </p:nvSpPr>
        <p:spPr>
          <a:xfrm>
            <a:off x="8229600" y="3703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-104"/>
          <p:cNvSpPr txBox="1"/>
          <p:nvPr/>
        </p:nvSpPr>
        <p:spPr>
          <a:xfrm>
            <a:off x="960120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real sales calls</a:t>
            </a:r>
            <a:endParaRPr lang="en-US" sz="1700" dirty="0"/>
          </a:p>
        </p:txBody>
      </p:sp>
      <p:sp>
        <p:nvSpPr>
          <p:cNvPr id="12" name="text-105"/>
          <p:cNvSpPr txBox="1"/>
          <p:nvPr/>
        </p:nvSpPr>
        <p:spPr>
          <a:xfrm>
            <a:off x="8229600" y="4617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</a:t>
            </a:r>
            <a:endParaRPr lang="en-US" sz="3600" dirty="0"/>
          </a:p>
        </p:txBody>
      </p:sp>
      <p:sp>
        <p:nvSpPr>
          <p:cNvPr id="13" name="text-106"/>
          <p:cNvSpPr txBox="1"/>
          <p:nvPr/>
        </p:nvSpPr>
        <p:spPr>
          <a:xfrm>
            <a:off x="9601200" y="4617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new clients</a:t>
            </a:r>
            <a:endParaRPr lang="en-US" sz="1700" dirty="0"/>
          </a:p>
        </p:txBody>
      </p:sp>
      <p:sp>
        <p:nvSpPr>
          <p:cNvPr id="14" name="text-107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Planning estimates, not yet proven results. Big contracts take 6–12 months to close.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costs: one monthly fee, every tool included</a:t>
            </a:r>
            <a:endParaRPr lang="en-US" sz="3400" dirty="0"/>
          </a:p>
        </p:txBody>
      </p:sp>
      <p:sp>
        <p:nvSpPr>
          <p:cNvPr id="5" name="box-108"/>
          <p:cNvSpPr/>
          <p:nvPr/>
        </p:nvSpPr>
        <p:spPr>
          <a:xfrm>
            <a:off x="640080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109"/>
          <p:cNvSpPr txBox="1"/>
          <p:nvPr/>
        </p:nvSpPr>
        <p:spPr>
          <a:xfrm>
            <a:off x="100584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MONTH 1</a:t>
            </a:r>
            <a:endParaRPr lang="en-US" sz="1300" dirty="0"/>
          </a:p>
        </p:txBody>
      </p:sp>
      <p:sp>
        <p:nvSpPr>
          <p:cNvPr id="7" name="text-110"/>
          <p:cNvSpPr txBox="1"/>
          <p:nvPr/>
        </p:nvSpPr>
        <p:spPr>
          <a:xfrm>
            <a:off x="100584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£1,500</a:t>
            </a:r>
            <a:endParaRPr lang="en-US" sz="4400" dirty="0"/>
          </a:p>
        </p:txBody>
      </p:sp>
      <p:sp>
        <p:nvSpPr>
          <p:cNvPr id="8" name="text-111"/>
          <p:cNvSpPr txBox="1"/>
          <p:nvPr/>
        </p:nvSpPr>
        <p:spPr>
          <a:xfrm>
            <a:off x="100584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Set-up and website</a:t>
            </a:r>
            <a:endParaRPr lang="en-US" sz="1700" dirty="0"/>
          </a:p>
        </p:txBody>
      </p:sp>
      <p:sp>
        <p:nvSpPr>
          <p:cNvPr id="9" name="box-112"/>
          <p:cNvSpPr/>
          <p:nvPr/>
        </p:nvSpPr>
        <p:spPr>
          <a:xfrm>
            <a:off x="4370832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13"/>
          <p:cNvSpPr txBox="1"/>
          <p:nvPr/>
        </p:nvSpPr>
        <p:spPr>
          <a:xfrm>
            <a:off x="4736592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MONTHS 2–3</a:t>
            </a:r>
            <a:endParaRPr lang="en-US" sz="1300" dirty="0"/>
          </a:p>
        </p:txBody>
      </p:sp>
      <p:sp>
        <p:nvSpPr>
          <p:cNvPr id="11" name="text-114"/>
          <p:cNvSpPr txBox="1"/>
          <p:nvPr/>
        </p:nvSpPr>
        <p:spPr>
          <a:xfrm>
            <a:off x="4736592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£1,200</a:t>
            </a:r>
            <a:endParaRPr lang="en-US" sz="4400" dirty="0"/>
          </a:p>
        </p:txBody>
      </p:sp>
      <p:sp>
        <p:nvSpPr>
          <p:cNvPr id="12" name="text-115"/>
          <p:cNvSpPr txBox="1"/>
          <p:nvPr/>
        </p:nvSpPr>
        <p:spPr>
          <a:xfrm>
            <a:off x="4736592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Founding price</a:t>
            </a:r>
            <a:endParaRPr lang="en-US" sz="1700" dirty="0"/>
          </a:p>
        </p:txBody>
      </p:sp>
      <p:sp>
        <p:nvSpPr>
          <p:cNvPr id="13" name="box-116"/>
          <p:cNvSpPr/>
          <p:nvPr/>
        </p:nvSpPr>
        <p:spPr>
          <a:xfrm>
            <a:off x="8101584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-117"/>
          <p:cNvSpPr txBox="1"/>
          <p:nvPr/>
        </p:nvSpPr>
        <p:spPr>
          <a:xfrm>
            <a:off x="8467344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MONTH 4 ONWARDS</a:t>
            </a:r>
            <a:endParaRPr lang="en-US" sz="1300" dirty="0"/>
          </a:p>
        </p:txBody>
      </p:sp>
      <p:sp>
        <p:nvSpPr>
          <p:cNvPr id="15" name="text-118"/>
          <p:cNvSpPr txBox="1"/>
          <p:nvPr/>
        </p:nvSpPr>
        <p:spPr>
          <a:xfrm>
            <a:off x="8467344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£2,500</a:t>
            </a:r>
            <a:endParaRPr lang="en-US" sz="4400" dirty="0"/>
          </a:p>
        </p:txBody>
      </p:sp>
      <p:sp>
        <p:nvSpPr>
          <p:cNvPr id="16" name="text-119"/>
          <p:cNvSpPr txBox="1"/>
          <p:nvPr/>
        </p:nvSpPr>
        <p:spPr>
          <a:xfrm>
            <a:off x="8467344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Standard price</a:t>
            </a:r>
            <a:endParaRPr lang="en-US" sz="1700" dirty="0"/>
          </a:p>
        </p:txBody>
      </p:sp>
      <p:sp>
        <p:nvSpPr>
          <p:cNvPr id="17" name="icon-bg-120"/>
          <p:cNvSpPr/>
          <p:nvPr/>
        </p:nvSpPr>
        <p:spPr>
          <a:xfrm>
            <a:off x="640080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12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0"/>
            <a:ext cx="274320" cy="274320"/>
          </a:xfrm>
          <a:prstGeom prst="rect">
            <a:avLst/>
          </a:prstGeom>
        </p:spPr>
      </p:pic>
      <p:sp>
        <p:nvSpPr>
          <p:cNvPr id="19" name="text-122"/>
          <p:cNvSpPr txBox="1"/>
          <p:nvPr/>
        </p:nvSpPr>
        <p:spPr>
          <a:xfrm>
            <a:off x="1371600" y="48463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Our promise: at day 60 we review the results together. If we’re behind plan, we fix it in writing, or the client can leave.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How you can help, and how we’d work together.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you can help us grow</a:t>
            </a:r>
            <a:endParaRPr lang="en-US" sz="3400" dirty="0"/>
          </a:p>
        </p:txBody>
      </p:sp>
      <p:sp>
        <p:nvSpPr>
          <p:cNvPr id="5" name="box-123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124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12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126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Advise</a:t>
            </a:r>
            <a:endParaRPr lang="en-US" sz="2200" dirty="0"/>
          </a:p>
        </p:txBody>
      </p:sp>
      <p:sp>
        <p:nvSpPr>
          <p:cNvPr id="9" name="text-127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Sharpen our offer, pricing and pitch.</a:t>
            </a:r>
            <a:endParaRPr lang="en-US" sz="1700" dirty="0"/>
          </a:p>
        </p:txBody>
      </p:sp>
      <p:sp>
        <p:nvSpPr>
          <p:cNvPr id="10" name="box-128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129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1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131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</a:t>
            </a:r>
            <a:endParaRPr lang="en-US" sz="2200" dirty="0"/>
          </a:p>
        </p:txBody>
      </p:sp>
      <p:sp>
        <p:nvSpPr>
          <p:cNvPr id="14" name="text-132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Help us choose the one market to focus on.</a:t>
            </a:r>
            <a:endParaRPr lang="en-US" sz="1700" dirty="0"/>
          </a:p>
        </p:txBody>
      </p:sp>
      <p:sp>
        <p:nvSpPr>
          <p:cNvPr id="15" name="box-133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icon-bg-134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-1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136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</a:t>
            </a:r>
            <a:endParaRPr lang="en-US" sz="2200" dirty="0"/>
          </a:p>
        </p:txBody>
      </p:sp>
      <p:sp>
        <p:nvSpPr>
          <p:cNvPr id="19" name="text-137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Connect us with businesses that need us.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your experience matters most</a:t>
            </a:r>
            <a:endParaRPr lang="en-US" sz="3400" dirty="0"/>
          </a:p>
        </p:txBody>
      </p:sp>
      <p:sp>
        <p:nvSpPr>
          <p:cNvPr id="5" name="box-138"/>
          <p:cNvSpPr/>
          <p:nvPr/>
        </p:nvSpPr>
        <p:spPr>
          <a:xfrm>
            <a:off x="640080" y="205740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139"/>
          <p:cNvSpPr txBox="1"/>
          <p:nvPr/>
        </p:nvSpPr>
        <p:spPr>
          <a:xfrm>
            <a:off x="960120" y="2286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</a:t>
            </a:r>
            <a:endParaRPr lang="en-US" sz="2100" dirty="0"/>
          </a:p>
        </p:txBody>
      </p:sp>
      <p:sp>
        <p:nvSpPr>
          <p:cNvPr id="7" name="text-140"/>
          <p:cNvSpPr txBox="1"/>
          <p:nvPr/>
        </p:nvSpPr>
        <p:spPr>
          <a:xfrm>
            <a:off x="960120" y="27432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We don’t yet have a case study with hard numbers.</a:t>
            </a:r>
            <a:endParaRPr lang="en-US" sz="1700" dirty="0"/>
          </a:p>
        </p:txBody>
      </p:sp>
      <p:sp>
        <p:nvSpPr>
          <p:cNvPr id="8" name="text-141"/>
          <p:cNvSpPr txBox="1"/>
          <p:nvPr/>
        </p:nvSpPr>
        <p:spPr>
          <a:xfrm>
            <a:off x="960120" y="3154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What proof would your network trust?</a:t>
            </a:r>
            <a:endParaRPr lang="en-US" sz="1700" dirty="0"/>
          </a:p>
        </p:txBody>
      </p:sp>
      <p:sp>
        <p:nvSpPr>
          <p:cNvPr id="9" name="box-142"/>
          <p:cNvSpPr/>
          <p:nvPr/>
        </p:nvSpPr>
        <p:spPr>
          <a:xfrm>
            <a:off x="6217920" y="205740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43"/>
          <p:cNvSpPr txBox="1"/>
          <p:nvPr/>
        </p:nvSpPr>
        <p:spPr>
          <a:xfrm>
            <a:off x="6537960" y="2286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Focus</a:t>
            </a:r>
            <a:endParaRPr lang="en-US" sz="2100" dirty="0"/>
          </a:p>
        </p:txBody>
      </p:sp>
      <p:sp>
        <p:nvSpPr>
          <p:cNvPr id="11" name="text-144"/>
          <p:cNvSpPr txBox="1"/>
          <p:nvPr/>
        </p:nvSpPr>
        <p:spPr>
          <a:xfrm>
            <a:off x="6537960" y="27432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We work in three very different markets.</a:t>
            </a:r>
            <a:endParaRPr lang="en-US" sz="1700" dirty="0"/>
          </a:p>
        </p:txBody>
      </p:sp>
      <p:sp>
        <p:nvSpPr>
          <p:cNvPr id="12" name="text-145"/>
          <p:cNvSpPr txBox="1"/>
          <p:nvPr/>
        </p:nvSpPr>
        <p:spPr>
          <a:xfrm>
            <a:off x="6537960" y="3154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Which one should we own?</a:t>
            </a:r>
            <a:endParaRPr lang="en-US" sz="1700" dirty="0"/>
          </a:p>
        </p:txBody>
      </p:sp>
      <p:sp>
        <p:nvSpPr>
          <p:cNvPr id="13" name="box-146"/>
          <p:cNvSpPr/>
          <p:nvPr/>
        </p:nvSpPr>
        <p:spPr>
          <a:xfrm>
            <a:off x="640080" y="397764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147"/>
          <p:cNvSpPr txBox="1"/>
          <p:nvPr/>
        </p:nvSpPr>
        <p:spPr>
          <a:xfrm>
            <a:off x="96012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</a:t>
            </a:r>
            <a:endParaRPr lang="en-US" sz="2100" dirty="0"/>
          </a:p>
        </p:txBody>
      </p:sp>
      <p:sp>
        <p:nvSpPr>
          <p:cNvPr id="15" name="text-148"/>
          <p:cNvSpPr txBox="1"/>
          <p:nvPr/>
        </p:nvSpPr>
        <p:spPr>
          <a:xfrm>
            <a:off x="960120" y="4663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Our price is tested with only one client.</a:t>
            </a:r>
            <a:endParaRPr lang="en-US" sz="1700" dirty="0"/>
          </a:p>
        </p:txBody>
      </p:sp>
      <p:sp>
        <p:nvSpPr>
          <p:cNvPr id="16" name="text-149"/>
          <p:cNvSpPr txBox="1"/>
          <p:nvPr/>
        </p:nvSpPr>
        <p:spPr>
          <a:xfrm>
            <a:off x="960120" y="5074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Is it right for the value?</a:t>
            </a:r>
            <a:endParaRPr lang="en-US" sz="1700" dirty="0"/>
          </a:p>
        </p:txBody>
      </p:sp>
      <p:sp>
        <p:nvSpPr>
          <p:cNvPr id="17" name="box-150"/>
          <p:cNvSpPr/>
          <p:nvPr/>
        </p:nvSpPr>
        <p:spPr>
          <a:xfrm>
            <a:off x="6217920" y="397764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-151"/>
          <p:cNvSpPr txBox="1"/>
          <p:nvPr/>
        </p:nvSpPr>
        <p:spPr>
          <a:xfrm>
            <a:off x="653796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</a:t>
            </a:r>
            <a:endParaRPr lang="en-US" sz="2100" dirty="0"/>
          </a:p>
        </p:txBody>
      </p:sp>
      <p:sp>
        <p:nvSpPr>
          <p:cNvPr id="19" name="text-152"/>
          <p:cNvSpPr txBox="1"/>
          <p:nvPr/>
        </p:nvSpPr>
        <p:spPr>
          <a:xfrm>
            <a:off x="6537960" y="4663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Two founders do sales and delivery.</a:t>
            </a:r>
            <a:endParaRPr lang="en-US" sz="1700" dirty="0"/>
          </a:p>
        </p:txBody>
      </p:sp>
      <p:sp>
        <p:nvSpPr>
          <p:cNvPr id="20" name="text-153"/>
          <p:cNvSpPr txBox="1"/>
          <p:nvPr/>
        </p:nvSpPr>
        <p:spPr>
          <a:xfrm>
            <a:off x="6537960" y="5074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When should we hire, and who?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could work together: three options</a:t>
            </a:r>
            <a:endParaRPr lang="en-US" sz="3400" dirty="0"/>
          </a:p>
        </p:txBody>
      </p:sp>
      <p:sp>
        <p:nvSpPr>
          <p:cNvPr id="5" name="box-154"/>
          <p:cNvSpPr/>
          <p:nvPr/>
        </p:nvSpPr>
        <p:spPr>
          <a:xfrm>
            <a:off x="6400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icon-bg-155"/>
          <p:cNvSpPr/>
          <p:nvPr/>
        </p:nvSpPr>
        <p:spPr>
          <a:xfrm>
            <a:off x="1005840" y="24231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on-1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606040"/>
            <a:ext cx="365760" cy="365760"/>
          </a:xfrm>
          <a:prstGeom prst="rect">
            <a:avLst/>
          </a:prstGeom>
        </p:spPr>
      </p:pic>
      <p:sp>
        <p:nvSpPr>
          <p:cNvPr id="8" name="text-157"/>
          <p:cNvSpPr txBox="1"/>
          <p:nvPr/>
        </p:nvSpPr>
        <p:spPr>
          <a:xfrm>
            <a:off x="1920240" y="2606040"/>
            <a:ext cx="195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OUR SUGGESTION TO START</a:t>
            </a:r>
            <a:endParaRPr lang="en-US" sz="1200" dirty="0"/>
          </a:p>
        </p:txBody>
      </p:sp>
      <p:sp>
        <p:nvSpPr>
          <p:cNvPr id="9" name="text-158"/>
          <p:cNvSpPr txBox="1"/>
          <p:nvPr/>
        </p:nvSpPr>
        <p:spPr>
          <a:xfrm>
            <a:off x="10058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 Referral partner</a:t>
            </a:r>
            <a:endParaRPr lang="en-US" sz="2100" dirty="0"/>
          </a:p>
        </p:txBody>
      </p:sp>
      <p:sp>
        <p:nvSpPr>
          <p:cNvPr id="10" name="text-159"/>
          <p:cNvSpPr txBox="1"/>
          <p:nvPr/>
        </p:nvSpPr>
        <p:spPr>
          <a:xfrm>
            <a:off x="10058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 share of fees from clients you introduce.</a:t>
            </a:r>
            <a:endParaRPr lang="en-US" sz="1700" dirty="0"/>
          </a:p>
        </p:txBody>
      </p:sp>
      <p:sp>
        <p:nvSpPr>
          <p:cNvPr id="11" name="box-160"/>
          <p:cNvSpPr/>
          <p:nvPr/>
        </p:nvSpPr>
        <p:spPr>
          <a:xfrm>
            <a:off x="43738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161"/>
          <p:cNvSpPr/>
          <p:nvPr/>
        </p:nvSpPr>
        <p:spPr>
          <a:xfrm>
            <a:off x="473964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16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606040"/>
            <a:ext cx="365760" cy="365760"/>
          </a:xfrm>
          <a:prstGeom prst="rect">
            <a:avLst/>
          </a:prstGeom>
        </p:spPr>
      </p:pic>
      <p:sp>
        <p:nvSpPr>
          <p:cNvPr id="14" name="text-163"/>
          <p:cNvSpPr txBox="1"/>
          <p:nvPr/>
        </p:nvSpPr>
        <p:spPr>
          <a:xfrm>
            <a:off x="47396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 Advisor</a:t>
            </a:r>
            <a:endParaRPr lang="en-US" sz="2100" dirty="0"/>
          </a:p>
        </p:txBody>
      </p:sp>
      <p:sp>
        <p:nvSpPr>
          <p:cNvPr id="15" name="text-164"/>
          <p:cNvSpPr txBox="1"/>
          <p:nvPr/>
        </p:nvSpPr>
        <p:spPr>
          <a:xfrm>
            <a:off x="47396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Set hours each month, plus a smaller share of fees.</a:t>
            </a:r>
            <a:endParaRPr lang="en-US" sz="1700" dirty="0"/>
          </a:p>
        </p:txBody>
      </p:sp>
      <p:sp>
        <p:nvSpPr>
          <p:cNvPr id="16" name="box-165"/>
          <p:cNvSpPr/>
          <p:nvPr/>
        </p:nvSpPr>
        <p:spPr>
          <a:xfrm>
            <a:off x="81076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-bg-166"/>
          <p:cNvSpPr/>
          <p:nvPr/>
        </p:nvSpPr>
        <p:spPr>
          <a:xfrm>
            <a:off x="847344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16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606040"/>
            <a:ext cx="365760" cy="365760"/>
          </a:xfrm>
          <a:prstGeom prst="rect">
            <a:avLst/>
          </a:prstGeom>
        </p:spPr>
      </p:pic>
      <p:sp>
        <p:nvSpPr>
          <p:cNvPr id="19" name="text-168"/>
          <p:cNvSpPr txBox="1"/>
          <p:nvPr/>
        </p:nvSpPr>
        <p:spPr>
          <a:xfrm>
            <a:off x="84734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C. Strategic advisor</a:t>
            </a:r>
            <a:endParaRPr lang="en-US" sz="2100" dirty="0"/>
          </a:p>
        </p:txBody>
      </p:sp>
      <p:sp>
        <p:nvSpPr>
          <p:cNvPr id="20" name="text-169"/>
          <p:cNvSpPr txBox="1"/>
          <p:nvPr/>
        </p:nvSpPr>
        <p:spPr>
          <a:xfrm>
            <a:off x="84734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 small stake in Extol, once the fit is proven.</a:t>
            </a:r>
            <a:endParaRPr lang="en-US" sz="1700" dirty="0"/>
          </a:p>
        </p:txBody>
      </p:sp>
      <p:sp>
        <p:nvSpPr>
          <p:cNvPr id="21" name="text-170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Start with A for 90 days, then review together and move to B or C if it works for both sides.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90 days together</a:t>
            </a:r>
            <a:endParaRPr lang="en-US" sz="3400" dirty="0"/>
          </a:p>
        </p:txBody>
      </p:sp>
      <p:sp>
        <p:nvSpPr>
          <p:cNvPr id="5" name="line-171"/>
          <p:cNvSpPr/>
          <p:nvPr/>
        </p:nvSpPr>
        <p:spPr>
          <a:xfrm>
            <a:off x="960120" y="2514600"/>
            <a:ext cx="85039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6" name="dot-172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-173"/>
          <p:cNvSpPr txBox="1"/>
          <p:nvPr/>
        </p:nvSpPr>
        <p:spPr>
          <a:xfrm>
            <a:off x="64008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WEEK 1</a:t>
            </a:r>
            <a:endParaRPr lang="en-US" sz="1400" dirty="0"/>
          </a:p>
        </p:txBody>
      </p:sp>
      <p:sp>
        <p:nvSpPr>
          <p:cNvPr id="8" name="text-174"/>
          <p:cNvSpPr txBox="1"/>
          <p:nvPr/>
        </p:nvSpPr>
        <p:spPr>
          <a:xfrm>
            <a:off x="64008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the role and terms</a:t>
            </a:r>
            <a:endParaRPr lang="en-US" sz="2000" dirty="0"/>
          </a:p>
        </p:txBody>
      </p:sp>
      <p:sp>
        <p:nvSpPr>
          <p:cNvPr id="9" name="dot-175"/>
          <p:cNvSpPr/>
          <p:nvPr/>
        </p:nvSpPr>
        <p:spPr>
          <a:xfrm>
            <a:off x="356616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-176"/>
          <p:cNvSpPr txBox="1"/>
          <p:nvPr/>
        </p:nvSpPr>
        <p:spPr>
          <a:xfrm>
            <a:off x="347472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30</a:t>
            </a:r>
            <a:endParaRPr lang="en-US" sz="1400" dirty="0"/>
          </a:p>
        </p:txBody>
      </p:sp>
      <p:sp>
        <p:nvSpPr>
          <p:cNvPr id="11" name="text-177"/>
          <p:cNvSpPr txBox="1"/>
          <p:nvPr/>
        </p:nvSpPr>
        <p:spPr>
          <a:xfrm>
            <a:off x="347472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one market and list 10 people to introduce</a:t>
            </a:r>
            <a:endParaRPr lang="en-US" sz="2000" dirty="0"/>
          </a:p>
        </p:txBody>
      </p:sp>
      <p:sp>
        <p:nvSpPr>
          <p:cNvPr id="12" name="dot-178"/>
          <p:cNvSpPr/>
          <p:nvPr/>
        </p:nvSpPr>
        <p:spPr>
          <a:xfrm>
            <a:off x="640080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-179"/>
          <p:cNvSpPr txBox="1"/>
          <p:nvPr/>
        </p:nvSpPr>
        <p:spPr>
          <a:xfrm>
            <a:off x="630936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60</a:t>
            </a:r>
            <a:endParaRPr lang="en-US" sz="1400" dirty="0"/>
          </a:p>
        </p:txBody>
      </p:sp>
      <p:sp>
        <p:nvSpPr>
          <p:cNvPr id="14" name="text-180"/>
          <p:cNvSpPr txBox="1"/>
          <p:nvPr/>
        </p:nvSpPr>
        <p:spPr>
          <a:xfrm>
            <a:off x="630936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introductions and calls</a:t>
            </a:r>
            <a:endParaRPr lang="en-US" sz="2000" dirty="0"/>
          </a:p>
        </p:txBody>
      </p:sp>
      <p:sp>
        <p:nvSpPr>
          <p:cNvPr id="15" name="dot-181"/>
          <p:cNvSpPr/>
          <p:nvPr/>
        </p:nvSpPr>
        <p:spPr>
          <a:xfrm>
            <a:off x="923544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-182"/>
          <p:cNvSpPr txBox="1"/>
          <p:nvPr/>
        </p:nvSpPr>
        <p:spPr>
          <a:xfrm>
            <a:off x="914400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90</a:t>
            </a:r>
            <a:endParaRPr lang="en-US" sz="1400" dirty="0"/>
          </a:p>
        </p:txBody>
      </p:sp>
      <p:sp>
        <p:nvSpPr>
          <p:cNvPr id="17" name="text-183"/>
          <p:cNvSpPr txBox="1"/>
          <p:nvPr/>
        </p:nvSpPr>
        <p:spPr>
          <a:xfrm>
            <a:off x="914400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new client, then review</a:t>
            </a:r>
            <a:endParaRPr lang="en-US" sz="2000" dirty="0"/>
          </a:p>
        </p:txBody>
      </p:sp>
      <p:sp>
        <p:nvSpPr>
          <p:cNvPr id="18" name="box-184"/>
          <p:cNvSpPr/>
          <p:nvPr/>
        </p:nvSpPr>
        <p:spPr>
          <a:xfrm>
            <a:off x="640080" y="4892040"/>
            <a:ext cx="1088136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-185"/>
          <p:cNvSpPr txBox="1"/>
          <p:nvPr/>
        </p:nvSpPr>
        <p:spPr>
          <a:xfrm>
            <a:off x="960120" y="4892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Today: which market do you know best? Who comes to mind first?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THANK YOU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know the people.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build the system.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Together we can win the right clients, faster.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Devasya Dwivedi  ·  Anshul Mikita Prajapati  ·  admin@extolaffiliates.com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tol Affiliates">
  <a:themeElements>
    <a:clrScheme name="Extol Affiliates">
      <a:dk1>
        <a:srgbClr val="101F14"/>
      </a:dk1>
      <a:lt1>
        <a:srgbClr val="FFFFFF"/>
      </a:lt1>
      <a:dk2>
        <a:srgbClr val="1D3524"/>
      </a:dk2>
      <a:lt2>
        <a:srgbClr val="E9F0C9"/>
      </a:lt2>
      <a:accent1>
        <a:srgbClr val="2B4A34"/>
      </a:accent1>
      <a:accent2>
        <a:srgbClr val="7E9C6B"/>
      </a:accent2>
      <a:accent3>
        <a:srgbClr val="9EBB80"/>
      </a:accent3>
      <a:accent4>
        <a:srgbClr val="C6DE9F"/>
      </a:accent4>
      <a:accent5>
        <a:srgbClr val="5B6B5E"/>
      </a:accent5>
      <a:accent6>
        <a:srgbClr val="F4F7EA"/>
      </a:accent6>
      <a:hlink>
        <a:srgbClr val="2B4A34"/>
      </a:hlink>
      <a:folHlink>
        <a:srgbClr val="7E9C6B"/>
      </a:folHlink>
    </a:clrScheme>
    <a:fontScheme name="Extol Affili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Extol Affiliates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Extol Affiliates x David Samuel</dc:title>
  <dc:subject>PptxGenJS Presentation</dc:subject>
  <dc:creator>Extol Affiliates</dc:creator>
  <cp:lastModifiedBy>Extol Affiliates</cp:lastModifiedBy>
  <cp:revision>1</cp:revision>
  <dcterms:created xsi:type="dcterms:W3CDTF">2026-10-23T14:08:32Z</dcterms:created>
  <dcterms:modified xsi:type="dcterms:W3CDTF">2026-10-23T14:08:32Z</dcterms:modified>
</cp:coreProperties>
</file>