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8c156c2-d267-c721-26b9-9c06b136c16f}">
          <p14:sldIdLst>
            <p14:sldId id="256"/>
            <p14:sldId id="257"/>
            <p14:sldId id="258"/>
          </p14:sldIdLst>
        </p14:section>
        <p14:section name="What we’ve been doing" id="{02dce0c7-e833-2e3c-f256-25419ac742e2}">
          <p14:sldIdLst>
            <p14:sldId id="259"/>
            <p14:sldId id="260"/>
            <p14:sldId id="261"/>
            <p14:sldId id="262"/>
            <p14:sldId id="263"/>
          </p14:sldIdLst>
        </p14:section>
        <p14:section name="What a deal includes" id="{e683ded8-35b4-dae9-7594-e0bf3e1ab2e2}">
          <p14:sldIdLst>
            <p14:sldId id="264"/>
            <p14:sldId id="265"/>
            <p14:sldId id="266"/>
            <p14:sldId id="267"/>
            <p14:sldId id="268"/>
            <p14:sldId id="269"/>
            <p14:sldId id="270"/>
            <p14:sldId id="271"/>
            <p14:sldId id="272"/>
          </p14:sldIdLst>
        </p14:section>
        <p14:section name="Where you come in" id="{4fd0a136-62ef-8a73-0840-029ff5b094cd}">
          <p14:sldIdLst>
            <p14:sldId id="273"/>
            <p14:sldId id="274"/>
            <p14:sldId id="275"/>
            <p14:sldId id="276"/>
            <p14:sldId id="277"/>
          </p14:sldIdLst>
        </p14:section>
        <p14:section name="Close" id="{3e125d44-466b-a822-0e5c-d246251586b8}">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month</c:v>
                </c:pt>
              </c:strCache>
            </c:strRef>
          </c:tx>
          <c:spPr>
            <a:solidFill>
              <a:srgbClr val="2B4A34"/>
            </a:solidFill>
            <a:effectLst/>
          </c:spPr>
          <c:invertIfNegative val="0"/>
          <c:dLbls>
            <c:numFmt formatCode="#,##0" sourceLinked="0"/>
            <c:txPr>
              <a:bodyPr/>
              <a:lstStyle/>
              <a:p>
                <a:pPr>
                  <a:defRPr b="0" i="0" strike="noStrike" sz="1400" u="none">
                    <a:solidFill>
                      <a:srgbClr val="101F14"/>
                    </a:solidFill>
                    <a:latin typeface="+mn-lt"/>
                  </a:defRPr>
                </a:pPr>
              </a:p>
            </c:txPr>
            <c:showLegendKey val="0"/>
            <c:showVal val="1"/>
            <c:showCatName val="0"/>
            <c:showSerName val="0"/>
            <c:showPercent val="0"/>
            <c:showBubbleSize val="0"/>
            <c:showLeaderLines val="0"/>
          </c:dLbls>
          <c:cat>
            <c:multiLvlStrRef>
              <c:f>Sheet1!$A$2:$A$5</c:f>
              <c:multiLvlStrCache>
                <c:ptCount val="4"/>
                <c:lvl>
                  <c:pt idx="0">
                    <c:v>Requests sent</c:v>
                  </c:pt>
                  <c:pt idx="1">
                    <c:v>Accepted</c:v>
                  </c:pt>
                  <c:pt idx="2">
                    <c:v>Replied</c:v>
                  </c:pt>
                  <c:pt idx="3">
                    <c:v>Calls booked</c:v>
                  </c:pt>
                </c:lvl>
              </c:multiLvlStrCache>
            </c:multiLvlStrRef>
          </c:cat>
          <c:val>
            <c:numRef>
              <c:f>Sheet1!$B$2:$B$5</c:f>
              <c:numCache>
                <c:formatCode>General</c:formatCode>
                <c:ptCount val="4"/>
                <c:pt idx="0">
                  <c:v>400</c:v>
                </c:pt>
                <c:pt idx="1">
                  <c:v>150</c:v>
                </c:pt>
                <c:pt idx="2">
                  <c:v>27</c:v>
                </c:pt>
                <c:pt idx="3">
                  <c:v>8</c:v>
                </c:pt>
              </c:numCache>
            </c:numRef>
          </c:val>
        </c:ser>
        <c:dLbls>
          <c:numFmt formatCode="#,##0" sourceLinked="0"/>
          <c:txPr>
            <a:bodyPr/>
            <a:lstStyle/>
            <a:p>
              <a:pPr>
                <a:defRPr b="0" i="0" strike="noStrike" sz="1400" u="none">
                  <a:solidFill>
                    <a:srgbClr val="101F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01F1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F14"/>
                </a:solidFill>
                <a:latin typeface="+mn-lt"/>
              </a:defRPr>
            </a:pPr>
            <a:r>
              <a:rPr sz="1400" b="0" i="0" u="none" strike="noStrike">
                <a:solidFill>
                  <a:srgbClr val="101F14"/>
                </a:solidFill>
                <a:latin typeface="+mn-lt"/>
              </a:rPr>
              <a:t>Qualified leads a month (forecast mid-points)</a:t>
            </a:r>
          </a:p>
        </c:rich>
      </c:tx>
      <c:layout/>
      <c:overlay val="0"/>
    </c:title>
    <c:autoTitleDeleted val="0"/>
    <c:plotArea>
      <c:layout/>
      <c:barChart>
        <c:barDir val="col"/>
        <c:grouping val="clustered"/>
        <c:varyColors val="0"/>
        <c:ser>
          <c:idx val="0"/>
          <c:order val="0"/>
          <c:tx>
            <c:strRef>
              <c:f>Sheet1!$B$1</c:f>
              <c:strCache>
                <c:ptCount val="1"/>
                <c:pt idx="0">
                  <c:v>Qualified leads</c:v>
                </c:pt>
              </c:strCache>
            </c:strRef>
          </c:tx>
          <c:spPr>
            <a:solidFill>
              <a:srgbClr val="2B4A34"/>
            </a:solidFill>
            <a:effectLst/>
          </c:spPr>
          <c:invertIfNegative val="0"/>
          <c:dLbls>
            <c:numFmt formatCode="#,##0" sourceLinked="0"/>
            <c:txPr>
              <a:bodyPr/>
              <a:lstStyle/>
              <a:p>
                <a:pPr>
                  <a:defRPr b="0" i="0" strike="noStrike" sz="1400" u="none">
                    <a:solidFill>
                      <a:srgbClr val="101F14"/>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 1</c:v>
                  </c:pt>
                  <c:pt idx="1">
                    <c:v>Month 3</c:v>
                  </c:pt>
                  <c:pt idx="2">
                    <c:v>Month 6</c:v>
                  </c:pt>
                  <c:pt idx="3">
                    <c:v>Month 12</c:v>
                  </c:pt>
                </c:lvl>
              </c:multiLvlStrCache>
            </c:multiLvlStrRef>
          </c:cat>
          <c:val>
            <c:numRef>
              <c:f>Sheet1!$B$2:$B$5</c:f>
              <c:numCache>
                <c:formatCode>General</c:formatCode>
                <c:ptCount val="4"/>
                <c:pt idx="0">
                  <c:v>13</c:v>
                </c:pt>
                <c:pt idx="1">
                  <c:v>71</c:v>
                </c:pt>
                <c:pt idx="2">
                  <c:v>101</c:v>
                </c:pt>
                <c:pt idx="3">
                  <c:v>126</c:v>
                </c:pt>
              </c:numCache>
            </c:numRef>
          </c:val>
        </c:ser>
        <c:dLbls>
          <c:numFmt formatCode="#,##0" sourceLinked="0"/>
          <c:txPr>
            <a:bodyPr/>
            <a:lstStyle/>
            <a:p>
              <a:pPr>
                <a:defRPr b="0" i="0" strike="noStrike" sz="1400" u="none">
                  <a:solidFill>
                    <a:srgbClr val="101F1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01F14"/>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purpose: David is joining us to advise, guide and help bring in new clients. Today: (1) what Extol has been doing, (2) exactly what a client gets in a deal and why, (3) where David fits and how we'd work together. Aim to leave with agreement on his role and the first 90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two minutes. The three columns are the three parts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are as they appeared on the EffectivePoint discovery call. Adjust if titles have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public LinkedIn data captured 8 Oct 2026 for our consultancy client. The client is under NDA, so it's described, not named. The point for David: our buyers are already experts. They have a distribution problem, not a talent problem, and distribution can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3D Images AI and Bloggerly are clients we already mention publicly. The consultancy (EffectivePoint, Dr Uche Nnene) is under NDA: name them only if Uche has agreed. No outcome numbers are claimed here yet because none are published. See the 'honest gaps'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productisation story. Each client engagement adds a reusable component. For David: these systems are what lets a two-person team deliver like a larger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slide. Advisors trust teams who name their mistakes. The ban was temporary (about a day) and on our own account, not a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number one objection we hear: 'I don't have time.' The client never writes the same idea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 work is front-loaded into the first month. It's also where most agencies skip ahead, and why their outreach lands on a weak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outreach numbers come from our funnel model on the next slides. They are forecasts, not yet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approval step is highlighted because it's the difference between us and 'AI outreach' tools. Senior clients care about it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conversion rates are the planning assumptions used in the consultancy strategy. Treat them as a model to be proven, not track record. A key question for David: do they match what he has seen in 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qualified lead = a buyer or shortlister who replies, messages, books or signs up. Likes don't count. The 100 / 10 / 2-3 rule came from the client themself. Be explicit with David that this is a forecast. Proving it is the job of the next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terms offered to our first consultancy client (founding rate). Prices exclude VAT. Extras only if needed (e.g. Skool Pro, extra visual credits, paid ads) and always agreed first. Ask David: does this price fit the value for the clients he'd introduce?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Advisors put their own reputation on the line with every intro. This slide is the reassurance that a client he refers will be handled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David which of the three he wants to lead with. Most advisors are strongest at one. Don't assume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candid here builds trust with an advisor and gets better advice. Update this slide if any case study numbers land before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 hours and equity are deliberately left blank to agree in the room. Decide your walk-away numbers before Monday. A common referral range is a share of first-year fees. Equity normally only after a trial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content part here and open the floor. Capture David's answers to the three questions. They set the first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 next steps before leaving: terms by email this week, first monthly hour booked.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457200"/>
          </a:xfrm>
          <a:prstGeom prst="rect">
            <a:avLst/>
          </a:prstGeom>
          <a:noFill/>
          <a:ln/>
        </p:spPr>
        <p:txBody>
          <a:bodyPr wrap="square" rtlCol="0"/>
          <a:lstStyle>
            <a:lvl1pPr indent="0" marL="0">
              <a:buNone/>
              <a:defRPr lang="en-US" sz="1400" b="1" spc="300" kern="0" dirty="0">
                <a:solidFill>
                  <a:schemeClr val="accent3"/>
                </a:solidFill>
              </a:defRPr>
            </a:lvl1pPr>
          </a:lstStyle>
          <a:p>
            <a:pPr indent="0" marL="0">
              <a:buNone/>
            </a:pPr>
            <a:endParaRPr lang="en-US" sz="1400" dirty="0"/>
          </a:p>
        </p:txBody>
      </p:sp>
      <p:sp>
        <p:nvSpPr>
          <p:cNvPr id="3" name="Text 0"/>
          <p:cNvSpPr/>
          <p:nvPr>
            <p:ph idx="101" type="title" hasCustomPrompt="1"/>
          </p:nvPr>
        </p:nvSpPr>
        <p:spPr>
          <a:xfrm>
            <a:off x="731520" y="1737360"/>
            <a:ext cx="10698480" cy="1737360"/>
          </a:xfrm>
          <a:prstGeom prst="rect">
            <a:avLst/>
          </a:prstGeom>
          <a:noFill/>
          <a:ln/>
        </p:spPr>
        <p:txBody>
          <a:bodyPr wrap="square" rtlCol="0"/>
          <a:lstStyle>
            <a:lvl1pPr algn="l" indent="0" marL="0">
              <a:buNone/>
              <a:defRPr lang="en-US" sz="4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4" name="Text 0"/>
          <p:cNvSpPr/>
          <p:nvPr>
            <p:ph idx="102" type="body" hasCustomPrompt="1"/>
          </p:nvPr>
        </p:nvSpPr>
        <p:spPr>
          <a:xfrm>
            <a:off x="731520" y="3611880"/>
            <a:ext cx="9601200" cy="109728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
        <p:nvSpPr>
          <p:cNvPr id="5" name="Text 0"/>
          <p:cNvSpPr/>
          <p:nvPr>
            <p:ph idx="103" type="body" hasCustomPrompt="1"/>
          </p:nvPr>
        </p:nvSpPr>
        <p:spPr>
          <a:xfrm>
            <a:off x="731520" y="5669280"/>
            <a:ext cx="10698480" cy="548640"/>
          </a:xfrm>
          <a:prstGeom prst="rect">
            <a:avLst/>
          </a:prstGeom>
          <a:noFill/>
          <a:ln/>
        </p:spPr>
        <p:txBody>
          <a:bodyPr wrap="square" rtlCol="0"/>
          <a:lstStyle>
            <a:lvl1pPr indent="0" marL="0">
              <a:buNone/>
              <a:defRPr lang="en-US" sz="1400" dirty="0">
                <a:solidFill>
                  <a:schemeClr val="accent3"/>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2743200" cy="1097280"/>
          </a:xfrm>
          <a:prstGeom prst="rect">
            <a:avLst/>
          </a:prstGeom>
          <a:noFill/>
          <a:ln/>
        </p:spPr>
        <p:txBody>
          <a:bodyPr wrap="square" rtlCol="0"/>
          <a:lstStyle>
            <a:lvl1pPr indent="0" marL="0">
              <a:buNone/>
              <a:defRPr lang="en-US" sz="6000" b="1" dirty="0">
                <a:solidFill>
                  <a:schemeClr val="accent3"/>
                </a:solidFill>
                <a:latin typeface="Cambria" pitchFamily="34" charset="0"/>
                <a:ea typeface="Cambria" pitchFamily="34" charset="-122"/>
                <a:cs typeface="Cambria" pitchFamily="34" charset="-120"/>
              </a:defRPr>
            </a:lvl1pPr>
          </a:lstStyle>
          <a:p>
            <a:pPr indent="0" marL="0">
              <a:buNone/>
            </a:pPr>
            <a:endParaRPr lang="en-US" sz="6000" dirty="0"/>
          </a:p>
        </p:txBody>
      </p:sp>
      <p:sp>
        <p:nvSpPr>
          <p:cNvPr id="3" name="Text 0"/>
          <p:cNvSpPr/>
          <p:nvPr>
            <p:ph idx="101" type="title" hasCustomPrompt="1"/>
          </p:nvPr>
        </p:nvSpPr>
        <p:spPr>
          <a:xfrm>
            <a:off x="731520" y="2880360"/>
            <a:ext cx="10698480" cy="1005840"/>
          </a:xfrm>
          <a:prstGeom prst="rect">
            <a:avLst/>
          </a:prstGeom>
          <a:noFill/>
          <a:ln/>
        </p:spPr>
        <p:txBody>
          <a:bodyPr wrap="square" rtlCol="0"/>
          <a:lstStyle>
            <a:lvl1pPr algn="l" indent="0" marL="0">
              <a:buNone/>
              <a:defRPr lang="en-US" sz="40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731520" y="397764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rtlCol="0"/>
          <a:lstStyle>
            <a:lvl1pPr indent="0" marL="0">
              <a:buNone/>
              <a:defRPr lang="en-US" sz="1600" i="1" dirty="0">
                <a:solidFill>
                  <a:schemeClr val="accent5"/>
                </a:solidFill>
              </a:defRPr>
            </a:lvl1pPr>
          </a:lstStyle>
          <a:p>
            <a:pPr indent="0" marL="0">
              <a:buNone/>
            </a:pPr>
            <a:endParaRPr lang="en-US" sz="16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spc="100" kern="0" dirty="0">
                <a:solidFill>
                  <a:schemeClr val="accent2"/>
                </a:solidFill>
              </a:rPr>
              <a:t>EXTOL AFFILIATES × DAVID SAMUEL  ·  ADVISORY BRIEFING  ·  OCTOBER 2026</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4.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457200"/>
          </a:xfrm>
          <a:prstGeom prst="rect">
            <a:avLst/>
          </a:prstGeom>
          <a:noFill/>
          <a:ln/>
        </p:spPr>
        <p:txBody>
          <a:bodyPr wrap="square" lIns="0" tIns="0" rIns="0" bIns="0" rtlCol="0" anchor="t"/>
          <a:lstStyle/>
          <a:p>
            <a:pPr indent="0" marL="0">
              <a:buNone/>
            </a:pPr>
            <a:r>
              <a:rPr lang="en-US" sz="1400" b="1" spc="300" kern="0" dirty="0">
                <a:solidFill>
                  <a:schemeClr val="accent3"/>
                </a:solidFill>
              </a:rPr>
              <a:t>EXTOL AFFILIATES  ×  DAVID SAMUEL</a:t>
            </a:r>
            <a:endParaRPr lang="en-US" sz="1400" dirty="0"/>
          </a:p>
        </p:txBody>
      </p:sp>
      <p:sp>
        <p:nvSpPr>
          <p:cNvPr id="3" name="Text 0"/>
          <p:cNvSpPr/>
          <p:nvPr>
            <p:ph idx="101" type="title" hasCustomPrompt="1"/>
          </p:nvPr>
        </p:nvSpPr>
        <p:spPr>
          <a:xfrm>
            <a:off x="731520" y="1737360"/>
            <a:ext cx="10698480" cy="1737360"/>
          </a:xfrm>
          <a:prstGeom prst="rect">
            <a:avLst/>
          </a:prstGeom>
          <a:noFill/>
          <a:ln/>
        </p:spPr>
        <p:txBody>
          <a:bodyPr wrap="square" lIns="0" tIns="0" rIns="0" bIns="0" rtlCol="0" anchor="t"/>
          <a:lstStyle/>
          <a:p>
            <a:pPr algn="l" indent="0" marL="0">
              <a:buNone/>
            </a:pPr>
            <a:r>
              <a:rPr lang="en-US" sz="4800" b="1" dirty="0">
                <a:solidFill>
                  <a:schemeClr val="bg2"/>
                </a:solidFill>
                <a:latin typeface="Cambria" pitchFamily="34" charset="0"/>
                <a:ea typeface="Cambria" pitchFamily="34" charset="-122"/>
                <a:cs typeface="Cambria" pitchFamily="34" charset="-120"/>
              </a:rPr>
              <a:t>You know the rooms.</a:t>
            </a:r>
            <a:endParaRPr lang="en-US" sz="4800" dirty="0"/>
          </a:p>
          <a:p>
            <a:pPr algn="l" indent="0" marL="0">
              <a:buNone/>
            </a:pPr>
            <a:r>
              <a:rPr lang="en-US" sz="4800" b="1" dirty="0">
                <a:solidFill>
                  <a:schemeClr val="bg2"/>
                </a:solidFill>
                <a:latin typeface="Cambria" pitchFamily="34" charset="0"/>
                <a:ea typeface="Cambria" pitchFamily="34" charset="-122"/>
                <a:cs typeface="Cambria" pitchFamily="34" charset="-120"/>
              </a:rPr>
              <a:t>We build the engine.</a:t>
            </a:r>
            <a:endParaRPr lang="en-US" sz="4800" dirty="0"/>
          </a:p>
        </p:txBody>
      </p:sp>
      <p:sp>
        <p:nvSpPr>
          <p:cNvPr id="4" name="Text 0"/>
          <p:cNvSpPr/>
          <p:nvPr>
            <p:ph idx="102" type="body" hasCustomPrompt="1"/>
          </p:nvPr>
        </p:nvSpPr>
        <p:spPr>
          <a:xfrm>
            <a:off x="731520" y="3611880"/>
            <a:ext cx="9601200" cy="1097280"/>
          </a:xfrm>
          <a:prstGeom prst="rect">
            <a:avLst/>
          </a:prstGeom>
          <a:noFill/>
          <a:ln/>
        </p:spPr>
        <p:txBody>
          <a:bodyPr wrap="square" lIns="0" tIns="0" rIns="0" bIns="0" rtlCol="0" anchor="t"/>
          <a:lstStyle/>
          <a:p>
            <a:pPr indent="0" marL="0">
              <a:buNone/>
            </a:pPr>
            <a:r>
              <a:rPr lang="en-US" sz="2200" dirty="0">
                <a:solidFill>
                  <a:schemeClr val="accent4"/>
                </a:solidFill>
              </a:rPr>
              <a:t>What we’ve been doing, what a client gets in a deal, and where you come in.</a:t>
            </a:r>
            <a:endParaRPr lang="en-US" sz="2200" dirty="0"/>
          </a:p>
        </p:txBody>
      </p:sp>
      <p:sp>
        <p:nvSpPr>
          <p:cNvPr id="5" name="Text 0"/>
          <p:cNvSpPr/>
          <p:nvPr>
            <p:ph idx="103" type="body" hasCustomPrompt="1"/>
          </p:nvPr>
        </p:nvSpPr>
        <p:spPr>
          <a:xfrm>
            <a:off x="731520" y="5669280"/>
            <a:ext cx="10698480" cy="548640"/>
          </a:xfrm>
          <a:prstGeom prst="rect">
            <a:avLst/>
          </a:prstGeom>
          <a:noFill/>
          <a:ln/>
        </p:spPr>
        <p:txBody>
          <a:bodyPr wrap="square" lIns="0" tIns="0" rIns="0" bIns="0" rtlCol="0" anchor="t"/>
          <a:lstStyle/>
          <a:p>
            <a:pPr indent="0" marL="0">
              <a:buNone/>
            </a:pPr>
            <a:r>
              <a:rPr lang="en-US" sz="1400" dirty="0">
                <a:solidFill>
                  <a:schemeClr val="accent3"/>
                </a:solidFill>
              </a:rPr>
              <a:t>Advisory partnership briefing  ·  Monday 26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The short version</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If we only had five minutes, this is the meeting.</a:t>
            </a:r>
            <a:endParaRPr lang="en-US" sz="1600" dirty="0"/>
          </a:p>
        </p:txBody>
      </p:sp>
      <p:sp>
        <p:nvSpPr>
          <p:cNvPr id="4" name="card-1"/>
          <p:cNvSpPr/>
          <p:nvPr/>
        </p:nvSpPr>
        <p:spPr>
          <a:xfrm>
            <a:off x="548640" y="1783080"/>
            <a:ext cx="3520440" cy="4343400"/>
          </a:xfrm>
          <a:prstGeom prst="roundRect">
            <a:avLst>
              <a:gd name="adj" fmla="val 2078"/>
            </a:avLst>
          </a:prstGeom>
          <a:solidFill>
            <a:schemeClr val="bg2"/>
          </a:solidFill>
          <a:ln w="12700">
            <a:solidFill>
              <a:schemeClr val="bg2"/>
            </a:solidFill>
            <a:prstDash val="solid"/>
          </a:ln>
        </p:spPr>
      </p:sp>
      <p:sp>
        <p:nvSpPr>
          <p:cNvPr id="5" name="icon-bg-2"/>
          <p:cNvSpPr/>
          <p:nvPr/>
        </p:nvSpPr>
        <p:spPr>
          <a:xfrm>
            <a:off x="868680" y="2148840"/>
            <a:ext cx="822960" cy="822960"/>
          </a:xfrm>
          <a:prstGeom prst="ellipse">
            <a:avLst/>
          </a:prstGeom>
          <a:solidFill>
            <a:schemeClr val="accent1"/>
          </a:solidFill>
          <a:ln w="12700">
            <a:solidFill>
              <a:schemeClr val="accent1"/>
            </a:solidFill>
            <a:prstDash val="solid"/>
          </a:ln>
        </p:spPr>
      </p:sp>
      <p:pic>
        <p:nvPicPr>
          <p:cNvPr id="6" name="icon-3" descr="preencoded.png">    </p:cNvPr>
          <p:cNvPicPr>
            <a:picLocks noChangeAspect="1"/>
          </p:cNvPicPr>
          <p:nvPr/>
        </p:nvPicPr>
        <p:blipFill>
          <a:blip r:embed="rId1"/>
          <a:stretch>
            <a:fillRect/>
          </a:stretch>
        </p:blipFill>
        <p:spPr>
          <a:xfrm>
            <a:off x="1066190" y="2346350"/>
            <a:ext cx="427939" cy="427939"/>
          </a:xfrm>
          <a:prstGeom prst="rect">
            <a:avLst/>
          </a:prstGeom>
        </p:spPr>
      </p:pic>
      <p:sp>
        <p:nvSpPr>
          <p:cNvPr id="7" name="text-4"/>
          <p:cNvSpPr txBox="1"/>
          <p:nvPr/>
        </p:nvSpPr>
        <p:spPr>
          <a:xfrm>
            <a:off x="868680" y="3246120"/>
            <a:ext cx="2926080" cy="50292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What we do</a:t>
            </a:r>
            <a:endParaRPr lang="en-US" sz="2200" dirty="0"/>
          </a:p>
        </p:txBody>
      </p:sp>
      <p:sp>
        <p:nvSpPr>
          <p:cNvPr id="8" name="text-5"/>
          <p:cNvSpPr txBox="1"/>
          <p:nvPr/>
        </p:nvSpPr>
        <p:spPr>
          <a:xfrm>
            <a:off x="868680" y="3840480"/>
            <a:ext cx="2926080" cy="2103120"/>
          </a:xfrm>
          <a:prstGeom prst="rect">
            <a:avLst/>
          </a:prstGeom>
          <a:noFill/>
          <a:ln/>
        </p:spPr>
        <p:txBody>
          <a:bodyPr wrap="square" lIns="0" tIns="0" rIns="0" bIns="0" rtlCol="0" anchor="t"/>
          <a:lstStyle/>
          <a:p>
            <a:pPr indent="0" marL="0">
              <a:buNone/>
            </a:pPr>
            <a:r>
              <a:rPr lang="en-US" sz="1700" dirty="0">
                <a:solidFill>
                  <a:schemeClr val="tx2"/>
                </a:solidFill>
              </a:rPr>
              <a:t>We build growth systems for B2B experts and firms: the right buyers, the right message, every week, without eating the founder’s time.</a:t>
            </a:r>
            <a:endParaRPr lang="en-US" sz="1700" dirty="0"/>
          </a:p>
        </p:txBody>
      </p:sp>
      <p:sp>
        <p:nvSpPr>
          <p:cNvPr id="9" name="card-6"/>
          <p:cNvSpPr/>
          <p:nvPr/>
        </p:nvSpPr>
        <p:spPr>
          <a:xfrm>
            <a:off x="4297680" y="1783080"/>
            <a:ext cx="3520440" cy="4343400"/>
          </a:xfrm>
          <a:prstGeom prst="roundRect">
            <a:avLst>
              <a:gd name="adj" fmla="val 2078"/>
            </a:avLst>
          </a:prstGeom>
          <a:solidFill>
            <a:schemeClr val="bg2"/>
          </a:solidFill>
          <a:ln w="12700">
            <a:solidFill>
              <a:schemeClr val="bg2"/>
            </a:solidFill>
            <a:prstDash val="solid"/>
          </a:ln>
        </p:spPr>
      </p:sp>
      <p:sp>
        <p:nvSpPr>
          <p:cNvPr id="10" name="icon-bg-7"/>
          <p:cNvSpPr/>
          <p:nvPr/>
        </p:nvSpPr>
        <p:spPr>
          <a:xfrm>
            <a:off x="4617720" y="2148840"/>
            <a:ext cx="822960" cy="822960"/>
          </a:xfrm>
          <a:prstGeom prst="ellipse">
            <a:avLst/>
          </a:prstGeom>
          <a:solidFill>
            <a:schemeClr val="accent1"/>
          </a:solidFill>
          <a:ln w="12700">
            <a:solidFill>
              <a:schemeClr val="accent1"/>
            </a:solidFill>
            <a:prstDash val="solid"/>
          </a:ln>
        </p:spPr>
      </p:sp>
      <p:pic>
        <p:nvPicPr>
          <p:cNvPr id="11" name="icon-8" descr="preencoded.png">    </p:cNvPr>
          <p:cNvPicPr>
            <a:picLocks noChangeAspect="1"/>
          </p:cNvPicPr>
          <p:nvPr/>
        </p:nvPicPr>
        <p:blipFill>
          <a:blip r:embed="rId2"/>
          <a:stretch>
            <a:fillRect/>
          </a:stretch>
        </p:blipFill>
        <p:spPr>
          <a:xfrm>
            <a:off x="4815230" y="2346350"/>
            <a:ext cx="427939" cy="427939"/>
          </a:xfrm>
          <a:prstGeom prst="rect">
            <a:avLst/>
          </a:prstGeom>
        </p:spPr>
      </p:pic>
      <p:sp>
        <p:nvSpPr>
          <p:cNvPr id="12" name="text-9"/>
          <p:cNvSpPr txBox="1"/>
          <p:nvPr/>
        </p:nvSpPr>
        <p:spPr>
          <a:xfrm>
            <a:off x="4617720" y="3246120"/>
            <a:ext cx="2926080" cy="50292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What a deal includes</a:t>
            </a:r>
            <a:endParaRPr lang="en-US" sz="2200" dirty="0"/>
          </a:p>
        </p:txBody>
      </p:sp>
      <p:sp>
        <p:nvSpPr>
          <p:cNvPr id="13" name="text-10"/>
          <p:cNvSpPr txBox="1"/>
          <p:nvPr/>
        </p:nvSpPr>
        <p:spPr>
          <a:xfrm>
            <a:off x="4617720" y="3840480"/>
            <a:ext cx="2926080" cy="2103120"/>
          </a:xfrm>
          <a:prstGeom prst="rect">
            <a:avLst/>
          </a:prstGeom>
          <a:noFill/>
          <a:ln/>
        </p:spPr>
        <p:txBody>
          <a:bodyPr wrap="square" lIns="0" tIns="0" rIns="0" bIns="0" rtlCol="0" anchor="t"/>
          <a:lstStyle/>
          <a:p>
            <a:pPr indent="0" marL="0">
              <a:buNone/>
            </a:pPr>
            <a:r>
              <a:rPr lang="en-US" sz="1700" dirty="0">
                <a:solidFill>
                  <a:schemeClr val="tx2"/>
                </a:solidFill>
              </a:rPr>
              <a:t>Positioning, trigger-based outreach, a content engine, website and articles, events, and live reporting. One monthly fee from £2,500, every tool included.</a:t>
            </a:r>
            <a:endParaRPr lang="en-US" sz="1700" dirty="0"/>
          </a:p>
        </p:txBody>
      </p:sp>
      <p:sp>
        <p:nvSpPr>
          <p:cNvPr id="14" name="card-11"/>
          <p:cNvSpPr/>
          <p:nvPr/>
        </p:nvSpPr>
        <p:spPr>
          <a:xfrm>
            <a:off x="8046720" y="1783080"/>
            <a:ext cx="3520440" cy="4343400"/>
          </a:xfrm>
          <a:prstGeom prst="roundRect">
            <a:avLst>
              <a:gd name="adj" fmla="val 2078"/>
            </a:avLst>
          </a:prstGeom>
          <a:solidFill>
            <a:schemeClr val="bg2"/>
          </a:solidFill>
          <a:ln w="12700">
            <a:solidFill>
              <a:schemeClr val="bg2"/>
            </a:solidFill>
            <a:prstDash val="solid"/>
          </a:ln>
        </p:spPr>
      </p:sp>
      <p:sp>
        <p:nvSpPr>
          <p:cNvPr id="15" name="icon-bg-12"/>
          <p:cNvSpPr/>
          <p:nvPr/>
        </p:nvSpPr>
        <p:spPr>
          <a:xfrm>
            <a:off x="8366760" y="2148840"/>
            <a:ext cx="822960" cy="822960"/>
          </a:xfrm>
          <a:prstGeom prst="ellipse">
            <a:avLst/>
          </a:prstGeom>
          <a:solidFill>
            <a:schemeClr val="accent1"/>
          </a:solidFill>
          <a:ln w="12700">
            <a:solidFill>
              <a:schemeClr val="accent1"/>
            </a:solidFill>
            <a:prstDash val="solid"/>
          </a:ln>
        </p:spPr>
      </p:sp>
      <p:pic>
        <p:nvPicPr>
          <p:cNvPr id="16" name="icon-13" descr="preencoded.png">    </p:cNvPr>
          <p:cNvPicPr>
            <a:picLocks noChangeAspect="1"/>
          </p:cNvPicPr>
          <p:nvPr/>
        </p:nvPicPr>
        <p:blipFill>
          <a:blip r:embed="rId3"/>
          <a:stretch>
            <a:fillRect/>
          </a:stretch>
        </p:blipFill>
        <p:spPr>
          <a:xfrm>
            <a:off x="8564270" y="2346350"/>
            <a:ext cx="427939" cy="427939"/>
          </a:xfrm>
          <a:prstGeom prst="rect">
            <a:avLst/>
          </a:prstGeom>
        </p:spPr>
      </p:pic>
      <p:sp>
        <p:nvSpPr>
          <p:cNvPr id="17" name="text-14"/>
          <p:cNvSpPr txBox="1"/>
          <p:nvPr/>
        </p:nvSpPr>
        <p:spPr>
          <a:xfrm>
            <a:off x="8366760" y="3246120"/>
            <a:ext cx="2926080" cy="50292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Where you come in</a:t>
            </a:r>
            <a:endParaRPr lang="en-US" sz="2200" dirty="0"/>
          </a:p>
        </p:txBody>
      </p:sp>
      <p:sp>
        <p:nvSpPr>
          <p:cNvPr id="18" name="text-15"/>
          <p:cNvSpPr txBox="1"/>
          <p:nvPr/>
        </p:nvSpPr>
        <p:spPr>
          <a:xfrm>
            <a:off x="8366760" y="3840480"/>
            <a:ext cx="2926080" cy="2103120"/>
          </a:xfrm>
          <a:prstGeom prst="rect">
            <a:avLst/>
          </a:prstGeom>
          <a:noFill/>
          <a:ln/>
        </p:spPr>
        <p:txBody>
          <a:bodyPr wrap="square" lIns="0" tIns="0" rIns="0" bIns="0" rtlCol="0" anchor="t"/>
          <a:lstStyle/>
          <a:p>
            <a:pPr indent="0" marL="0">
              <a:buNone/>
            </a:pPr>
            <a:r>
              <a:rPr lang="en-US" sz="1700" dirty="0">
                <a:solidFill>
                  <a:schemeClr val="tx2"/>
                </a:solidFill>
              </a:rPr>
              <a:t>Advise on the offer and pricing. Guide us on where to play. Open doors to the first right-fit clients, and share in what they bring.</a:t>
            </a:r>
            <a:endParaRPr lang="en-US" sz="17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Who we are</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Growth systems for B2B companies. Small team, built-in leverage.</a:t>
            </a:r>
            <a:endParaRPr lang="en-US" sz="1600" dirty="0"/>
          </a:p>
        </p:txBody>
      </p:sp>
      <p:sp>
        <p:nvSpPr>
          <p:cNvPr id="4" name="card-16"/>
          <p:cNvSpPr/>
          <p:nvPr/>
        </p:nvSpPr>
        <p:spPr>
          <a:xfrm>
            <a:off x="548640" y="1783080"/>
            <a:ext cx="5669280" cy="4206240"/>
          </a:xfrm>
          <a:prstGeom prst="roundRect">
            <a:avLst>
              <a:gd name="adj" fmla="val 1739"/>
            </a:avLst>
          </a:prstGeom>
          <a:solidFill>
            <a:schemeClr val="tx2"/>
          </a:solidFill>
          <a:ln w="12700">
            <a:solidFill>
              <a:schemeClr val="tx2"/>
            </a:solidFill>
            <a:prstDash val="solid"/>
          </a:ln>
        </p:spPr>
      </p:sp>
      <p:sp>
        <p:nvSpPr>
          <p:cNvPr id="5" name="text-17"/>
          <p:cNvSpPr txBox="1"/>
          <p:nvPr/>
        </p:nvSpPr>
        <p:spPr>
          <a:xfrm>
            <a:off x="914400" y="2103120"/>
            <a:ext cx="4937760" cy="365760"/>
          </a:xfrm>
          <a:prstGeom prst="rect">
            <a:avLst/>
          </a:prstGeom>
          <a:noFill/>
          <a:ln/>
        </p:spPr>
        <p:txBody>
          <a:bodyPr wrap="square" lIns="0" tIns="0" rIns="0" bIns="0" rtlCol="0" anchor="t"/>
          <a:lstStyle/>
          <a:p>
            <a:pPr indent="0" marL="0">
              <a:buNone/>
            </a:pPr>
            <a:r>
              <a:rPr lang="en-US" sz="1200" b="1" spc="200" kern="0" dirty="0">
                <a:solidFill>
                  <a:schemeClr val="accent3"/>
                </a:solidFill>
              </a:rPr>
              <a:t>WHAT WE BELIEVE</a:t>
            </a:r>
            <a:endParaRPr lang="en-US" sz="1200" dirty="0"/>
          </a:p>
        </p:txBody>
      </p:sp>
      <p:sp>
        <p:nvSpPr>
          <p:cNvPr id="6" name="text-18"/>
          <p:cNvSpPr txBox="1"/>
          <p:nvPr/>
        </p:nvSpPr>
        <p:spPr>
          <a:xfrm>
            <a:off x="914400" y="2514600"/>
            <a:ext cx="4937760" cy="1188720"/>
          </a:xfrm>
          <a:prstGeom prst="rect">
            <a:avLst/>
          </a:prstGeom>
          <a:noFill/>
          <a:ln/>
        </p:spPr>
        <p:txBody>
          <a:bodyPr wrap="square" lIns="0" tIns="0" rIns="0" bIns="0" rtlCol="0" anchor="t"/>
          <a:lstStyle/>
          <a:p>
            <a:pPr indent="0" marL="0">
              <a:buNone/>
            </a:pPr>
            <a:r>
              <a:rPr lang="en-US" sz="2400" b="1" dirty="0">
                <a:solidFill>
                  <a:schemeClr val="bg2"/>
                </a:solidFill>
                <a:latin typeface="Cambria" pitchFamily="34" charset="0"/>
                <a:ea typeface="Cambria" pitchFamily="34" charset="-122"/>
                <a:cs typeface="Cambria" pitchFamily="34" charset="-120"/>
              </a:rPr>
              <a:t>Businesses don’t buy AI.</a:t>
            </a:r>
            <a:endParaRPr lang="en-US" sz="2400" dirty="0"/>
          </a:p>
          <a:p>
            <a:pPr indent="0" marL="0">
              <a:buNone/>
            </a:pPr>
            <a:r>
              <a:rPr lang="en-US" sz="2400" b="1" dirty="0">
                <a:solidFill>
                  <a:schemeClr val="bg2"/>
                </a:solidFill>
                <a:latin typeface="Cambria" pitchFamily="34" charset="0"/>
                <a:ea typeface="Cambria" pitchFamily="34" charset="-122"/>
                <a:cs typeface="Cambria" pitchFamily="34" charset="-120"/>
              </a:rPr>
              <a:t>They buy revenue, time and lower risk.</a:t>
            </a:r>
            <a:endParaRPr lang="en-US" sz="2400" dirty="0"/>
          </a:p>
        </p:txBody>
      </p:sp>
      <p:sp>
        <p:nvSpPr>
          <p:cNvPr id="7" name="text-19"/>
          <p:cNvSpPr txBox="1"/>
          <p:nvPr/>
        </p:nvSpPr>
        <p:spPr>
          <a:xfrm>
            <a:off x="914400" y="3931920"/>
            <a:ext cx="493776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accent4"/>
                </a:solidFill>
              </a:rPr>
              <a:t>AI is the mechanism, the outcome is the product.</a:t>
            </a:r>
            <a:endParaRPr lang="en-US" sz="1500" dirty="0"/>
          </a:p>
          <a:p>
            <a:pPr marL="342900" indent="-342900">
              <a:spcAft>
                <a:spcPts val="800"/>
              </a:spcAft>
              <a:buSzPct val="100000"/>
              <a:buChar char="•"/>
            </a:pPr>
            <a:r>
              <a:rPr lang="en-US" sz="1500" dirty="0">
                <a:solidFill>
                  <a:schemeClr val="accent4"/>
                </a:solidFill>
              </a:rPr>
              <a:t>Agents draft. Humans decide. Nothing leaves a client’s account without a yes.</a:t>
            </a:r>
            <a:endParaRPr lang="en-US" sz="1500" dirty="0"/>
          </a:p>
          <a:p>
            <a:pPr marL="342900" indent="-342900">
              <a:spcAft>
                <a:spcPts val="800"/>
              </a:spcAft>
              <a:buSzPct val="100000"/>
              <a:buChar char="•"/>
            </a:pPr>
            <a:r>
              <a:rPr lang="en-US" sz="1500" dirty="0">
                <a:solidFill>
                  <a:schemeClr val="accent4"/>
                </a:solidFill>
              </a:rPr>
              <a:t>Quality over quantity: few buyers, each one researched.</a:t>
            </a:r>
            <a:endParaRPr lang="en-US" sz="1500" dirty="0"/>
          </a:p>
        </p:txBody>
      </p:sp>
      <p:sp>
        <p:nvSpPr>
          <p:cNvPr id="8" name="card-20"/>
          <p:cNvSpPr/>
          <p:nvPr/>
        </p:nvSpPr>
        <p:spPr>
          <a:xfrm>
            <a:off x="6492240" y="1783080"/>
            <a:ext cx="5120640" cy="1965960"/>
          </a:xfrm>
          <a:prstGeom prst="roundRect">
            <a:avLst>
              <a:gd name="adj" fmla="val 3721"/>
            </a:avLst>
          </a:prstGeom>
          <a:solidFill>
            <a:schemeClr val="bg2"/>
          </a:solidFill>
          <a:ln w="12700">
            <a:solidFill>
              <a:schemeClr val="bg2"/>
            </a:solidFill>
            <a:prstDash val="solid"/>
          </a:ln>
        </p:spPr>
      </p:sp>
      <p:sp>
        <p:nvSpPr>
          <p:cNvPr id="9" name="icon-bg-21"/>
          <p:cNvSpPr/>
          <p:nvPr/>
        </p:nvSpPr>
        <p:spPr>
          <a:xfrm>
            <a:off x="6812280" y="2103120"/>
            <a:ext cx="685800" cy="685800"/>
          </a:xfrm>
          <a:prstGeom prst="ellipse">
            <a:avLst/>
          </a:prstGeom>
          <a:solidFill>
            <a:schemeClr val="accent1"/>
          </a:solidFill>
          <a:ln w="12700">
            <a:solidFill>
              <a:schemeClr val="accent1"/>
            </a:solidFill>
            <a:prstDash val="solid"/>
          </a:ln>
        </p:spPr>
      </p:sp>
      <p:pic>
        <p:nvPicPr>
          <p:cNvPr id="10" name="icon-22" descr="preencoded.png">    </p:cNvPr>
          <p:cNvPicPr>
            <a:picLocks noChangeAspect="1"/>
          </p:cNvPicPr>
          <p:nvPr/>
        </p:nvPicPr>
        <p:blipFill>
          <a:blip r:embed="rId1"/>
          <a:stretch>
            <a:fillRect/>
          </a:stretch>
        </p:blipFill>
        <p:spPr>
          <a:xfrm>
            <a:off x="6976872" y="2267712"/>
            <a:ext cx="356616" cy="356616"/>
          </a:xfrm>
          <a:prstGeom prst="rect">
            <a:avLst/>
          </a:prstGeom>
        </p:spPr>
      </p:pic>
      <p:sp>
        <p:nvSpPr>
          <p:cNvPr id="11" name="text-23"/>
          <p:cNvSpPr txBox="1"/>
          <p:nvPr/>
        </p:nvSpPr>
        <p:spPr>
          <a:xfrm>
            <a:off x="7726680" y="2103120"/>
            <a:ext cx="36576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Devasya Dwivedi (Dave)</a:t>
            </a:r>
            <a:endParaRPr lang="en-US" sz="1800" dirty="0"/>
          </a:p>
        </p:txBody>
      </p:sp>
      <p:sp>
        <p:nvSpPr>
          <p:cNvPr id="12" name="text-24"/>
          <p:cNvSpPr txBox="1"/>
          <p:nvPr/>
        </p:nvSpPr>
        <p:spPr>
          <a:xfrm>
            <a:off x="7726680" y="2606040"/>
            <a:ext cx="3657600" cy="1005840"/>
          </a:xfrm>
          <a:prstGeom prst="rect">
            <a:avLst/>
          </a:prstGeom>
          <a:noFill/>
          <a:ln/>
        </p:spPr>
        <p:txBody>
          <a:bodyPr wrap="square" lIns="0" tIns="0" rIns="0" bIns="0" rtlCol="0" anchor="t"/>
          <a:lstStyle/>
          <a:p>
            <a:pPr indent="0" marL="0">
              <a:buNone/>
            </a:pPr>
            <a:r>
              <a:rPr lang="en-US" sz="1400" dirty="0">
                <a:solidFill>
                  <a:schemeClr val="tx2"/>
                </a:solidFill>
              </a:rPr>
              <a:t>Strategy, discovery calls and client lead. Runs the outreach and agent systems.</a:t>
            </a:r>
            <a:endParaRPr lang="en-US" sz="1400" dirty="0"/>
          </a:p>
        </p:txBody>
      </p:sp>
      <p:sp>
        <p:nvSpPr>
          <p:cNvPr id="13" name="card-25"/>
          <p:cNvSpPr/>
          <p:nvPr/>
        </p:nvSpPr>
        <p:spPr>
          <a:xfrm>
            <a:off x="6492240" y="3931920"/>
            <a:ext cx="5120640" cy="1965960"/>
          </a:xfrm>
          <a:prstGeom prst="roundRect">
            <a:avLst>
              <a:gd name="adj" fmla="val 3721"/>
            </a:avLst>
          </a:prstGeom>
          <a:solidFill>
            <a:schemeClr val="bg2"/>
          </a:solidFill>
          <a:ln w="12700">
            <a:solidFill>
              <a:schemeClr val="bg2"/>
            </a:solidFill>
            <a:prstDash val="solid"/>
          </a:ln>
        </p:spPr>
      </p:sp>
      <p:sp>
        <p:nvSpPr>
          <p:cNvPr id="14" name="icon-bg-26"/>
          <p:cNvSpPr/>
          <p:nvPr/>
        </p:nvSpPr>
        <p:spPr>
          <a:xfrm>
            <a:off x="6812280" y="4251960"/>
            <a:ext cx="685800" cy="685800"/>
          </a:xfrm>
          <a:prstGeom prst="ellipse">
            <a:avLst/>
          </a:prstGeom>
          <a:solidFill>
            <a:schemeClr val="accent1"/>
          </a:solidFill>
          <a:ln w="12700">
            <a:solidFill>
              <a:schemeClr val="accent1"/>
            </a:solidFill>
            <a:prstDash val="solid"/>
          </a:ln>
        </p:spPr>
      </p:sp>
      <p:pic>
        <p:nvPicPr>
          <p:cNvPr id="15" name="icon-27" descr="preencoded.png">    </p:cNvPr>
          <p:cNvPicPr>
            <a:picLocks noChangeAspect="1"/>
          </p:cNvPicPr>
          <p:nvPr/>
        </p:nvPicPr>
        <p:blipFill>
          <a:blip r:embed="rId2"/>
          <a:stretch>
            <a:fillRect/>
          </a:stretch>
        </p:blipFill>
        <p:spPr>
          <a:xfrm>
            <a:off x="6976872" y="4416552"/>
            <a:ext cx="356616" cy="356616"/>
          </a:xfrm>
          <a:prstGeom prst="rect">
            <a:avLst/>
          </a:prstGeom>
        </p:spPr>
      </p:pic>
      <p:sp>
        <p:nvSpPr>
          <p:cNvPr id="16" name="text-28"/>
          <p:cNvSpPr txBox="1"/>
          <p:nvPr/>
        </p:nvSpPr>
        <p:spPr>
          <a:xfrm>
            <a:off x="7726680" y="4251960"/>
            <a:ext cx="36576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Anshul Mikita Prajapati</a:t>
            </a:r>
            <a:endParaRPr lang="en-US" sz="1800" dirty="0"/>
          </a:p>
        </p:txBody>
      </p:sp>
      <p:sp>
        <p:nvSpPr>
          <p:cNvPr id="17" name="text-29"/>
          <p:cNvSpPr txBox="1"/>
          <p:nvPr/>
        </p:nvSpPr>
        <p:spPr>
          <a:xfrm>
            <a:off x="7726680" y="4754880"/>
            <a:ext cx="3657600" cy="1005840"/>
          </a:xfrm>
          <a:prstGeom prst="rect">
            <a:avLst/>
          </a:prstGeom>
          <a:noFill/>
          <a:ln/>
        </p:spPr>
        <p:txBody>
          <a:bodyPr wrap="square" lIns="0" tIns="0" rIns="0" bIns="0" rtlCol="0" anchor="t"/>
          <a:lstStyle/>
          <a:p>
            <a:pPr indent="0" marL="0">
              <a:buNone/>
            </a:pPr>
            <a:r>
              <a:rPr lang="en-US" sz="1400" dirty="0">
                <a:solidFill>
                  <a:schemeClr val="tx2"/>
                </a:solidFill>
              </a:rPr>
              <a:t>Research, LinkedIn audits, dashboards and delivery. Presents the audit to clients.</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2743200" cy="1097280"/>
          </a:xfrm>
          <a:prstGeom prst="rect">
            <a:avLst/>
          </a:prstGeom>
          <a:noFill/>
          <a:ln/>
        </p:spPr>
        <p:txBody>
          <a:bodyPr wrap="square" lIns="0" tIns="0" rIns="0" bIns="0" rtlCol="0" anchor="t"/>
          <a:lstStyle/>
          <a:p>
            <a:pPr indent="0" marL="0">
              <a:buNone/>
            </a:pPr>
            <a:r>
              <a:rPr lang="en-US" sz="6000" b="1" dirty="0">
                <a:solidFill>
                  <a:schemeClr val="accent3"/>
                </a:solidFill>
                <a:latin typeface="Cambria" pitchFamily="34" charset="0"/>
                <a:ea typeface="Cambria" pitchFamily="34" charset="-122"/>
                <a:cs typeface="Cambria" pitchFamily="34" charset="-120"/>
              </a:rPr>
              <a:t>01</a:t>
            </a:r>
            <a:endParaRPr lang="en-US" sz="6000" dirty="0"/>
          </a:p>
        </p:txBody>
      </p:sp>
      <p:sp>
        <p:nvSpPr>
          <p:cNvPr id="3" name="Text 0"/>
          <p:cNvSpPr/>
          <p:nvPr>
            <p:ph idx="101" type="title" hasCustomPrompt="1"/>
          </p:nvPr>
        </p:nvSpPr>
        <p:spPr>
          <a:xfrm>
            <a:off x="731520" y="2880360"/>
            <a:ext cx="10698480" cy="1005840"/>
          </a:xfrm>
          <a:prstGeom prst="rect">
            <a:avLst/>
          </a:prstGeom>
          <a:noFill/>
          <a:ln/>
        </p:spPr>
        <p:txBody>
          <a:bodyPr wrap="square" lIns="0" tIns="0" rIns="0" bIns="0" rtlCol="0" anchor="t"/>
          <a:lstStyle/>
          <a:p>
            <a:pPr algn="l" indent="0" marL="0">
              <a:buNone/>
            </a:pPr>
            <a:r>
              <a:rPr lang="en-US" sz="4000" b="1" dirty="0">
                <a:solidFill>
                  <a:schemeClr val="bg2"/>
                </a:solidFill>
                <a:latin typeface="Cambria" pitchFamily="34" charset="0"/>
                <a:ea typeface="Cambria" pitchFamily="34" charset="-122"/>
                <a:cs typeface="Cambria" pitchFamily="34" charset="-120"/>
              </a:rPr>
              <a:t>What we’ve been doing</a:t>
            </a:r>
            <a:endParaRPr lang="en-US" sz="4000" dirty="0"/>
          </a:p>
        </p:txBody>
      </p:sp>
      <p:sp>
        <p:nvSpPr>
          <p:cNvPr id="4" name="Text 0"/>
          <p:cNvSpPr/>
          <p:nvPr>
            <p:ph idx="102" type="body" hasCustomPrompt="1"/>
          </p:nvPr>
        </p:nvSpPr>
        <p:spPr>
          <a:xfrm>
            <a:off x="731520" y="397764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Why we do this work, who we’ve done it for, and what we built along the way.</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Expertise isn’t the bottleneck. Distribution is.</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From our October LinkedIn audit of a former Big Four partner, now running a UK consultancy.</a:t>
            </a:r>
            <a:endParaRPr lang="en-US" sz="1600" dirty="0"/>
          </a:p>
        </p:txBody>
      </p:sp>
      <p:sp>
        <p:nvSpPr>
          <p:cNvPr id="4" name="card-30"/>
          <p:cNvSpPr/>
          <p:nvPr/>
        </p:nvSpPr>
        <p:spPr>
          <a:xfrm>
            <a:off x="548640" y="1783080"/>
            <a:ext cx="2606040" cy="2011680"/>
          </a:xfrm>
          <a:prstGeom prst="roundRect">
            <a:avLst>
              <a:gd name="adj" fmla="val 3636"/>
            </a:avLst>
          </a:prstGeom>
          <a:solidFill>
            <a:schemeClr val="bg2"/>
          </a:solidFill>
          <a:ln w="12700">
            <a:solidFill>
              <a:schemeClr val="bg2"/>
            </a:solidFill>
            <a:prstDash val="solid"/>
          </a:ln>
        </p:spPr>
      </p:sp>
      <p:sp>
        <p:nvSpPr>
          <p:cNvPr id="5" name="text-31"/>
          <p:cNvSpPr txBox="1"/>
          <p:nvPr/>
        </p:nvSpPr>
        <p:spPr>
          <a:xfrm>
            <a:off x="822960" y="1965960"/>
            <a:ext cx="2103120" cy="91440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1,597</a:t>
            </a:r>
            <a:endParaRPr lang="en-US" sz="4800" dirty="0"/>
          </a:p>
        </p:txBody>
      </p:sp>
      <p:sp>
        <p:nvSpPr>
          <p:cNvPr id="6" name="text-32"/>
          <p:cNvSpPr txBox="1"/>
          <p:nvPr/>
        </p:nvSpPr>
        <p:spPr>
          <a:xfrm>
            <a:off x="822960" y="2926080"/>
            <a:ext cx="2103120" cy="731520"/>
          </a:xfrm>
          <a:prstGeom prst="rect">
            <a:avLst/>
          </a:prstGeom>
          <a:noFill/>
          <a:ln/>
        </p:spPr>
        <p:txBody>
          <a:bodyPr wrap="square" lIns="0" tIns="0" rIns="0" bIns="0" rtlCol="0" anchor="t"/>
          <a:lstStyle/>
          <a:p>
            <a:pPr indent="0" marL="0">
              <a:buNone/>
            </a:pPr>
            <a:r>
              <a:rPr lang="en-US" sz="1400" dirty="0">
                <a:solidFill>
                  <a:schemeClr val="tx2"/>
                </a:solidFill>
              </a:rPr>
              <a:t>followers after a 20-year career</a:t>
            </a:r>
            <a:endParaRPr lang="en-US" sz="1400" dirty="0"/>
          </a:p>
        </p:txBody>
      </p:sp>
      <p:sp>
        <p:nvSpPr>
          <p:cNvPr id="7" name="card-33"/>
          <p:cNvSpPr/>
          <p:nvPr/>
        </p:nvSpPr>
        <p:spPr>
          <a:xfrm>
            <a:off x="3360420" y="1783080"/>
            <a:ext cx="2606040" cy="2011680"/>
          </a:xfrm>
          <a:prstGeom prst="roundRect">
            <a:avLst>
              <a:gd name="adj" fmla="val 3636"/>
            </a:avLst>
          </a:prstGeom>
          <a:solidFill>
            <a:schemeClr val="bg2"/>
          </a:solidFill>
          <a:ln w="12700">
            <a:solidFill>
              <a:schemeClr val="bg2"/>
            </a:solidFill>
            <a:prstDash val="solid"/>
          </a:ln>
        </p:spPr>
      </p:sp>
      <p:sp>
        <p:nvSpPr>
          <p:cNvPr id="8" name="text-34"/>
          <p:cNvSpPr txBox="1"/>
          <p:nvPr/>
        </p:nvSpPr>
        <p:spPr>
          <a:xfrm>
            <a:off x="3634740" y="1965960"/>
            <a:ext cx="2103120" cy="91440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9</a:t>
            </a:r>
            <a:endParaRPr lang="en-US" sz="4800" dirty="0"/>
          </a:p>
        </p:txBody>
      </p:sp>
      <p:sp>
        <p:nvSpPr>
          <p:cNvPr id="9" name="text-35"/>
          <p:cNvSpPr txBox="1"/>
          <p:nvPr/>
        </p:nvSpPr>
        <p:spPr>
          <a:xfrm>
            <a:off x="3634740" y="2926080"/>
            <a:ext cx="2103120" cy="731520"/>
          </a:xfrm>
          <a:prstGeom prst="rect">
            <a:avLst/>
          </a:prstGeom>
          <a:noFill/>
          <a:ln/>
        </p:spPr>
        <p:txBody>
          <a:bodyPr wrap="square" lIns="0" tIns="0" rIns="0" bIns="0" rtlCol="0" anchor="t"/>
          <a:lstStyle/>
          <a:p>
            <a:pPr indent="0" marL="0">
              <a:buNone/>
            </a:pPr>
            <a:r>
              <a:rPr lang="en-US" sz="1400" dirty="0">
                <a:solidFill>
                  <a:schemeClr val="tx2"/>
                </a:solidFill>
              </a:rPr>
              <a:t>median reactions on their own posts</a:t>
            </a:r>
            <a:endParaRPr lang="en-US" sz="1400" dirty="0"/>
          </a:p>
        </p:txBody>
      </p:sp>
      <p:sp>
        <p:nvSpPr>
          <p:cNvPr id="10" name="card-36"/>
          <p:cNvSpPr/>
          <p:nvPr/>
        </p:nvSpPr>
        <p:spPr>
          <a:xfrm>
            <a:off x="6172200" y="1783080"/>
            <a:ext cx="2606040" cy="2011680"/>
          </a:xfrm>
          <a:prstGeom prst="roundRect">
            <a:avLst>
              <a:gd name="adj" fmla="val 3636"/>
            </a:avLst>
          </a:prstGeom>
          <a:solidFill>
            <a:schemeClr val="bg2"/>
          </a:solidFill>
          <a:ln w="12700">
            <a:solidFill>
              <a:schemeClr val="bg2"/>
            </a:solidFill>
            <a:prstDash val="solid"/>
          </a:ln>
        </p:spPr>
      </p:sp>
      <p:sp>
        <p:nvSpPr>
          <p:cNvPr id="11" name="text-37"/>
          <p:cNvSpPr txBox="1"/>
          <p:nvPr/>
        </p:nvSpPr>
        <p:spPr>
          <a:xfrm>
            <a:off x="6446520" y="1965960"/>
            <a:ext cx="2103120" cy="91440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76%</a:t>
            </a:r>
            <a:endParaRPr lang="en-US" sz="4800" dirty="0"/>
          </a:p>
        </p:txBody>
      </p:sp>
      <p:sp>
        <p:nvSpPr>
          <p:cNvPr id="12" name="text-38"/>
          <p:cNvSpPr txBox="1"/>
          <p:nvPr/>
        </p:nvSpPr>
        <p:spPr>
          <a:xfrm>
            <a:off x="6446520" y="2926080"/>
            <a:ext cx="2103120" cy="731520"/>
          </a:xfrm>
          <a:prstGeom prst="rect">
            <a:avLst/>
          </a:prstGeom>
          <a:noFill/>
          <a:ln/>
        </p:spPr>
        <p:txBody>
          <a:bodyPr wrap="square" lIns="0" tIns="0" rIns="0" bIns="0" rtlCol="0" anchor="t"/>
          <a:lstStyle/>
          <a:p>
            <a:pPr indent="0" marL="0">
              <a:buNone/>
            </a:pPr>
            <a:r>
              <a:rPr lang="en-US" sz="1400" dirty="0">
                <a:solidFill>
                  <a:schemeClr val="tx2"/>
                </a:solidFill>
              </a:rPr>
              <a:t>of their comments were some form of “congrats”</a:t>
            </a:r>
            <a:endParaRPr lang="en-US" sz="1400" dirty="0"/>
          </a:p>
        </p:txBody>
      </p:sp>
      <p:sp>
        <p:nvSpPr>
          <p:cNvPr id="13" name="card-39"/>
          <p:cNvSpPr/>
          <p:nvPr/>
        </p:nvSpPr>
        <p:spPr>
          <a:xfrm>
            <a:off x="8983980" y="1783080"/>
            <a:ext cx="2606040" cy="2011680"/>
          </a:xfrm>
          <a:prstGeom prst="roundRect">
            <a:avLst>
              <a:gd name="adj" fmla="val 3636"/>
            </a:avLst>
          </a:prstGeom>
          <a:solidFill>
            <a:schemeClr val="bg2"/>
          </a:solidFill>
          <a:ln w="12700">
            <a:solidFill>
              <a:schemeClr val="bg2"/>
            </a:solidFill>
            <a:prstDash val="solid"/>
          </a:ln>
        </p:spPr>
      </p:sp>
      <p:sp>
        <p:nvSpPr>
          <p:cNvPr id="14" name="text-40"/>
          <p:cNvSpPr txBox="1"/>
          <p:nvPr/>
        </p:nvSpPr>
        <p:spPr>
          <a:xfrm>
            <a:off x="9258300" y="1965960"/>
            <a:ext cx="2103120" cy="91440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14</a:t>
            </a:r>
            <a:endParaRPr lang="en-US" sz="4800" dirty="0"/>
          </a:p>
        </p:txBody>
      </p:sp>
      <p:sp>
        <p:nvSpPr>
          <p:cNvPr id="15" name="text-41"/>
          <p:cNvSpPr txBox="1"/>
          <p:nvPr/>
        </p:nvSpPr>
        <p:spPr>
          <a:xfrm>
            <a:off x="9258300" y="2926080"/>
            <a:ext cx="2103120" cy="731520"/>
          </a:xfrm>
          <a:prstGeom prst="rect">
            <a:avLst/>
          </a:prstGeom>
          <a:noFill/>
          <a:ln/>
        </p:spPr>
        <p:txBody>
          <a:bodyPr wrap="square" lIns="0" tIns="0" rIns="0" bIns="0" rtlCol="0" anchor="t"/>
          <a:lstStyle/>
          <a:p>
            <a:pPr indent="0" marL="0">
              <a:buNone/>
            </a:pPr>
            <a:r>
              <a:rPr lang="en-US" sz="1400" dirty="0">
                <a:solidFill>
                  <a:schemeClr val="tx2"/>
                </a:solidFill>
              </a:rPr>
              <a:t>followers on the firm’s company page</a:t>
            </a:r>
            <a:endParaRPr lang="en-US" sz="1400" dirty="0"/>
          </a:p>
        </p:txBody>
      </p:sp>
      <p:sp>
        <p:nvSpPr>
          <p:cNvPr id="16" name="icon-bg-42"/>
          <p:cNvSpPr/>
          <p:nvPr/>
        </p:nvSpPr>
        <p:spPr>
          <a:xfrm>
            <a:off x="548640" y="4160520"/>
            <a:ext cx="548640" cy="548640"/>
          </a:xfrm>
          <a:prstGeom prst="ellipse">
            <a:avLst/>
          </a:prstGeom>
          <a:solidFill>
            <a:schemeClr val="accent1"/>
          </a:solidFill>
          <a:ln w="12700">
            <a:solidFill>
              <a:schemeClr val="accent1"/>
            </a:solidFill>
            <a:prstDash val="solid"/>
          </a:ln>
        </p:spPr>
      </p:sp>
      <p:pic>
        <p:nvPicPr>
          <p:cNvPr id="17" name="icon-43" descr="preencoded.png">    </p:cNvPr>
          <p:cNvPicPr>
            <a:picLocks noChangeAspect="1"/>
          </p:cNvPicPr>
          <p:nvPr/>
        </p:nvPicPr>
        <p:blipFill>
          <a:blip r:embed="rId1"/>
          <a:stretch>
            <a:fillRect/>
          </a:stretch>
        </p:blipFill>
        <p:spPr>
          <a:xfrm>
            <a:off x="680314" y="4292194"/>
            <a:ext cx="285293" cy="285293"/>
          </a:xfrm>
          <a:prstGeom prst="rect">
            <a:avLst/>
          </a:prstGeom>
        </p:spPr>
      </p:pic>
      <p:sp>
        <p:nvSpPr>
          <p:cNvPr id="18" name="text-44"/>
          <p:cNvSpPr txBox="1"/>
          <p:nvPr/>
        </p:nvSpPr>
        <p:spPr>
          <a:xfrm>
            <a:off x="1280160" y="4160520"/>
            <a:ext cx="27432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Time</a:t>
            </a:r>
            <a:endParaRPr lang="en-US" sz="1700" dirty="0"/>
          </a:p>
        </p:txBody>
      </p:sp>
      <p:sp>
        <p:nvSpPr>
          <p:cNvPr id="19" name="text-45"/>
          <p:cNvSpPr txBox="1"/>
          <p:nvPr/>
        </p:nvSpPr>
        <p:spPr>
          <a:xfrm>
            <a:off x="1280160" y="4572000"/>
            <a:ext cx="2834640" cy="1463040"/>
          </a:xfrm>
          <a:prstGeom prst="rect">
            <a:avLst/>
          </a:prstGeom>
          <a:noFill/>
          <a:ln/>
        </p:spPr>
        <p:txBody>
          <a:bodyPr wrap="square" lIns="0" tIns="0" rIns="0" bIns="0" rtlCol="0" anchor="t"/>
          <a:lstStyle/>
          <a:p>
            <a:pPr indent="0" marL="0">
              <a:buNone/>
            </a:pPr>
            <a:r>
              <a:rPr lang="en-US" sz="1400" dirty="0">
                <a:solidFill>
                  <a:schemeClr val="tx2"/>
                </a:solidFill>
              </a:rPr>
              <a:t>Experts can’t spend three hours a day on LinkedIn. So they don’t, and buyers never hear of them.</a:t>
            </a:r>
            <a:endParaRPr lang="en-US" sz="1400" dirty="0"/>
          </a:p>
        </p:txBody>
      </p:sp>
      <p:sp>
        <p:nvSpPr>
          <p:cNvPr id="20" name="icon-bg-46"/>
          <p:cNvSpPr/>
          <p:nvPr/>
        </p:nvSpPr>
        <p:spPr>
          <a:xfrm>
            <a:off x="4297680" y="4160520"/>
            <a:ext cx="548640" cy="548640"/>
          </a:xfrm>
          <a:prstGeom prst="ellipse">
            <a:avLst/>
          </a:prstGeom>
          <a:solidFill>
            <a:schemeClr val="accent1"/>
          </a:solidFill>
          <a:ln w="12700">
            <a:solidFill>
              <a:schemeClr val="accent1"/>
            </a:solidFill>
            <a:prstDash val="solid"/>
          </a:ln>
        </p:spPr>
      </p:sp>
      <p:pic>
        <p:nvPicPr>
          <p:cNvPr id="21" name="icon-47" descr="preencoded.png">    </p:cNvPr>
          <p:cNvPicPr>
            <a:picLocks noChangeAspect="1"/>
          </p:cNvPicPr>
          <p:nvPr/>
        </p:nvPicPr>
        <p:blipFill>
          <a:blip r:embed="rId2"/>
          <a:stretch>
            <a:fillRect/>
          </a:stretch>
        </p:blipFill>
        <p:spPr>
          <a:xfrm>
            <a:off x="4429354" y="4292194"/>
            <a:ext cx="285293" cy="285293"/>
          </a:xfrm>
          <a:prstGeom prst="rect">
            <a:avLst/>
          </a:prstGeom>
        </p:spPr>
      </p:pic>
      <p:sp>
        <p:nvSpPr>
          <p:cNvPr id="22" name="text-48"/>
          <p:cNvSpPr txBox="1"/>
          <p:nvPr/>
        </p:nvSpPr>
        <p:spPr>
          <a:xfrm>
            <a:off x="5029200" y="4160520"/>
            <a:ext cx="27432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 system</a:t>
            </a:r>
            <a:endParaRPr lang="en-US" sz="1700" dirty="0"/>
          </a:p>
        </p:txBody>
      </p:sp>
      <p:sp>
        <p:nvSpPr>
          <p:cNvPr id="23" name="text-49"/>
          <p:cNvSpPr txBox="1"/>
          <p:nvPr/>
        </p:nvSpPr>
        <p:spPr>
          <a:xfrm>
            <a:off x="5029200" y="4572000"/>
            <a:ext cx="2834640" cy="1463040"/>
          </a:xfrm>
          <a:prstGeom prst="rect">
            <a:avLst/>
          </a:prstGeom>
          <a:noFill/>
          <a:ln/>
        </p:spPr>
        <p:txBody>
          <a:bodyPr wrap="square" lIns="0" tIns="0" rIns="0" bIns="0" rtlCol="0" anchor="t"/>
          <a:lstStyle/>
          <a:p>
            <a:pPr indent="0" marL="0">
              <a:buNone/>
            </a:pPr>
            <a:r>
              <a:rPr lang="en-US" sz="1400" dirty="0">
                <a:solidFill>
                  <a:schemeClr val="tx2"/>
                </a:solidFill>
              </a:rPr>
              <a:t>Work comes from referrals and old colleagues. Good, but it caps growth and can’t be planned.</a:t>
            </a:r>
            <a:endParaRPr lang="en-US" sz="1400" dirty="0"/>
          </a:p>
        </p:txBody>
      </p:sp>
      <p:sp>
        <p:nvSpPr>
          <p:cNvPr id="24" name="icon-bg-50"/>
          <p:cNvSpPr/>
          <p:nvPr/>
        </p:nvSpPr>
        <p:spPr>
          <a:xfrm>
            <a:off x="8046720" y="4160520"/>
            <a:ext cx="548640" cy="548640"/>
          </a:xfrm>
          <a:prstGeom prst="ellipse">
            <a:avLst/>
          </a:prstGeom>
          <a:solidFill>
            <a:schemeClr val="accent1"/>
          </a:solidFill>
          <a:ln w="12700">
            <a:solidFill>
              <a:schemeClr val="accent1"/>
            </a:solidFill>
            <a:prstDash val="solid"/>
          </a:ln>
        </p:spPr>
      </p:sp>
      <p:pic>
        <p:nvPicPr>
          <p:cNvPr id="25" name="icon-51" descr="preencoded.png">    </p:cNvPr>
          <p:cNvPicPr>
            <a:picLocks noChangeAspect="1"/>
          </p:cNvPicPr>
          <p:nvPr/>
        </p:nvPicPr>
        <p:blipFill>
          <a:blip r:embed="rId3"/>
          <a:stretch>
            <a:fillRect/>
          </a:stretch>
        </p:blipFill>
        <p:spPr>
          <a:xfrm>
            <a:off x="8178394" y="4292194"/>
            <a:ext cx="285293" cy="285293"/>
          </a:xfrm>
          <a:prstGeom prst="rect">
            <a:avLst/>
          </a:prstGeom>
        </p:spPr>
      </p:pic>
      <p:sp>
        <p:nvSpPr>
          <p:cNvPr id="26" name="text-52"/>
          <p:cNvSpPr txBox="1"/>
          <p:nvPr/>
        </p:nvSpPr>
        <p:spPr>
          <a:xfrm>
            <a:off x="8778240" y="4160520"/>
            <a:ext cx="27432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Generic AI noise</a:t>
            </a:r>
            <a:endParaRPr lang="en-US" sz="1700" dirty="0"/>
          </a:p>
        </p:txBody>
      </p:sp>
      <p:sp>
        <p:nvSpPr>
          <p:cNvPr id="27" name="text-53"/>
          <p:cNvSpPr txBox="1"/>
          <p:nvPr/>
        </p:nvSpPr>
        <p:spPr>
          <a:xfrm>
            <a:off x="8778240" y="4572000"/>
            <a:ext cx="2834640" cy="1463040"/>
          </a:xfrm>
          <a:prstGeom prst="rect">
            <a:avLst/>
          </a:prstGeom>
          <a:noFill/>
          <a:ln/>
        </p:spPr>
        <p:txBody>
          <a:bodyPr wrap="square" lIns="0" tIns="0" rIns="0" bIns="0" rtlCol="0" anchor="t"/>
          <a:lstStyle/>
          <a:p>
            <a:pPr indent="0" marL="0">
              <a:buNone/>
            </a:pPr>
            <a:r>
              <a:rPr lang="en-US" sz="1400" dirty="0">
                <a:solidFill>
                  <a:schemeClr val="tx2"/>
                </a:solidFill>
              </a:rPr>
              <a:t>Buyers are drowning in AI-written outreach. Trust now goes to specific, human, sourced.</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Who we’ve been doing it for</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Three live accounts, three different markets, one method.</a:t>
            </a:r>
            <a:endParaRPr lang="en-US" sz="1600" dirty="0"/>
          </a:p>
        </p:txBody>
      </p:sp>
      <p:sp>
        <p:nvSpPr>
          <p:cNvPr id="4" name="card-54"/>
          <p:cNvSpPr/>
          <p:nvPr/>
        </p:nvSpPr>
        <p:spPr>
          <a:xfrm>
            <a:off x="548640" y="1783080"/>
            <a:ext cx="3520440" cy="3657600"/>
          </a:xfrm>
          <a:prstGeom prst="roundRect">
            <a:avLst>
              <a:gd name="adj" fmla="val 2078"/>
            </a:avLst>
          </a:prstGeom>
          <a:solidFill>
            <a:schemeClr val="bg2"/>
          </a:solidFill>
          <a:ln w="12700">
            <a:solidFill>
              <a:schemeClr val="bg2"/>
            </a:solidFill>
            <a:prstDash val="solid"/>
          </a:ln>
        </p:spPr>
      </p:sp>
      <p:sp>
        <p:nvSpPr>
          <p:cNvPr id="5" name="icon-bg-55"/>
          <p:cNvSpPr/>
          <p:nvPr/>
        </p:nvSpPr>
        <p:spPr>
          <a:xfrm>
            <a:off x="868680" y="2057400"/>
            <a:ext cx="685800" cy="685800"/>
          </a:xfrm>
          <a:prstGeom prst="ellipse">
            <a:avLst/>
          </a:prstGeom>
          <a:solidFill>
            <a:schemeClr val="accent1"/>
          </a:solidFill>
          <a:ln w="12700">
            <a:solidFill>
              <a:schemeClr val="accent1"/>
            </a:solidFill>
            <a:prstDash val="solid"/>
          </a:ln>
        </p:spPr>
      </p:sp>
      <p:pic>
        <p:nvPicPr>
          <p:cNvPr id="6" name="icon-56" descr="preencoded.png">    </p:cNvPr>
          <p:cNvPicPr>
            <a:picLocks noChangeAspect="1"/>
          </p:cNvPicPr>
          <p:nvPr/>
        </p:nvPicPr>
        <p:blipFill>
          <a:blip r:embed="rId1"/>
          <a:stretch>
            <a:fillRect/>
          </a:stretch>
        </p:blipFill>
        <p:spPr>
          <a:xfrm>
            <a:off x="1033272" y="2221992"/>
            <a:ext cx="356616" cy="356616"/>
          </a:xfrm>
          <a:prstGeom prst="rect">
            <a:avLst/>
          </a:prstGeom>
        </p:spPr>
      </p:pic>
      <p:sp>
        <p:nvSpPr>
          <p:cNvPr id="7" name="text-57"/>
          <p:cNvSpPr txBox="1"/>
          <p:nvPr/>
        </p:nvSpPr>
        <p:spPr>
          <a:xfrm>
            <a:off x="868680" y="2880360"/>
            <a:ext cx="2926080" cy="6858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3D Images AI</a:t>
            </a:r>
            <a:endParaRPr lang="en-US" sz="1800" dirty="0"/>
          </a:p>
        </p:txBody>
      </p:sp>
      <p:sp>
        <p:nvSpPr>
          <p:cNvPr id="8" name="text-58"/>
          <p:cNvSpPr txBox="1"/>
          <p:nvPr/>
        </p:nvSpPr>
        <p:spPr>
          <a:xfrm>
            <a:off x="868680" y="3566160"/>
            <a:ext cx="2926080" cy="457200"/>
          </a:xfrm>
          <a:prstGeom prst="rect">
            <a:avLst/>
          </a:prstGeom>
          <a:noFill/>
          <a:ln/>
        </p:spPr>
        <p:txBody>
          <a:bodyPr wrap="square" lIns="0" tIns="0" rIns="0" bIns="0" rtlCol="0" anchor="t"/>
          <a:lstStyle/>
          <a:p>
            <a:pPr indent="0" marL="0">
              <a:buNone/>
            </a:pPr>
            <a:r>
              <a:rPr lang="en-US" sz="1300" i="1" dirty="0">
                <a:solidFill>
                  <a:schemeClr val="accent5"/>
                </a:solidFill>
              </a:rPr>
              <a:t>3D product models for Amazon listings</a:t>
            </a:r>
            <a:endParaRPr lang="en-US" sz="1300" dirty="0"/>
          </a:p>
        </p:txBody>
      </p:sp>
      <p:sp>
        <p:nvSpPr>
          <p:cNvPr id="9" name="text-59"/>
          <p:cNvSpPr txBox="1"/>
          <p:nvPr/>
        </p:nvSpPr>
        <p:spPr>
          <a:xfrm>
            <a:off x="868680" y="4069080"/>
            <a:ext cx="2926080" cy="1280160"/>
          </a:xfrm>
          <a:prstGeom prst="rect">
            <a:avLst/>
          </a:prstGeom>
          <a:noFill/>
          <a:ln/>
        </p:spPr>
        <p:txBody>
          <a:bodyPr wrap="square" lIns="0" tIns="0" rIns="0" bIns="0" rtlCol="0" anchor="t"/>
          <a:lstStyle/>
          <a:p>
            <a:pPr indent="0" marL="0">
              <a:buNone/>
            </a:pPr>
            <a:r>
              <a:rPr lang="en-US" sz="1400" dirty="0">
                <a:solidFill>
                  <a:schemeClr val="tx2"/>
                </a:solidFill>
              </a:rPr>
              <a:t>LinkedIn and email outbound to Amazon brand owners. 2,100+ researched prospects, each connection note written for their product category.</a:t>
            </a:r>
            <a:endParaRPr lang="en-US" sz="1400" dirty="0"/>
          </a:p>
        </p:txBody>
      </p:sp>
      <p:sp>
        <p:nvSpPr>
          <p:cNvPr id="10" name="card-60"/>
          <p:cNvSpPr/>
          <p:nvPr/>
        </p:nvSpPr>
        <p:spPr>
          <a:xfrm>
            <a:off x="4297680" y="1783080"/>
            <a:ext cx="3520440" cy="3657600"/>
          </a:xfrm>
          <a:prstGeom prst="roundRect">
            <a:avLst>
              <a:gd name="adj" fmla="val 2078"/>
            </a:avLst>
          </a:prstGeom>
          <a:solidFill>
            <a:schemeClr val="bg2"/>
          </a:solidFill>
          <a:ln w="12700">
            <a:solidFill>
              <a:schemeClr val="bg2"/>
            </a:solidFill>
            <a:prstDash val="solid"/>
          </a:ln>
        </p:spPr>
      </p:sp>
      <p:sp>
        <p:nvSpPr>
          <p:cNvPr id="11" name="icon-bg-61"/>
          <p:cNvSpPr/>
          <p:nvPr/>
        </p:nvSpPr>
        <p:spPr>
          <a:xfrm>
            <a:off x="4617720" y="2057400"/>
            <a:ext cx="685800" cy="685800"/>
          </a:xfrm>
          <a:prstGeom prst="ellipse">
            <a:avLst/>
          </a:prstGeom>
          <a:solidFill>
            <a:schemeClr val="accent1"/>
          </a:solidFill>
          <a:ln w="12700">
            <a:solidFill>
              <a:schemeClr val="accent1"/>
            </a:solidFill>
            <a:prstDash val="solid"/>
          </a:ln>
        </p:spPr>
      </p:sp>
      <p:pic>
        <p:nvPicPr>
          <p:cNvPr id="12" name="icon-62" descr="preencoded.png">    </p:cNvPr>
          <p:cNvPicPr>
            <a:picLocks noChangeAspect="1"/>
          </p:cNvPicPr>
          <p:nvPr/>
        </p:nvPicPr>
        <p:blipFill>
          <a:blip r:embed="rId2"/>
          <a:stretch>
            <a:fillRect/>
          </a:stretch>
        </p:blipFill>
        <p:spPr>
          <a:xfrm>
            <a:off x="4782312" y="2221992"/>
            <a:ext cx="356616" cy="356616"/>
          </a:xfrm>
          <a:prstGeom prst="rect">
            <a:avLst/>
          </a:prstGeom>
        </p:spPr>
      </p:pic>
      <p:sp>
        <p:nvSpPr>
          <p:cNvPr id="13" name="text-63"/>
          <p:cNvSpPr txBox="1"/>
          <p:nvPr/>
        </p:nvSpPr>
        <p:spPr>
          <a:xfrm>
            <a:off x="4617720" y="2880360"/>
            <a:ext cx="2926080" cy="6858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Bloggerly</a:t>
            </a:r>
            <a:endParaRPr lang="en-US" sz="1800" dirty="0"/>
          </a:p>
        </p:txBody>
      </p:sp>
      <p:sp>
        <p:nvSpPr>
          <p:cNvPr id="14" name="text-64"/>
          <p:cNvSpPr txBox="1"/>
          <p:nvPr/>
        </p:nvSpPr>
        <p:spPr>
          <a:xfrm>
            <a:off x="4617720" y="3566160"/>
            <a:ext cx="2926080" cy="457200"/>
          </a:xfrm>
          <a:prstGeom prst="rect">
            <a:avLst/>
          </a:prstGeom>
          <a:noFill/>
          <a:ln/>
        </p:spPr>
        <p:txBody>
          <a:bodyPr wrap="square" lIns="0" tIns="0" rIns="0" bIns="0" rtlCol="0" anchor="t"/>
          <a:lstStyle/>
          <a:p>
            <a:pPr indent="0" marL="0">
              <a:buNone/>
            </a:pPr>
            <a:r>
              <a:rPr lang="en-US" sz="1300" i="1" dirty="0">
                <a:solidFill>
                  <a:schemeClr val="accent5"/>
                </a:solidFill>
              </a:rPr>
              <a:t>Search-optimised articles for B2B sites</a:t>
            </a:r>
            <a:endParaRPr lang="en-US" sz="1300" dirty="0"/>
          </a:p>
        </p:txBody>
      </p:sp>
      <p:sp>
        <p:nvSpPr>
          <p:cNvPr id="15" name="text-65"/>
          <p:cNvSpPr txBox="1"/>
          <p:nvPr/>
        </p:nvSpPr>
        <p:spPr>
          <a:xfrm>
            <a:off x="4617720" y="4069080"/>
            <a:ext cx="2926080" cy="1280160"/>
          </a:xfrm>
          <a:prstGeom prst="rect">
            <a:avLst/>
          </a:prstGeom>
          <a:noFill/>
          <a:ln/>
        </p:spPr>
        <p:txBody>
          <a:bodyPr wrap="square" lIns="0" tIns="0" rIns="0" bIns="0" rtlCol="0" anchor="t"/>
          <a:lstStyle/>
          <a:p>
            <a:pPr indent="0" marL="0">
              <a:buNone/>
            </a:pPr>
            <a:r>
              <a:rPr lang="en-US" sz="1400" dirty="0">
                <a:solidFill>
                  <a:schemeClr val="tx2"/>
                </a:solidFill>
              </a:rPr>
              <a:t>LinkedIn campaign for the article service. Inbound SEO consultants are now asking for examples and calls.</a:t>
            </a:r>
            <a:endParaRPr lang="en-US" sz="1400" dirty="0"/>
          </a:p>
        </p:txBody>
      </p:sp>
      <p:sp>
        <p:nvSpPr>
          <p:cNvPr id="16" name="card-66"/>
          <p:cNvSpPr/>
          <p:nvPr/>
        </p:nvSpPr>
        <p:spPr>
          <a:xfrm>
            <a:off x="8046720" y="1783080"/>
            <a:ext cx="3520440" cy="3657600"/>
          </a:xfrm>
          <a:prstGeom prst="roundRect">
            <a:avLst>
              <a:gd name="adj" fmla="val 2078"/>
            </a:avLst>
          </a:prstGeom>
          <a:solidFill>
            <a:schemeClr val="bg2"/>
          </a:solidFill>
          <a:ln w="12700">
            <a:solidFill>
              <a:schemeClr val="bg2"/>
            </a:solidFill>
            <a:prstDash val="solid"/>
          </a:ln>
        </p:spPr>
      </p:sp>
      <p:sp>
        <p:nvSpPr>
          <p:cNvPr id="17" name="icon-bg-67"/>
          <p:cNvSpPr/>
          <p:nvPr/>
        </p:nvSpPr>
        <p:spPr>
          <a:xfrm>
            <a:off x="8366760" y="2057400"/>
            <a:ext cx="685800" cy="685800"/>
          </a:xfrm>
          <a:prstGeom prst="ellipse">
            <a:avLst/>
          </a:prstGeom>
          <a:solidFill>
            <a:schemeClr val="accent1"/>
          </a:solidFill>
          <a:ln w="12700">
            <a:solidFill>
              <a:schemeClr val="accent1"/>
            </a:solidFill>
            <a:prstDash val="solid"/>
          </a:ln>
        </p:spPr>
      </p:sp>
      <p:pic>
        <p:nvPicPr>
          <p:cNvPr id="18" name="icon-68" descr="preencoded.png">    </p:cNvPr>
          <p:cNvPicPr>
            <a:picLocks noChangeAspect="1"/>
          </p:cNvPicPr>
          <p:nvPr/>
        </p:nvPicPr>
        <p:blipFill>
          <a:blip r:embed="rId3"/>
          <a:stretch>
            <a:fillRect/>
          </a:stretch>
        </p:blipFill>
        <p:spPr>
          <a:xfrm>
            <a:off x="8531352" y="2221992"/>
            <a:ext cx="356616" cy="356616"/>
          </a:xfrm>
          <a:prstGeom prst="rect">
            <a:avLst/>
          </a:prstGeom>
        </p:spPr>
      </p:pic>
      <p:sp>
        <p:nvSpPr>
          <p:cNvPr id="19" name="text-69"/>
          <p:cNvSpPr txBox="1"/>
          <p:nvPr/>
        </p:nvSpPr>
        <p:spPr>
          <a:xfrm>
            <a:off x="8366760" y="2880360"/>
            <a:ext cx="2926080" cy="6858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UK finance-transformation consultancy</a:t>
            </a:r>
            <a:endParaRPr lang="en-US" sz="1800" dirty="0"/>
          </a:p>
        </p:txBody>
      </p:sp>
      <p:sp>
        <p:nvSpPr>
          <p:cNvPr id="20" name="text-70"/>
          <p:cNvSpPr txBox="1"/>
          <p:nvPr/>
        </p:nvSpPr>
        <p:spPr>
          <a:xfrm>
            <a:off x="8366760" y="3566160"/>
            <a:ext cx="2926080" cy="457200"/>
          </a:xfrm>
          <a:prstGeom prst="rect">
            <a:avLst/>
          </a:prstGeom>
          <a:noFill/>
          <a:ln/>
        </p:spPr>
        <p:txBody>
          <a:bodyPr wrap="square" lIns="0" tIns="0" rIns="0" bIns="0" rtlCol="0" anchor="t"/>
          <a:lstStyle/>
          <a:p>
            <a:pPr indent="0" marL="0">
              <a:buNone/>
            </a:pPr>
            <a:r>
              <a:rPr lang="en-US" sz="1300" i="1" dirty="0">
                <a:solidFill>
                  <a:schemeClr val="accent5"/>
                </a:solidFill>
              </a:rPr>
              <a:t>Former Big Four partner, SAP and AI value</a:t>
            </a:r>
            <a:endParaRPr lang="en-US" sz="1300" dirty="0"/>
          </a:p>
        </p:txBody>
      </p:sp>
      <p:sp>
        <p:nvSpPr>
          <p:cNvPr id="21" name="text-71"/>
          <p:cNvSpPr txBox="1"/>
          <p:nvPr/>
        </p:nvSpPr>
        <p:spPr>
          <a:xfrm>
            <a:off x="8366760" y="4069080"/>
            <a:ext cx="2926080" cy="1280160"/>
          </a:xfrm>
          <a:prstGeom prst="rect">
            <a:avLst/>
          </a:prstGeom>
          <a:noFill/>
          <a:ln/>
        </p:spPr>
        <p:txBody>
          <a:bodyPr wrap="square" lIns="0" tIns="0" rIns="0" bIns="0" rtlCol="0" anchor="t"/>
          <a:lstStyle/>
          <a:p>
            <a:pPr indent="0" marL="0">
              <a:buNone/>
            </a:pPr>
            <a:r>
              <a:rPr lang="en-US" sz="1400" dirty="0">
                <a:solidFill>
                  <a:schemeClr val="tx2"/>
                </a:solidFill>
              </a:rPr>
              <a:t>LinkedIn audit and discovery on 15 Oct. A 52-page outbound and brand strategy delivered the next day. Target: 100+ qualified leads a month by month 6.</a:t>
            </a:r>
            <a:endParaRPr lang="en-US" sz="1400" dirty="0"/>
          </a:p>
        </p:txBody>
      </p:sp>
      <p:sp>
        <p:nvSpPr>
          <p:cNvPr id="22" name="card-72"/>
          <p:cNvSpPr/>
          <p:nvPr/>
        </p:nvSpPr>
        <p:spPr>
          <a:xfrm>
            <a:off x="548640" y="5577840"/>
            <a:ext cx="11064240" cy="594360"/>
          </a:xfrm>
          <a:prstGeom prst="roundRect">
            <a:avLst>
              <a:gd name="adj" fmla="val 12308"/>
            </a:avLst>
          </a:prstGeom>
          <a:solidFill>
            <a:schemeClr val="tx2"/>
          </a:solidFill>
          <a:ln w="12700">
            <a:solidFill>
              <a:schemeClr val="tx2"/>
            </a:solidFill>
            <a:prstDash val="solid"/>
          </a:ln>
        </p:spPr>
      </p:sp>
      <p:sp>
        <p:nvSpPr>
          <p:cNvPr id="23" name="icon-bg-73"/>
          <p:cNvSpPr/>
          <p:nvPr/>
        </p:nvSpPr>
        <p:spPr>
          <a:xfrm>
            <a:off x="731520" y="5641848"/>
            <a:ext cx="457200" cy="457200"/>
          </a:xfrm>
          <a:prstGeom prst="ellipse">
            <a:avLst/>
          </a:prstGeom>
          <a:solidFill>
            <a:schemeClr val="accent2"/>
          </a:solidFill>
          <a:ln w="12700">
            <a:solidFill>
              <a:schemeClr val="accent2"/>
            </a:solidFill>
            <a:prstDash val="solid"/>
          </a:ln>
        </p:spPr>
      </p:sp>
      <p:pic>
        <p:nvPicPr>
          <p:cNvPr id="24" name="icon-74" descr="preencoded.png">    </p:cNvPr>
          <p:cNvPicPr>
            <a:picLocks noChangeAspect="1"/>
          </p:cNvPicPr>
          <p:nvPr/>
        </p:nvPicPr>
        <p:blipFill>
          <a:blip r:embed="rId4"/>
          <a:stretch>
            <a:fillRect/>
          </a:stretch>
        </p:blipFill>
        <p:spPr>
          <a:xfrm>
            <a:off x="841248" y="5751576"/>
            <a:ext cx="237744" cy="237744"/>
          </a:xfrm>
          <a:prstGeom prst="rect">
            <a:avLst/>
          </a:prstGeom>
        </p:spPr>
      </p:pic>
      <p:sp>
        <p:nvSpPr>
          <p:cNvPr id="25" name="text-75"/>
          <p:cNvSpPr txBox="1"/>
          <p:nvPr/>
        </p:nvSpPr>
        <p:spPr>
          <a:xfrm>
            <a:off x="1371600" y="5641848"/>
            <a:ext cx="10058400" cy="457200"/>
          </a:xfrm>
          <a:prstGeom prst="rect">
            <a:avLst/>
          </a:prstGeom>
          <a:noFill/>
          <a:ln/>
        </p:spPr>
        <p:txBody>
          <a:bodyPr wrap="square" lIns="0" tIns="0" rIns="0" bIns="0" rtlCol="0" anchor="ctr"/>
          <a:lstStyle/>
          <a:p>
            <a:pPr indent="0" marL="0">
              <a:buNone/>
            </a:pPr>
            <a:r>
              <a:rPr lang="en-US" sz="1400" dirty="0">
                <a:solidFill>
                  <a:schemeClr val="bg2"/>
                </a:solidFill>
              </a:rPr>
              <a:t>Our own engine first: once the Extol company page reached about 50 followers, inbound started. People had seen our 3D Images AI and Bloggerly work and asked for the same.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What we built along the way</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Every engagement leaves a reusable system behind. That is the asset.</a:t>
            </a:r>
            <a:endParaRPr lang="en-US" sz="1600" dirty="0"/>
          </a:p>
        </p:txBody>
      </p:sp>
      <p:sp>
        <p:nvSpPr>
          <p:cNvPr id="4" name="card-76"/>
          <p:cNvSpPr/>
          <p:nvPr/>
        </p:nvSpPr>
        <p:spPr>
          <a:xfrm>
            <a:off x="548640" y="1783080"/>
            <a:ext cx="3520440" cy="2057400"/>
          </a:xfrm>
          <a:prstGeom prst="roundRect">
            <a:avLst>
              <a:gd name="adj" fmla="val 3556"/>
            </a:avLst>
          </a:prstGeom>
          <a:solidFill>
            <a:schemeClr val="bg2"/>
          </a:solidFill>
          <a:ln w="12700">
            <a:solidFill>
              <a:schemeClr val="bg2"/>
            </a:solidFill>
            <a:prstDash val="solid"/>
          </a:ln>
        </p:spPr>
      </p:sp>
      <p:sp>
        <p:nvSpPr>
          <p:cNvPr id="5" name="icon-bg-77"/>
          <p:cNvSpPr/>
          <p:nvPr/>
        </p:nvSpPr>
        <p:spPr>
          <a:xfrm>
            <a:off x="822960" y="2057400"/>
            <a:ext cx="548640" cy="548640"/>
          </a:xfrm>
          <a:prstGeom prst="ellipse">
            <a:avLst/>
          </a:prstGeom>
          <a:solidFill>
            <a:schemeClr val="accent1"/>
          </a:solidFill>
          <a:ln w="12700">
            <a:solidFill>
              <a:schemeClr val="accent1"/>
            </a:solidFill>
            <a:prstDash val="solid"/>
          </a:ln>
        </p:spPr>
      </p:sp>
      <p:pic>
        <p:nvPicPr>
          <p:cNvPr id="6" name="icon-78" descr="preencoded.png">    </p:cNvPr>
          <p:cNvPicPr>
            <a:picLocks noChangeAspect="1"/>
          </p:cNvPicPr>
          <p:nvPr/>
        </p:nvPicPr>
        <p:blipFill>
          <a:blip r:embed="rId1"/>
          <a:stretch>
            <a:fillRect/>
          </a:stretch>
        </p:blipFill>
        <p:spPr>
          <a:xfrm>
            <a:off x="954634" y="2189074"/>
            <a:ext cx="285293" cy="285293"/>
          </a:xfrm>
          <a:prstGeom prst="rect">
            <a:avLst/>
          </a:prstGeom>
        </p:spPr>
      </p:pic>
      <p:sp>
        <p:nvSpPr>
          <p:cNvPr id="7" name="text-79"/>
          <p:cNvSpPr txBox="1"/>
          <p:nvPr/>
        </p:nvSpPr>
        <p:spPr>
          <a:xfrm>
            <a:off x="155448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Cold email system</a:t>
            </a:r>
            <a:endParaRPr lang="en-US" sz="1700" dirty="0"/>
          </a:p>
        </p:txBody>
      </p:sp>
      <p:sp>
        <p:nvSpPr>
          <p:cNvPr id="8" name="text-80"/>
          <p:cNvSpPr txBox="1"/>
          <p:nvPr/>
        </p:nvSpPr>
        <p:spPr>
          <a:xfrm>
            <a:off x="822960" y="2743200"/>
            <a:ext cx="3017520" cy="1005840"/>
          </a:xfrm>
          <a:prstGeom prst="rect">
            <a:avLst/>
          </a:prstGeom>
          <a:noFill/>
          <a:ln/>
        </p:spPr>
        <p:txBody>
          <a:bodyPr wrap="square" lIns="0" tIns="0" rIns="0" bIns="0" rtlCol="0" anchor="t"/>
          <a:lstStyle/>
          <a:p>
            <a:pPr indent="0" marL="0">
              <a:buNone/>
            </a:pPr>
            <a:r>
              <a:rPr lang="en-US" sz="1350" dirty="0">
                <a:solidFill>
                  <a:schemeClr val="tx2"/>
                </a:solidFill>
              </a:rPr>
              <a:t>2 agents, 16 skills and an automatic checker. Every draft is scored 0–100 by an independent critic and ships only at 85+.</a:t>
            </a:r>
            <a:endParaRPr lang="en-US" sz="1350" dirty="0"/>
          </a:p>
        </p:txBody>
      </p:sp>
      <p:sp>
        <p:nvSpPr>
          <p:cNvPr id="9" name="card-81"/>
          <p:cNvSpPr/>
          <p:nvPr/>
        </p:nvSpPr>
        <p:spPr>
          <a:xfrm>
            <a:off x="4297680" y="1783080"/>
            <a:ext cx="3520440" cy="2057400"/>
          </a:xfrm>
          <a:prstGeom prst="roundRect">
            <a:avLst>
              <a:gd name="adj" fmla="val 3556"/>
            </a:avLst>
          </a:prstGeom>
          <a:solidFill>
            <a:schemeClr val="bg2"/>
          </a:solidFill>
          <a:ln w="12700">
            <a:solidFill>
              <a:schemeClr val="bg2"/>
            </a:solidFill>
            <a:prstDash val="solid"/>
          </a:ln>
        </p:spPr>
      </p:sp>
      <p:sp>
        <p:nvSpPr>
          <p:cNvPr id="10" name="icon-bg-82"/>
          <p:cNvSpPr/>
          <p:nvPr/>
        </p:nvSpPr>
        <p:spPr>
          <a:xfrm>
            <a:off x="4572000" y="2057400"/>
            <a:ext cx="548640" cy="548640"/>
          </a:xfrm>
          <a:prstGeom prst="ellipse">
            <a:avLst/>
          </a:prstGeom>
          <a:solidFill>
            <a:schemeClr val="accent1"/>
          </a:solidFill>
          <a:ln w="12700">
            <a:solidFill>
              <a:schemeClr val="accent1"/>
            </a:solidFill>
            <a:prstDash val="solid"/>
          </a:ln>
        </p:spPr>
      </p:sp>
      <p:pic>
        <p:nvPicPr>
          <p:cNvPr id="11" name="icon-83" descr="preencoded.png">    </p:cNvPr>
          <p:cNvPicPr>
            <a:picLocks noChangeAspect="1"/>
          </p:cNvPicPr>
          <p:nvPr/>
        </p:nvPicPr>
        <p:blipFill>
          <a:blip r:embed="rId2"/>
          <a:stretch>
            <a:fillRect/>
          </a:stretch>
        </p:blipFill>
        <p:spPr>
          <a:xfrm>
            <a:off x="4703674" y="2189074"/>
            <a:ext cx="285293" cy="285293"/>
          </a:xfrm>
          <a:prstGeom prst="rect">
            <a:avLst/>
          </a:prstGeom>
        </p:spPr>
      </p:pic>
      <p:sp>
        <p:nvSpPr>
          <p:cNvPr id="12" name="text-84"/>
          <p:cNvSpPr txBox="1"/>
          <p:nvPr/>
        </p:nvSpPr>
        <p:spPr>
          <a:xfrm>
            <a:off x="530352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LinkedIn engine</a:t>
            </a:r>
            <a:endParaRPr lang="en-US" sz="1700" dirty="0"/>
          </a:p>
        </p:txBody>
      </p:sp>
      <p:sp>
        <p:nvSpPr>
          <p:cNvPr id="13" name="text-85"/>
          <p:cNvSpPr txBox="1"/>
          <p:nvPr/>
        </p:nvSpPr>
        <p:spPr>
          <a:xfrm>
            <a:off x="4572000" y="2743200"/>
            <a:ext cx="3017520" cy="1005840"/>
          </a:xfrm>
          <a:prstGeom prst="rect">
            <a:avLst/>
          </a:prstGeom>
          <a:noFill/>
          <a:ln/>
        </p:spPr>
        <p:txBody>
          <a:bodyPr wrap="square" lIns="0" tIns="0" rIns="0" bIns="0" rtlCol="0" anchor="t"/>
          <a:lstStyle/>
          <a:p>
            <a:pPr indent="0" marL="0">
              <a:buNone/>
            </a:pPr>
            <a:r>
              <a:rPr lang="en-US" sz="1350" dirty="0">
                <a:solidFill>
                  <a:schemeClr val="tx2"/>
                </a:solidFill>
              </a:rPr>
              <a:t>An agent reads buyers’ posts and drafts comments. Linked Helper sends requests at a human pace from a UK server.</a:t>
            </a:r>
            <a:endParaRPr lang="en-US" sz="1350" dirty="0"/>
          </a:p>
        </p:txBody>
      </p:sp>
      <p:sp>
        <p:nvSpPr>
          <p:cNvPr id="14" name="card-86"/>
          <p:cNvSpPr/>
          <p:nvPr/>
        </p:nvSpPr>
        <p:spPr>
          <a:xfrm>
            <a:off x="8046720" y="1783080"/>
            <a:ext cx="3520440" cy="2057400"/>
          </a:xfrm>
          <a:prstGeom prst="roundRect">
            <a:avLst>
              <a:gd name="adj" fmla="val 3556"/>
            </a:avLst>
          </a:prstGeom>
          <a:solidFill>
            <a:schemeClr val="bg2"/>
          </a:solidFill>
          <a:ln w="12700">
            <a:solidFill>
              <a:schemeClr val="bg2"/>
            </a:solidFill>
            <a:prstDash val="solid"/>
          </a:ln>
        </p:spPr>
      </p:sp>
      <p:sp>
        <p:nvSpPr>
          <p:cNvPr id="15" name="icon-bg-87"/>
          <p:cNvSpPr/>
          <p:nvPr/>
        </p:nvSpPr>
        <p:spPr>
          <a:xfrm>
            <a:off x="8321040" y="2057400"/>
            <a:ext cx="548640" cy="548640"/>
          </a:xfrm>
          <a:prstGeom prst="ellipse">
            <a:avLst/>
          </a:prstGeom>
          <a:solidFill>
            <a:schemeClr val="accent1"/>
          </a:solidFill>
          <a:ln w="12700">
            <a:solidFill>
              <a:schemeClr val="accent1"/>
            </a:solidFill>
            <a:prstDash val="solid"/>
          </a:ln>
        </p:spPr>
      </p:sp>
      <p:pic>
        <p:nvPicPr>
          <p:cNvPr id="16" name="icon-88" descr="preencoded.png">    </p:cNvPr>
          <p:cNvPicPr>
            <a:picLocks noChangeAspect="1"/>
          </p:cNvPicPr>
          <p:nvPr/>
        </p:nvPicPr>
        <p:blipFill>
          <a:blip r:embed="rId3"/>
          <a:stretch>
            <a:fillRect/>
          </a:stretch>
        </p:blipFill>
        <p:spPr>
          <a:xfrm>
            <a:off x="8452714" y="2189074"/>
            <a:ext cx="285293" cy="285293"/>
          </a:xfrm>
          <a:prstGeom prst="rect">
            <a:avLst/>
          </a:prstGeom>
        </p:spPr>
      </p:pic>
      <p:sp>
        <p:nvSpPr>
          <p:cNvPr id="17" name="text-89"/>
          <p:cNvSpPr txBox="1"/>
          <p:nvPr/>
        </p:nvSpPr>
        <p:spPr>
          <a:xfrm>
            <a:off x="905256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Lead scoring</a:t>
            </a:r>
            <a:endParaRPr lang="en-US" sz="1700" dirty="0"/>
          </a:p>
        </p:txBody>
      </p:sp>
      <p:sp>
        <p:nvSpPr>
          <p:cNvPr id="18" name="text-90"/>
          <p:cNvSpPr txBox="1"/>
          <p:nvPr/>
        </p:nvSpPr>
        <p:spPr>
          <a:xfrm>
            <a:off x="8321040" y="2743200"/>
            <a:ext cx="3017520" cy="1005840"/>
          </a:xfrm>
          <a:prstGeom prst="rect">
            <a:avLst/>
          </a:prstGeom>
          <a:noFill/>
          <a:ln/>
        </p:spPr>
        <p:txBody>
          <a:bodyPr wrap="square" lIns="0" tIns="0" rIns="0" bIns="0" rtlCol="0" anchor="t"/>
          <a:lstStyle/>
          <a:p>
            <a:pPr indent="0" marL="0">
              <a:buNone/>
            </a:pPr>
            <a:r>
              <a:rPr lang="en-US" sz="1350" dirty="0">
                <a:solidFill>
                  <a:schemeClr val="tx2"/>
                </a:solidFill>
              </a:rPr>
              <a:t>A decisions model triages leads and replies for about 1.8 cents per thousand decisions, so people spend time on the few that matter.</a:t>
            </a:r>
            <a:endParaRPr lang="en-US" sz="1350" dirty="0"/>
          </a:p>
        </p:txBody>
      </p:sp>
      <p:sp>
        <p:nvSpPr>
          <p:cNvPr id="19" name="card-91"/>
          <p:cNvSpPr/>
          <p:nvPr/>
        </p:nvSpPr>
        <p:spPr>
          <a:xfrm>
            <a:off x="548640" y="4023360"/>
            <a:ext cx="3520440" cy="2057400"/>
          </a:xfrm>
          <a:prstGeom prst="roundRect">
            <a:avLst>
              <a:gd name="adj" fmla="val 3556"/>
            </a:avLst>
          </a:prstGeom>
          <a:solidFill>
            <a:schemeClr val="bg2"/>
          </a:solidFill>
          <a:ln w="12700">
            <a:solidFill>
              <a:schemeClr val="bg2"/>
            </a:solidFill>
            <a:prstDash val="solid"/>
          </a:ln>
        </p:spPr>
      </p:sp>
      <p:sp>
        <p:nvSpPr>
          <p:cNvPr id="20" name="icon-bg-92"/>
          <p:cNvSpPr/>
          <p:nvPr/>
        </p:nvSpPr>
        <p:spPr>
          <a:xfrm>
            <a:off x="822960" y="4297680"/>
            <a:ext cx="548640" cy="548640"/>
          </a:xfrm>
          <a:prstGeom prst="ellipse">
            <a:avLst/>
          </a:prstGeom>
          <a:solidFill>
            <a:schemeClr val="accent1"/>
          </a:solidFill>
          <a:ln w="12700">
            <a:solidFill>
              <a:schemeClr val="accent1"/>
            </a:solidFill>
            <a:prstDash val="solid"/>
          </a:ln>
        </p:spPr>
      </p:sp>
      <p:pic>
        <p:nvPicPr>
          <p:cNvPr id="21" name="icon-93" descr="preencoded.png">    </p:cNvPr>
          <p:cNvPicPr>
            <a:picLocks noChangeAspect="1"/>
          </p:cNvPicPr>
          <p:nvPr/>
        </p:nvPicPr>
        <p:blipFill>
          <a:blip r:embed="rId4"/>
          <a:stretch>
            <a:fillRect/>
          </a:stretch>
        </p:blipFill>
        <p:spPr>
          <a:xfrm>
            <a:off x="954634" y="4429354"/>
            <a:ext cx="285293" cy="285293"/>
          </a:xfrm>
          <a:prstGeom prst="rect">
            <a:avLst/>
          </a:prstGeom>
        </p:spPr>
      </p:pic>
      <p:sp>
        <p:nvSpPr>
          <p:cNvPr id="22" name="text-94"/>
          <p:cNvSpPr txBox="1"/>
          <p:nvPr/>
        </p:nvSpPr>
        <p:spPr>
          <a:xfrm>
            <a:off x="1554480" y="437083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Content and creative</a:t>
            </a:r>
            <a:endParaRPr lang="en-US" sz="1700" dirty="0"/>
          </a:p>
        </p:txBody>
      </p:sp>
      <p:sp>
        <p:nvSpPr>
          <p:cNvPr id="23" name="text-95"/>
          <p:cNvSpPr txBox="1"/>
          <p:nvPr/>
        </p:nvSpPr>
        <p:spPr>
          <a:xfrm>
            <a:off x="822960" y="4983480"/>
            <a:ext cx="3017520" cy="1005840"/>
          </a:xfrm>
          <a:prstGeom prst="rect">
            <a:avLst/>
          </a:prstGeom>
          <a:noFill/>
          <a:ln/>
        </p:spPr>
        <p:txBody>
          <a:bodyPr wrap="square" lIns="0" tIns="0" rIns="0" bIns="0" rtlCol="0" anchor="t"/>
          <a:lstStyle/>
          <a:p>
            <a:pPr indent="0" marL="0">
              <a:buNone/>
            </a:pPr>
            <a:r>
              <a:rPr lang="en-US" sz="1350" dirty="0">
                <a:solidFill>
                  <a:schemeClr val="tx2"/>
                </a:solidFill>
              </a:rPr>
              <a:t>Articles (Bloggerly), visuals and video ads (Higgsfield), webinar clips (OpusClip), all from one raw note.</a:t>
            </a:r>
            <a:endParaRPr lang="en-US" sz="1350" dirty="0"/>
          </a:p>
        </p:txBody>
      </p:sp>
      <p:sp>
        <p:nvSpPr>
          <p:cNvPr id="24" name="card-96"/>
          <p:cNvSpPr/>
          <p:nvPr/>
        </p:nvSpPr>
        <p:spPr>
          <a:xfrm>
            <a:off x="4297680" y="4023360"/>
            <a:ext cx="3520440" cy="2057400"/>
          </a:xfrm>
          <a:prstGeom prst="roundRect">
            <a:avLst>
              <a:gd name="adj" fmla="val 3556"/>
            </a:avLst>
          </a:prstGeom>
          <a:solidFill>
            <a:schemeClr val="bg2"/>
          </a:solidFill>
          <a:ln w="12700">
            <a:solidFill>
              <a:schemeClr val="bg2"/>
            </a:solidFill>
            <a:prstDash val="solid"/>
          </a:ln>
        </p:spPr>
      </p:sp>
      <p:sp>
        <p:nvSpPr>
          <p:cNvPr id="25" name="icon-bg-97"/>
          <p:cNvSpPr/>
          <p:nvPr/>
        </p:nvSpPr>
        <p:spPr>
          <a:xfrm>
            <a:off x="4572000" y="4297680"/>
            <a:ext cx="548640" cy="548640"/>
          </a:xfrm>
          <a:prstGeom prst="ellipse">
            <a:avLst/>
          </a:prstGeom>
          <a:solidFill>
            <a:schemeClr val="accent1"/>
          </a:solidFill>
          <a:ln w="12700">
            <a:solidFill>
              <a:schemeClr val="accent1"/>
            </a:solidFill>
            <a:prstDash val="solid"/>
          </a:ln>
        </p:spPr>
      </p:sp>
      <p:pic>
        <p:nvPicPr>
          <p:cNvPr id="26" name="icon-98" descr="preencoded.png">    </p:cNvPr>
          <p:cNvPicPr>
            <a:picLocks noChangeAspect="1"/>
          </p:cNvPicPr>
          <p:nvPr/>
        </p:nvPicPr>
        <p:blipFill>
          <a:blip r:embed="rId5"/>
          <a:stretch>
            <a:fillRect/>
          </a:stretch>
        </p:blipFill>
        <p:spPr>
          <a:xfrm>
            <a:off x="4703674" y="4429354"/>
            <a:ext cx="285293" cy="285293"/>
          </a:xfrm>
          <a:prstGeom prst="rect">
            <a:avLst/>
          </a:prstGeom>
        </p:spPr>
      </p:pic>
      <p:sp>
        <p:nvSpPr>
          <p:cNvPr id="27" name="text-99"/>
          <p:cNvSpPr txBox="1"/>
          <p:nvPr/>
        </p:nvSpPr>
        <p:spPr>
          <a:xfrm>
            <a:off x="5303520" y="437083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Live dashboards</a:t>
            </a:r>
            <a:endParaRPr lang="en-US" sz="1700" dirty="0"/>
          </a:p>
        </p:txBody>
      </p:sp>
      <p:sp>
        <p:nvSpPr>
          <p:cNvPr id="28" name="text-100"/>
          <p:cNvSpPr txBox="1"/>
          <p:nvPr/>
        </p:nvSpPr>
        <p:spPr>
          <a:xfrm>
            <a:off x="4572000" y="4983480"/>
            <a:ext cx="3017520" cy="1005840"/>
          </a:xfrm>
          <a:prstGeom prst="rect">
            <a:avLst/>
          </a:prstGeom>
          <a:noFill/>
          <a:ln/>
        </p:spPr>
        <p:txBody>
          <a:bodyPr wrap="square" lIns="0" tIns="0" rIns="0" bIns="0" rtlCol="0" anchor="t"/>
          <a:lstStyle/>
          <a:p>
            <a:pPr indent="0" marL="0">
              <a:buNone/>
            </a:pPr>
            <a:r>
              <a:rPr lang="en-US" sz="1350" dirty="0">
                <a:solidFill>
                  <a:schemeClr val="tx2"/>
                </a:solidFill>
              </a:rPr>
              <a:t>Followers, reactions, replies and calls tracked from day one, so every lead traces back to its source.</a:t>
            </a:r>
            <a:endParaRPr lang="en-US" sz="1350" dirty="0"/>
          </a:p>
        </p:txBody>
      </p:sp>
      <p:sp>
        <p:nvSpPr>
          <p:cNvPr id="29" name="card-101"/>
          <p:cNvSpPr/>
          <p:nvPr/>
        </p:nvSpPr>
        <p:spPr>
          <a:xfrm>
            <a:off x="8046720" y="4023360"/>
            <a:ext cx="3520440" cy="2057400"/>
          </a:xfrm>
          <a:prstGeom prst="roundRect">
            <a:avLst>
              <a:gd name="adj" fmla="val 3556"/>
            </a:avLst>
          </a:prstGeom>
          <a:solidFill>
            <a:schemeClr val="bg2"/>
          </a:solidFill>
          <a:ln w="12700">
            <a:solidFill>
              <a:schemeClr val="bg2"/>
            </a:solidFill>
            <a:prstDash val="solid"/>
          </a:ln>
        </p:spPr>
      </p:sp>
      <p:sp>
        <p:nvSpPr>
          <p:cNvPr id="30" name="icon-bg-102"/>
          <p:cNvSpPr/>
          <p:nvPr/>
        </p:nvSpPr>
        <p:spPr>
          <a:xfrm>
            <a:off x="8321040" y="4297680"/>
            <a:ext cx="548640" cy="548640"/>
          </a:xfrm>
          <a:prstGeom prst="ellipse">
            <a:avLst/>
          </a:prstGeom>
          <a:solidFill>
            <a:schemeClr val="accent1"/>
          </a:solidFill>
          <a:ln w="12700">
            <a:solidFill>
              <a:schemeClr val="accent1"/>
            </a:solidFill>
            <a:prstDash val="solid"/>
          </a:ln>
        </p:spPr>
      </p:sp>
      <p:pic>
        <p:nvPicPr>
          <p:cNvPr id="31" name="icon-103" descr="preencoded.png">    </p:cNvPr>
          <p:cNvPicPr>
            <a:picLocks noChangeAspect="1"/>
          </p:cNvPicPr>
          <p:nvPr/>
        </p:nvPicPr>
        <p:blipFill>
          <a:blip r:embed="rId6"/>
          <a:stretch>
            <a:fillRect/>
          </a:stretch>
        </p:blipFill>
        <p:spPr>
          <a:xfrm>
            <a:off x="8452714" y="4429354"/>
            <a:ext cx="285293" cy="285293"/>
          </a:xfrm>
          <a:prstGeom prst="rect">
            <a:avLst/>
          </a:prstGeom>
        </p:spPr>
      </p:pic>
      <p:sp>
        <p:nvSpPr>
          <p:cNvPr id="32" name="text-104"/>
          <p:cNvSpPr txBox="1"/>
          <p:nvPr/>
        </p:nvSpPr>
        <p:spPr>
          <a:xfrm>
            <a:off x="9052560" y="437083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Trigger research</a:t>
            </a:r>
            <a:endParaRPr lang="en-US" sz="1700" dirty="0"/>
          </a:p>
        </p:txBody>
      </p:sp>
      <p:sp>
        <p:nvSpPr>
          <p:cNvPr id="33" name="text-105"/>
          <p:cNvSpPr txBox="1"/>
          <p:nvPr/>
        </p:nvSpPr>
        <p:spPr>
          <a:xfrm>
            <a:off x="8321040" y="4983480"/>
            <a:ext cx="3017520" cy="1005840"/>
          </a:xfrm>
          <a:prstGeom prst="rect">
            <a:avLst/>
          </a:prstGeom>
          <a:noFill/>
          <a:ln/>
        </p:spPr>
        <p:txBody>
          <a:bodyPr wrap="square" lIns="0" tIns="0" rIns="0" bIns="0" rtlCol="0" anchor="t"/>
          <a:lstStyle/>
          <a:p>
            <a:pPr indent="0" marL="0">
              <a:buNone/>
            </a:pPr>
            <a:r>
              <a:rPr lang="en-US" sz="1350" dirty="0">
                <a:solidFill>
                  <a:schemeClr val="tx2"/>
                </a:solidFill>
              </a:rPr>
              <a:t>New-in-role leaders, hiring signals, M&amp;A, tenders and regulation turned into a reason to reach out this month.</a:t>
            </a:r>
            <a:endParaRPr lang="en-US" sz="135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What we learned the hard way</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Mistakes we made on our own accounts, so clients don’t pay for them.</a:t>
            </a:r>
            <a:endParaRPr lang="en-US" sz="1600" dirty="0"/>
          </a:p>
        </p:txBody>
      </p:sp>
      <p:sp>
        <p:nvSpPr>
          <p:cNvPr id="4" name="icon-bg-106"/>
          <p:cNvSpPr/>
          <p:nvPr/>
        </p:nvSpPr>
        <p:spPr>
          <a:xfrm>
            <a:off x="548640" y="1783080"/>
            <a:ext cx="640080" cy="640080"/>
          </a:xfrm>
          <a:prstGeom prst="ellipse">
            <a:avLst/>
          </a:prstGeom>
          <a:solidFill>
            <a:schemeClr val="accent1"/>
          </a:solidFill>
          <a:ln w="12700">
            <a:solidFill>
              <a:schemeClr val="accent1"/>
            </a:solidFill>
            <a:prstDash val="solid"/>
          </a:ln>
        </p:spPr>
      </p:sp>
      <p:pic>
        <p:nvPicPr>
          <p:cNvPr id="5" name="icon-107" descr="preencoded.png">    </p:cNvPr>
          <p:cNvPicPr>
            <a:picLocks noChangeAspect="1"/>
          </p:cNvPicPr>
          <p:nvPr/>
        </p:nvPicPr>
        <p:blipFill>
          <a:blip r:embed="rId1"/>
          <a:stretch>
            <a:fillRect/>
          </a:stretch>
        </p:blipFill>
        <p:spPr>
          <a:xfrm>
            <a:off x="702259" y="1936699"/>
            <a:ext cx="332842" cy="332842"/>
          </a:xfrm>
          <a:prstGeom prst="rect">
            <a:avLst/>
          </a:prstGeom>
        </p:spPr>
      </p:pic>
      <p:sp>
        <p:nvSpPr>
          <p:cNvPr id="6" name="text-108"/>
          <p:cNvSpPr txBox="1"/>
          <p:nvPr/>
        </p:nvSpPr>
        <p:spPr>
          <a:xfrm>
            <a:off x="548640" y="2606040"/>
            <a:ext cx="352044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We moved too fast</a:t>
            </a:r>
            <a:endParaRPr lang="en-US" sz="1900" dirty="0"/>
          </a:p>
        </p:txBody>
      </p:sp>
      <p:sp>
        <p:nvSpPr>
          <p:cNvPr id="7" name="text-109"/>
          <p:cNvSpPr txBox="1"/>
          <p:nvPr/>
        </p:nvSpPr>
        <p:spPr>
          <a:xfrm>
            <a:off x="548640" y="3108960"/>
            <a:ext cx="3520440" cy="1097280"/>
          </a:xfrm>
          <a:prstGeom prst="rect">
            <a:avLst/>
          </a:prstGeom>
          <a:noFill/>
          <a:ln/>
        </p:spPr>
        <p:txBody>
          <a:bodyPr wrap="square" lIns="0" tIns="0" rIns="0" bIns="0" rtlCol="0" anchor="t"/>
          <a:lstStyle/>
          <a:p>
            <a:pPr indent="0" marL="0">
              <a:buNone/>
            </a:pPr>
            <a:r>
              <a:rPr lang="en-US" sz="1400" dirty="0">
                <a:solidFill>
                  <a:schemeClr val="tx2"/>
                </a:solidFill>
              </a:rPr>
              <a:t>Early on we sent too many connection requests in a few days, and an account was restricted for a day.</a:t>
            </a:r>
            <a:endParaRPr lang="en-US" sz="1400" dirty="0"/>
          </a:p>
        </p:txBody>
      </p:sp>
      <p:sp>
        <p:nvSpPr>
          <p:cNvPr id="8" name="card-110"/>
          <p:cNvSpPr/>
          <p:nvPr/>
        </p:nvSpPr>
        <p:spPr>
          <a:xfrm>
            <a:off x="548640" y="4343400"/>
            <a:ext cx="3520440" cy="1463040"/>
          </a:xfrm>
          <a:prstGeom prst="roundRect">
            <a:avLst>
              <a:gd name="adj" fmla="val 5000"/>
            </a:avLst>
          </a:prstGeom>
          <a:solidFill>
            <a:schemeClr val="bg2"/>
          </a:solidFill>
          <a:ln w="12700">
            <a:solidFill>
              <a:schemeClr val="bg2"/>
            </a:solidFill>
            <a:prstDash val="solid"/>
          </a:ln>
        </p:spPr>
      </p:sp>
      <p:sp>
        <p:nvSpPr>
          <p:cNvPr id="9" name="text-111"/>
          <p:cNvSpPr txBox="1"/>
          <p:nvPr/>
        </p:nvSpPr>
        <p:spPr>
          <a:xfrm>
            <a:off x="777240" y="4526280"/>
            <a:ext cx="3063240" cy="1188720"/>
          </a:xfrm>
          <a:prstGeom prst="rect">
            <a:avLst/>
          </a:prstGeom>
          <a:noFill/>
          <a:ln/>
        </p:spPr>
        <p:txBody>
          <a:bodyPr wrap="square" lIns="0" tIns="0" rIns="0" bIns="0" rtlCol="0" anchor="t"/>
          <a:lstStyle/>
          <a:p>
            <a:pPr indent="0" marL="0">
              <a:buNone/>
            </a:pPr>
            <a:r>
              <a:rPr lang="en-US" sz="1400" dirty="0">
                <a:solidFill>
                  <a:schemeClr val="tx1"/>
                </a:solidFill>
              </a:rPr>
              <a:t>Now: every account starts at 5 requests a day and climbs to 20 by week six, from a UK address, well under LinkedIn’s limits.</a:t>
            </a:r>
            <a:endParaRPr lang="en-US" sz="1400" dirty="0"/>
          </a:p>
        </p:txBody>
      </p:sp>
      <p:sp>
        <p:nvSpPr>
          <p:cNvPr id="10" name="icon-bg-112"/>
          <p:cNvSpPr/>
          <p:nvPr/>
        </p:nvSpPr>
        <p:spPr>
          <a:xfrm>
            <a:off x="4297680" y="1783080"/>
            <a:ext cx="640080" cy="640080"/>
          </a:xfrm>
          <a:prstGeom prst="ellipse">
            <a:avLst/>
          </a:prstGeom>
          <a:solidFill>
            <a:schemeClr val="accent1"/>
          </a:solidFill>
          <a:ln w="12700">
            <a:solidFill>
              <a:schemeClr val="accent1"/>
            </a:solidFill>
            <a:prstDash val="solid"/>
          </a:ln>
        </p:spPr>
      </p:sp>
      <p:pic>
        <p:nvPicPr>
          <p:cNvPr id="11" name="icon-113" descr="preencoded.png">    </p:cNvPr>
          <p:cNvPicPr>
            <a:picLocks noChangeAspect="1"/>
          </p:cNvPicPr>
          <p:nvPr/>
        </p:nvPicPr>
        <p:blipFill>
          <a:blip r:embed="rId2"/>
          <a:stretch>
            <a:fillRect/>
          </a:stretch>
        </p:blipFill>
        <p:spPr>
          <a:xfrm>
            <a:off x="4451299" y="1936699"/>
            <a:ext cx="332842" cy="332842"/>
          </a:xfrm>
          <a:prstGeom prst="rect">
            <a:avLst/>
          </a:prstGeom>
        </p:spPr>
      </p:pic>
      <p:sp>
        <p:nvSpPr>
          <p:cNvPr id="12" name="text-114"/>
          <p:cNvSpPr txBox="1"/>
          <p:nvPr/>
        </p:nvSpPr>
        <p:spPr>
          <a:xfrm>
            <a:off x="4297680" y="2606040"/>
            <a:ext cx="352044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isn’t pipeline</a:t>
            </a:r>
            <a:endParaRPr lang="en-US" sz="1900" dirty="0"/>
          </a:p>
        </p:txBody>
      </p:sp>
      <p:sp>
        <p:nvSpPr>
          <p:cNvPr id="13" name="text-115"/>
          <p:cNvSpPr txBox="1"/>
          <p:nvPr/>
        </p:nvSpPr>
        <p:spPr>
          <a:xfrm>
            <a:off x="4297680" y="3108960"/>
            <a:ext cx="3520440" cy="1097280"/>
          </a:xfrm>
          <a:prstGeom prst="rect">
            <a:avLst/>
          </a:prstGeom>
          <a:noFill/>
          <a:ln/>
        </p:spPr>
        <p:txBody>
          <a:bodyPr wrap="square" lIns="0" tIns="0" rIns="0" bIns="0" rtlCol="0" anchor="t"/>
          <a:lstStyle/>
          <a:p>
            <a:pPr indent="0" marL="0">
              <a:buNone/>
            </a:pPr>
            <a:r>
              <a:rPr lang="en-US" sz="1400" dirty="0">
                <a:solidFill>
                  <a:schemeClr val="tx2"/>
                </a:solidFill>
              </a:rPr>
              <a:t>A job title alone doesn’t make someone a buyer. Messaging everyone burns the account and the brand.</a:t>
            </a:r>
            <a:endParaRPr lang="en-US" sz="1400" dirty="0"/>
          </a:p>
        </p:txBody>
      </p:sp>
      <p:sp>
        <p:nvSpPr>
          <p:cNvPr id="14" name="card-116"/>
          <p:cNvSpPr/>
          <p:nvPr/>
        </p:nvSpPr>
        <p:spPr>
          <a:xfrm>
            <a:off x="4297680" y="4343400"/>
            <a:ext cx="3520440" cy="1463040"/>
          </a:xfrm>
          <a:prstGeom prst="roundRect">
            <a:avLst>
              <a:gd name="adj" fmla="val 5000"/>
            </a:avLst>
          </a:prstGeom>
          <a:solidFill>
            <a:schemeClr val="bg2"/>
          </a:solidFill>
          <a:ln w="12700">
            <a:solidFill>
              <a:schemeClr val="bg2"/>
            </a:solidFill>
            <a:prstDash val="solid"/>
          </a:ln>
        </p:spPr>
      </p:sp>
      <p:sp>
        <p:nvSpPr>
          <p:cNvPr id="15" name="text-117"/>
          <p:cNvSpPr txBox="1"/>
          <p:nvPr/>
        </p:nvSpPr>
        <p:spPr>
          <a:xfrm>
            <a:off x="4526280" y="4526280"/>
            <a:ext cx="3063240" cy="1188720"/>
          </a:xfrm>
          <a:prstGeom prst="rect">
            <a:avLst/>
          </a:prstGeom>
          <a:noFill/>
          <a:ln/>
        </p:spPr>
        <p:txBody>
          <a:bodyPr wrap="square" lIns="0" tIns="0" rIns="0" bIns="0" rtlCol="0" anchor="t"/>
          <a:lstStyle/>
          <a:p>
            <a:pPr indent="0" marL="0">
              <a:buNone/>
            </a:pPr>
            <a:r>
              <a:rPr lang="en-US" sz="1400" dirty="0">
                <a:solidFill>
                  <a:schemeClr val="tx1"/>
                </a:solidFill>
              </a:rPr>
              <a:t>Now: one buying trigger earns a message, two make someone a priority. Nobody gets a note just for their title.</a:t>
            </a:r>
            <a:endParaRPr lang="en-US" sz="1400" dirty="0"/>
          </a:p>
        </p:txBody>
      </p:sp>
      <p:sp>
        <p:nvSpPr>
          <p:cNvPr id="16" name="icon-bg-118"/>
          <p:cNvSpPr/>
          <p:nvPr/>
        </p:nvSpPr>
        <p:spPr>
          <a:xfrm>
            <a:off x="8046720" y="1783080"/>
            <a:ext cx="640080" cy="640080"/>
          </a:xfrm>
          <a:prstGeom prst="ellipse">
            <a:avLst/>
          </a:prstGeom>
          <a:solidFill>
            <a:schemeClr val="accent1"/>
          </a:solidFill>
          <a:ln w="12700">
            <a:solidFill>
              <a:schemeClr val="accent1"/>
            </a:solidFill>
            <a:prstDash val="solid"/>
          </a:ln>
        </p:spPr>
      </p:sp>
      <p:pic>
        <p:nvPicPr>
          <p:cNvPr id="17" name="icon-119" descr="preencoded.png">    </p:cNvPr>
          <p:cNvPicPr>
            <a:picLocks noChangeAspect="1"/>
          </p:cNvPicPr>
          <p:nvPr/>
        </p:nvPicPr>
        <p:blipFill>
          <a:blip r:embed="rId3"/>
          <a:stretch>
            <a:fillRect/>
          </a:stretch>
        </p:blipFill>
        <p:spPr>
          <a:xfrm>
            <a:off x="8200339" y="1936699"/>
            <a:ext cx="332842" cy="332842"/>
          </a:xfrm>
          <a:prstGeom prst="rect">
            <a:avLst/>
          </a:prstGeom>
        </p:spPr>
      </p:pic>
      <p:sp>
        <p:nvSpPr>
          <p:cNvPr id="18" name="text-120"/>
          <p:cNvSpPr txBox="1"/>
          <p:nvPr/>
        </p:nvSpPr>
        <p:spPr>
          <a:xfrm>
            <a:off x="8046720" y="2606040"/>
            <a:ext cx="352044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AI slop kills trust</a:t>
            </a:r>
            <a:endParaRPr lang="en-US" sz="1900" dirty="0"/>
          </a:p>
        </p:txBody>
      </p:sp>
      <p:sp>
        <p:nvSpPr>
          <p:cNvPr id="19" name="text-121"/>
          <p:cNvSpPr txBox="1"/>
          <p:nvPr/>
        </p:nvSpPr>
        <p:spPr>
          <a:xfrm>
            <a:off x="8046720" y="3108960"/>
            <a:ext cx="3520440" cy="1097280"/>
          </a:xfrm>
          <a:prstGeom prst="rect">
            <a:avLst/>
          </a:prstGeom>
          <a:noFill/>
          <a:ln/>
        </p:spPr>
        <p:txBody>
          <a:bodyPr wrap="square" lIns="0" tIns="0" rIns="0" bIns="0" rtlCol="0" anchor="t"/>
          <a:lstStyle/>
          <a:p>
            <a:pPr indent="0" marL="0">
              <a:buNone/>
            </a:pPr>
            <a:r>
              <a:rPr lang="en-US" sz="1400" dirty="0">
                <a:solidFill>
                  <a:schemeClr val="tx2"/>
                </a:solidFill>
              </a:rPr>
              <a:t>Senior buyers can spot generic AI copy in a line, and one bad comment costs more than ten good ones earn.</a:t>
            </a:r>
            <a:endParaRPr lang="en-US" sz="1400" dirty="0"/>
          </a:p>
        </p:txBody>
      </p:sp>
      <p:sp>
        <p:nvSpPr>
          <p:cNvPr id="20" name="card-122"/>
          <p:cNvSpPr/>
          <p:nvPr/>
        </p:nvSpPr>
        <p:spPr>
          <a:xfrm>
            <a:off x="8046720" y="4343400"/>
            <a:ext cx="3520440" cy="1463040"/>
          </a:xfrm>
          <a:prstGeom prst="roundRect">
            <a:avLst>
              <a:gd name="adj" fmla="val 5000"/>
            </a:avLst>
          </a:prstGeom>
          <a:solidFill>
            <a:schemeClr val="bg2"/>
          </a:solidFill>
          <a:ln w="12700">
            <a:solidFill>
              <a:schemeClr val="bg2"/>
            </a:solidFill>
            <a:prstDash val="solid"/>
          </a:ln>
        </p:spPr>
      </p:sp>
      <p:sp>
        <p:nvSpPr>
          <p:cNvPr id="21" name="text-123"/>
          <p:cNvSpPr txBox="1"/>
          <p:nvPr/>
        </p:nvSpPr>
        <p:spPr>
          <a:xfrm>
            <a:off x="8275320" y="4526280"/>
            <a:ext cx="3063240" cy="1188720"/>
          </a:xfrm>
          <a:prstGeom prst="rect">
            <a:avLst/>
          </a:prstGeom>
          <a:noFill/>
          <a:ln/>
        </p:spPr>
        <p:txBody>
          <a:bodyPr wrap="square" lIns="0" tIns="0" rIns="0" bIns="0" rtlCol="0" anchor="t"/>
          <a:lstStyle/>
          <a:p>
            <a:pPr indent="0" marL="0">
              <a:buNone/>
            </a:pPr>
            <a:r>
              <a:rPr lang="en-US" sz="1400" dirty="0">
                <a:solidFill>
                  <a:schemeClr val="tx1"/>
                </a:solidFill>
              </a:rPr>
              <a:t>Now: every post, comment and message waits for a human yes. Every number has a source. Two proofreads before the client sees it.</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2743200" cy="1097280"/>
          </a:xfrm>
          <a:prstGeom prst="rect">
            <a:avLst/>
          </a:prstGeom>
          <a:noFill/>
          <a:ln/>
        </p:spPr>
        <p:txBody>
          <a:bodyPr wrap="square" lIns="0" tIns="0" rIns="0" bIns="0" rtlCol="0" anchor="t"/>
          <a:lstStyle/>
          <a:p>
            <a:pPr indent="0" marL="0">
              <a:buNone/>
            </a:pPr>
            <a:r>
              <a:rPr lang="en-US" sz="6000" b="1" dirty="0">
                <a:solidFill>
                  <a:schemeClr val="accent3"/>
                </a:solidFill>
                <a:latin typeface="Cambria" pitchFamily="34" charset="0"/>
                <a:ea typeface="Cambria" pitchFamily="34" charset="-122"/>
                <a:cs typeface="Cambria" pitchFamily="34" charset="-120"/>
              </a:rPr>
              <a:t>02</a:t>
            </a:r>
            <a:endParaRPr lang="en-US" sz="6000" dirty="0"/>
          </a:p>
        </p:txBody>
      </p:sp>
      <p:sp>
        <p:nvSpPr>
          <p:cNvPr id="3" name="Text 0"/>
          <p:cNvSpPr/>
          <p:nvPr>
            <p:ph idx="101" type="title" hasCustomPrompt="1"/>
          </p:nvPr>
        </p:nvSpPr>
        <p:spPr>
          <a:xfrm>
            <a:off x="731520" y="2880360"/>
            <a:ext cx="10698480" cy="1005840"/>
          </a:xfrm>
          <a:prstGeom prst="rect">
            <a:avLst/>
          </a:prstGeom>
          <a:noFill/>
          <a:ln/>
        </p:spPr>
        <p:txBody>
          <a:bodyPr wrap="square" lIns="0" tIns="0" rIns="0" bIns="0" rtlCol="0" anchor="t"/>
          <a:lstStyle/>
          <a:p>
            <a:pPr algn="l" indent="0" marL="0">
              <a:buNone/>
            </a:pPr>
            <a:r>
              <a:rPr lang="en-US" sz="4000" b="1" dirty="0">
                <a:solidFill>
                  <a:schemeClr val="bg2"/>
                </a:solidFill>
                <a:latin typeface="Cambria" pitchFamily="34" charset="0"/>
                <a:ea typeface="Cambria" pitchFamily="34" charset="-122"/>
                <a:cs typeface="Cambria" pitchFamily="34" charset="-120"/>
              </a:rPr>
              <a:t>What a client gets in a deal</a:t>
            </a:r>
            <a:endParaRPr lang="en-US" sz="4000" dirty="0"/>
          </a:p>
        </p:txBody>
      </p:sp>
      <p:sp>
        <p:nvSpPr>
          <p:cNvPr id="4" name="Text 0"/>
          <p:cNvSpPr/>
          <p:nvPr>
            <p:ph idx="102" type="body" hasCustomPrompt="1"/>
          </p:nvPr>
        </p:nvSpPr>
        <p:spPr>
          <a:xfrm>
            <a:off x="731520" y="397764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Each part: what it is, why we do it, what it produces, and how we run 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One raw note a week becomes everything else</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The client brings the expertise. We bring the leverage.</a:t>
            </a:r>
            <a:endParaRPr lang="en-US" sz="1600" dirty="0"/>
          </a:p>
        </p:txBody>
      </p:sp>
      <p:sp>
        <p:nvSpPr>
          <p:cNvPr id="4" name="card-124"/>
          <p:cNvSpPr/>
          <p:nvPr/>
        </p:nvSpPr>
        <p:spPr>
          <a:xfrm>
            <a:off x="548640" y="2011680"/>
            <a:ext cx="2651760" cy="3566160"/>
          </a:xfrm>
          <a:prstGeom prst="roundRect">
            <a:avLst>
              <a:gd name="adj" fmla="val 2759"/>
            </a:avLst>
          </a:prstGeom>
          <a:solidFill>
            <a:schemeClr val="tx2"/>
          </a:solidFill>
          <a:ln w="12700">
            <a:solidFill>
              <a:schemeClr val="tx2"/>
            </a:solidFill>
            <a:prstDash val="solid"/>
          </a:ln>
        </p:spPr>
      </p:sp>
      <p:sp>
        <p:nvSpPr>
          <p:cNvPr id="5" name="icon-bg-125"/>
          <p:cNvSpPr/>
          <p:nvPr/>
        </p:nvSpPr>
        <p:spPr>
          <a:xfrm>
            <a:off x="1508760" y="2331720"/>
            <a:ext cx="731520" cy="731520"/>
          </a:xfrm>
          <a:prstGeom prst="ellipse">
            <a:avLst/>
          </a:prstGeom>
          <a:solidFill>
            <a:schemeClr val="accent2"/>
          </a:solidFill>
          <a:ln w="12700">
            <a:solidFill>
              <a:schemeClr val="accent2"/>
            </a:solidFill>
            <a:prstDash val="solid"/>
          </a:ln>
        </p:spPr>
      </p:sp>
      <p:pic>
        <p:nvPicPr>
          <p:cNvPr id="6" name="icon-126" descr="preencoded.png">    </p:cNvPr>
          <p:cNvPicPr>
            <a:picLocks noChangeAspect="1"/>
          </p:cNvPicPr>
          <p:nvPr/>
        </p:nvPicPr>
        <p:blipFill>
          <a:blip r:embed="rId1"/>
          <a:stretch>
            <a:fillRect/>
          </a:stretch>
        </p:blipFill>
        <p:spPr>
          <a:xfrm>
            <a:off x="1684325" y="2507285"/>
            <a:ext cx="380390" cy="380390"/>
          </a:xfrm>
          <a:prstGeom prst="rect">
            <a:avLst/>
          </a:prstGeom>
        </p:spPr>
      </p:pic>
      <p:sp>
        <p:nvSpPr>
          <p:cNvPr id="7" name="text-127"/>
          <p:cNvSpPr txBox="1"/>
          <p:nvPr/>
        </p:nvSpPr>
        <p:spPr>
          <a:xfrm>
            <a:off x="777240" y="3246120"/>
            <a:ext cx="2194560" cy="457200"/>
          </a:xfrm>
          <a:prstGeom prst="rect">
            <a:avLst/>
          </a:prstGeom>
          <a:noFill/>
          <a:ln/>
        </p:spPr>
        <p:txBody>
          <a:bodyPr wrap="square" lIns="0" tIns="0" rIns="0" bIns="0" rtlCol="0" anchor="t"/>
          <a:lstStyle/>
          <a:p>
            <a:pPr algn="ctr" indent="0" marL="0">
              <a:buNone/>
            </a:pPr>
            <a:r>
              <a:rPr lang="en-US" sz="1800" b="1" dirty="0">
                <a:solidFill>
                  <a:schemeClr val="bg2"/>
                </a:solidFill>
                <a:latin typeface="Cambria" pitchFamily="34" charset="0"/>
                <a:ea typeface="Cambria" pitchFamily="34" charset="-122"/>
                <a:cs typeface="Cambria" pitchFamily="34" charset="-120"/>
              </a:rPr>
              <a:t>Client’s raw note</a:t>
            </a:r>
            <a:endParaRPr lang="en-US" sz="1800" dirty="0"/>
          </a:p>
        </p:txBody>
      </p:sp>
      <p:sp>
        <p:nvSpPr>
          <p:cNvPr id="8" name="text-128"/>
          <p:cNvSpPr txBox="1"/>
          <p:nvPr/>
        </p:nvSpPr>
        <p:spPr>
          <a:xfrm>
            <a:off x="777240" y="3749040"/>
            <a:ext cx="2194560" cy="1371600"/>
          </a:xfrm>
          <a:prstGeom prst="rect">
            <a:avLst/>
          </a:prstGeom>
          <a:noFill/>
          <a:ln/>
        </p:spPr>
        <p:txBody>
          <a:bodyPr wrap="square" lIns="0" tIns="0" rIns="0" bIns="0" rtlCol="0" anchor="t"/>
          <a:lstStyle/>
          <a:p>
            <a:pPr algn="ctr" indent="0" marL="0">
              <a:buNone/>
            </a:pPr>
            <a:r>
              <a:rPr lang="en-US" sz="1400" dirty="0">
                <a:solidFill>
                  <a:schemeClr val="accent4"/>
                </a:solidFill>
              </a:rPr>
              <a:t>A voice note or a few lines, about 30 minutes, once a week</a:t>
            </a:r>
            <a:endParaRPr lang="en-US" sz="1400" dirty="0"/>
          </a:p>
        </p:txBody>
      </p:sp>
      <p:sp>
        <p:nvSpPr>
          <p:cNvPr id="9" name="arrow-129"/>
          <p:cNvSpPr/>
          <p:nvPr/>
        </p:nvSpPr>
        <p:spPr>
          <a:xfrm>
            <a:off x="3337560" y="3520440"/>
            <a:ext cx="548640" cy="457200"/>
          </a:xfrm>
          <a:prstGeom prst="rightArrow">
            <a:avLst/>
          </a:prstGeom>
          <a:solidFill>
            <a:schemeClr val="accent2"/>
          </a:solidFill>
          <a:ln w="12700">
            <a:solidFill>
              <a:schemeClr val="accent2"/>
            </a:solidFill>
            <a:prstDash val="solid"/>
          </a:ln>
        </p:spPr>
      </p:sp>
      <p:sp>
        <p:nvSpPr>
          <p:cNvPr id="10" name="card-130"/>
          <p:cNvSpPr/>
          <p:nvPr/>
        </p:nvSpPr>
        <p:spPr>
          <a:xfrm>
            <a:off x="4023360" y="2011680"/>
            <a:ext cx="2651760" cy="3566160"/>
          </a:xfrm>
          <a:prstGeom prst="roundRect">
            <a:avLst>
              <a:gd name="adj" fmla="val 2759"/>
            </a:avLst>
          </a:prstGeom>
          <a:solidFill>
            <a:schemeClr val="bg2"/>
          </a:solidFill>
          <a:ln w="12700">
            <a:solidFill>
              <a:schemeClr val="bg2"/>
            </a:solidFill>
            <a:prstDash val="solid"/>
          </a:ln>
        </p:spPr>
      </p:sp>
      <p:sp>
        <p:nvSpPr>
          <p:cNvPr id="11" name="icon-bg-131"/>
          <p:cNvSpPr/>
          <p:nvPr/>
        </p:nvSpPr>
        <p:spPr>
          <a:xfrm>
            <a:off x="4983480" y="2331720"/>
            <a:ext cx="731520" cy="731520"/>
          </a:xfrm>
          <a:prstGeom prst="ellipse">
            <a:avLst/>
          </a:prstGeom>
          <a:solidFill>
            <a:schemeClr val="accent1"/>
          </a:solidFill>
          <a:ln w="12700">
            <a:solidFill>
              <a:schemeClr val="accent1"/>
            </a:solidFill>
            <a:prstDash val="solid"/>
          </a:ln>
        </p:spPr>
      </p:sp>
      <p:pic>
        <p:nvPicPr>
          <p:cNvPr id="12" name="icon-132" descr="preencoded.png">    </p:cNvPr>
          <p:cNvPicPr>
            <a:picLocks noChangeAspect="1"/>
          </p:cNvPicPr>
          <p:nvPr/>
        </p:nvPicPr>
        <p:blipFill>
          <a:blip r:embed="rId2"/>
          <a:stretch>
            <a:fillRect/>
          </a:stretch>
        </p:blipFill>
        <p:spPr>
          <a:xfrm>
            <a:off x="5159045" y="2507285"/>
            <a:ext cx="380390" cy="380390"/>
          </a:xfrm>
          <a:prstGeom prst="rect">
            <a:avLst/>
          </a:prstGeom>
        </p:spPr>
      </p:pic>
      <p:sp>
        <p:nvSpPr>
          <p:cNvPr id="13" name="text-133"/>
          <p:cNvSpPr txBox="1"/>
          <p:nvPr/>
        </p:nvSpPr>
        <p:spPr>
          <a:xfrm>
            <a:off x="4251960" y="3246120"/>
            <a:ext cx="2194560" cy="457200"/>
          </a:xfrm>
          <a:prstGeom prst="rect">
            <a:avLst/>
          </a:prstGeom>
          <a:noFill/>
          <a:ln/>
        </p:spPr>
        <p:txBody>
          <a:bodyPr wrap="square" lIns="0" tIns="0" rIns="0" bIns="0" rtlCol="0" anchor="t"/>
          <a:lstStyle/>
          <a:p>
            <a:pPr algn="ctr" indent="0" marL="0">
              <a:buNone/>
            </a:pPr>
            <a:r>
              <a:rPr lang="en-US" sz="1800" b="1" dirty="0">
                <a:solidFill>
                  <a:schemeClr val="tx1"/>
                </a:solidFill>
                <a:latin typeface="Cambria" pitchFamily="34" charset="0"/>
                <a:ea typeface="Cambria" pitchFamily="34" charset="-122"/>
                <a:cs typeface="Cambria" pitchFamily="34" charset="-120"/>
              </a:rPr>
              <a:t>Extol drafts</a:t>
            </a:r>
            <a:endParaRPr lang="en-US" sz="1800" dirty="0"/>
          </a:p>
        </p:txBody>
      </p:sp>
      <p:sp>
        <p:nvSpPr>
          <p:cNvPr id="14" name="text-134"/>
          <p:cNvSpPr txBox="1"/>
          <p:nvPr/>
        </p:nvSpPr>
        <p:spPr>
          <a:xfrm>
            <a:off x="4251960" y="3749040"/>
            <a:ext cx="2194560" cy="1371600"/>
          </a:xfrm>
          <a:prstGeom prst="rect">
            <a:avLst/>
          </a:prstGeom>
          <a:noFill/>
          <a:ln/>
        </p:spPr>
        <p:txBody>
          <a:bodyPr wrap="square" lIns="0" tIns="0" rIns="0" bIns="0" rtlCol="0" anchor="t"/>
          <a:lstStyle/>
          <a:p>
            <a:pPr algn="ctr" indent="0" marL="0">
              <a:buNone/>
            </a:pPr>
            <a:r>
              <a:rPr lang="en-US" sz="1400" dirty="0">
                <a:solidFill>
                  <a:schemeClr val="tx2"/>
                </a:solidFill>
              </a:rPr>
              <a:t>In the client’s voice, sources checked, proofread twice</a:t>
            </a:r>
            <a:endParaRPr lang="en-US" sz="1400" dirty="0"/>
          </a:p>
        </p:txBody>
      </p:sp>
      <p:sp>
        <p:nvSpPr>
          <p:cNvPr id="15" name="arrow-135"/>
          <p:cNvSpPr/>
          <p:nvPr/>
        </p:nvSpPr>
        <p:spPr>
          <a:xfrm>
            <a:off x="6812280" y="3520440"/>
            <a:ext cx="548640" cy="457200"/>
          </a:xfrm>
          <a:prstGeom prst="rightArrow">
            <a:avLst/>
          </a:prstGeom>
          <a:solidFill>
            <a:schemeClr val="accent2"/>
          </a:solidFill>
          <a:ln w="12700">
            <a:solidFill>
              <a:schemeClr val="accent2"/>
            </a:solidFill>
            <a:prstDash val="solid"/>
          </a:ln>
        </p:spPr>
      </p:sp>
      <p:sp>
        <p:nvSpPr>
          <p:cNvPr id="16" name="card-136"/>
          <p:cNvSpPr/>
          <p:nvPr/>
        </p:nvSpPr>
        <p:spPr>
          <a:xfrm>
            <a:off x="7498080" y="2011680"/>
            <a:ext cx="4114800" cy="512064"/>
          </a:xfrm>
          <a:prstGeom prst="roundRect">
            <a:avLst>
              <a:gd name="adj" fmla="val 14286"/>
            </a:avLst>
          </a:prstGeom>
          <a:solidFill>
            <a:schemeClr val="accent6"/>
          </a:solidFill>
          <a:ln w="12700">
            <a:solidFill>
              <a:schemeClr val="accent6"/>
            </a:solidFill>
            <a:prstDash val="solid"/>
          </a:ln>
        </p:spPr>
      </p:sp>
      <p:sp>
        <p:nvSpPr>
          <p:cNvPr id="17" name="text-137"/>
          <p:cNvSpPr txBox="1"/>
          <p:nvPr/>
        </p:nvSpPr>
        <p:spPr>
          <a:xfrm>
            <a:off x="7726680" y="2011680"/>
            <a:ext cx="3749040" cy="512064"/>
          </a:xfrm>
          <a:prstGeom prst="rect">
            <a:avLst/>
          </a:prstGeom>
          <a:noFill/>
          <a:ln/>
        </p:spPr>
        <p:txBody>
          <a:bodyPr wrap="square" lIns="0" tIns="0" rIns="0" bIns="0" rtlCol="0" anchor="ctr"/>
          <a:lstStyle/>
          <a:p>
            <a:pPr indent="0" marL="0">
              <a:buNone/>
            </a:pPr>
            <a:r>
              <a:rPr lang="en-US" sz="1400" dirty="0">
                <a:solidFill>
                  <a:schemeClr val="tx1"/>
                </a:solidFill>
              </a:rPr>
              <a:t>LinkedIn posts and company page</a:t>
            </a:r>
            <a:endParaRPr lang="en-US" sz="1400" dirty="0"/>
          </a:p>
        </p:txBody>
      </p:sp>
      <p:sp>
        <p:nvSpPr>
          <p:cNvPr id="18" name="card-138"/>
          <p:cNvSpPr/>
          <p:nvPr/>
        </p:nvSpPr>
        <p:spPr>
          <a:xfrm>
            <a:off x="7498080" y="2615184"/>
            <a:ext cx="4114800" cy="512064"/>
          </a:xfrm>
          <a:prstGeom prst="roundRect">
            <a:avLst>
              <a:gd name="adj" fmla="val 14286"/>
            </a:avLst>
          </a:prstGeom>
          <a:solidFill>
            <a:schemeClr val="bg2"/>
          </a:solidFill>
          <a:ln w="12700">
            <a:solidFill>
              <a:schemeClr val="bg2"/>
            </a:solidFill>
            <a:prstDash val="solid"/>
          </a:ln>
        </p:spPr>
      </p:sp>
      <p:sp>
        <p:nvSpPr>
          <p:cNvPr id="19" name="text-139"/>
          <p:cNvSpPr txBox="1"/>
          <p:nvPr/>
        </p:nvSpPr>
        <p:spPr>
          <a:xfrm>
            <a:off x="7726680" y="2615184"/>
            <a:ext cx="3749040" cy="512064"/>
          </a:xfrm>
          <a:prstGeom prst="rect">
            <a:avLst/>
          </a:prstGeom>
          <a:noFill/>
          <a:ln/>
        </p:spPr>
        <p:txBody>
          <a:bodyPr wrap="square" lIns="0" tIns="0" rIns="0" bIns="0" rtlCol="0" anchor="ctr"/>
          <a:lstStyle/>
          <a:p>
            <a:pPr indent="0" marL="0">
              <a:buNone/>
            </a:pPr>
            <a:r>
              <a:rPr lang="en-US" sz="1400" dirty="0">
                <a:solidFill>
                  <a:schemeClr val="tx1"/>
                </a:solidFill>
              </a:rPr>
              <a:t>Comments on buyers’ posts</a:t>
            </a:r>
            <a:endParaRPr lang="en-US" sz="1400" dirty="0"/>
          </a:p>
        </p:txBody>
      </p:sp>
      <p:sp>
        <p:nvSpPr>
          <p:cNvPr id="20" name="card-140"/>
          <p:cNvSpPr/>
          <p:nvPr/>
        </p:nvSpPr>
        <p:spPr>
          <a:xfrm>
            <a:off x="7498080" y="3218688"/>
            <a:ext cx="4114800" cy="512064"/>
          </a:xfrm>
          <a:prstGeom prst="roundRect">
            <a:avLst>
              <a:gd name="adj" fmla="val 14286"/>
            </a:avLst>
          </a:prstGeom>
          <a:solidFill>
            <a:schemeClr val="accent6"/>
          </a:solidFill>
          <a:ln w="12700">
            <a:solidFill>
              <a:schemeClr val="accent6"/>
            </a:solidFill>
            <a:prstDash val="solid"/>
          </a:ln>
        </p:spPr>
      </p:sp>
      <p:sp>
        <p:nvSpPr>
          <p:cNvPr id="21" name="text-141"/>
          <p:cNvSpPr txBox="1"/>
          <p:nvPr/>
        </p:nvSpPr>
        <p:spPr>
          <a:xfrm>
            <a:off x="7726680" y="3218688"/>
            <a:ext cx="3749040" cy="512064"/>
          </a:xfrm>
          <a:prstGeom prst="rect">
            <a:avLst/>
          </a:prstGeom>
          <a:noFill/>
          <a:ln/>
        </p:spPr>
        <p:txBody>
          <a:bodyPr wrap="square" lIns="0" tIns="0" rIns="0" bIns="0" rtlCol="0" anchor="ctr"/>
          <a:lstStyle/>
          <a:p>
            <a:pPr indent="0" marL="0">
              <a:buNone/>
            </a:pPr>
            <a:r>
              <a:rPr lang="en-US" sz="1400" dirty="0">
                <a:solidFill>
                  <a:schemeClr val="tx1"/>
                </a:solidFill>
              </a:rPr>
              <a:t>Monthly newsletter</a:t>
            </a:r>
            <a:endParaRPr lang="en-US" sz="1400" dirty="0"/>
          </a:p>
        </p:txBody>
      </p:sp>
      <p:sp>
        <p:nvSpPr>
          <p:cNvPr id="22" name="card-142"/>
          <p:cNvSpPr/>
          <p:nvPr/>
        </p:nvSpPr>
        <p:spPr>
          <a:xfrm>
            <a:off x="7498080" y="3822192"/>
            <a:ext cx="4114800" cy="512064"/>
          </a:xfrm>
          <a:prstGeom prst="roundRect">
            <a:avLst>
              <a:gd name="adj" fmla="val 14286"/>
            </a:avLst>
          </a:prstGeom>
          <a:solidFill>
            <a:schemeClr val="bg2"/>
          </a:solidFill>
          <a:ln w="12700">
            <a:solidFill>
              <a:schemeClr val="bg2"/>
            </a:solidFill>
            <a:prstDash val="solid"/>
          </a:ln>
        </p:spPr>
      </p:sp>
      <p:sp>
        <p:nvSpPr>
          <p:cNvPr id="23" name="text-143"/>
          <p:cNvSpPr txBox="1"/>
          <p:nvPr/>
        </p:nvSpPr>
        <p:spPr>
          <a:xfrm>
            <a:off x="7726680" y="3822192"/>
            <a:ext cx="3749040" cy="512064"/>
          </a:xfrm>
          <a:prstGeom prst="rect">
            <a:avLst/>
          </a:prstGeom>
          <a:noFill/>
          <a:ln/>
        </p:spPr>
        <p:txBody>
          <a:bodyPr wrap="square" lIns="0" tIns="0" rIns="0" bIns="0" rtlCol="0" anchor="ctr"/>
          <a:lstStyle/>
          <a:p>
            <a:pPr indent="0" marL="0">
              <a:buNone/>
            </a:pPr>
            <a:r>
              <a:rPr lang="en-US" sz="1400" dirty="0">
                <a:solidFill>
                  <a:schemeClr val="tx1"/>
                </a:solidFill>
              </a:rPr>
              <a:t>Search articles on their site</a:t>
            </a:r>
            <a:endParaRPr lang="en-US" sz="1400" dirty="0"/>
          </a:p>
        </p:txBody>
      </p:sp>
      <p:sp>
        <p:nvSpPr>
          <p:cNvPr id="24" name="card-144"/>
          <p:cNvSpPr/>
          <p:nvPr/>
        </p:nvSpPr>
        <p:spPr>
          <a:xfrm>
            <a:off x="7498080" y="4425696"/>
            <a:ext cx="4114800" cy="512064"/>
          </a:xfrm>
          <a:prstGeom prst="roundRect">
            <a:avLst>
              <a:gd name="adj" fmla="val 14286"/>
            </a:avLst>
          </a:prstGeom>
          <a:solidFill>
            <a:schemeClr val="accent6"/>
          </a:solidFill>
          <a:ln w="12700">
            <a:solidFill>
              <a:schemeClr val="accent6"/>
            </a:solidFill>
            <a:prstDash val="solid"/>
          </a:ln>
        </p:spPr>
      </p:sp>
      <p:sp>
        <p:nvSpPr>
          <p:cNvPr id="25" name="text-145"/>
          <p:cNvSpPr txBox="1"/>
          <p:nvPr/>
        </p:nvSpPr>
        <p:spPr>
          <a:xfrm>
            <a:off x="7726680" y="4425696"/>
            <a:ext cx="3749040" cy="512064"/>
          </a:xfrm>
          <a:prstGeom prst="rect">
            <a:avLst/>
          </a:prstGeom>
          <a:noFill/>
          <a:ln/>
        </p:spPr>
        <p:txBody>
          <a:bodyPr wrap="square" lIns="0" tIns="0" rIns="0" bIns="0" rtlCol="0" anchor="ctr"/>
          <a:lstStyle/>
          <a:p>
            <a:pPr indent="0" marL="0">
              <a:buNone/>
            </a:pPr>
            <a:r>
              <a:rPr lang="en-US" sz="1400" dirty="0">
                <a:solidFill>
                  <a:schemeClr val="tx1"/>
                </a:solidFill>
              </a:rPr>
              <a:t>Webinar clips and visuals</a:t>
            </a:r>
            <a:endParaRPr lang="en-US" sz="1400" dirty="0"/>
          </a:p>
        </p:txBody>
      </p:sp>
      <p:sp>
        <p:nvSpPr>
          <p:cNvPr id="26" name="card-146"/>
          <p:cNvSpPr/>
          <p:nvPr/>
        </p:nvSpPr>
        <p:spPr>
          <a:xfrm>
            <a:off x="7498080" y="5029200"/>
            <a:ext cx="4114800" cy="512064"/>
          </a:xfrm>
          <a:prstGeom prst="roundRect">
            <a:avLst>
              <a:gd name="adj" fmla="val 14286"/>
            </a:avLst>
          </a:prstGeom>
          <a:solidFill>
            <a:schemeClr val="bg2"/>
          </a:solidFill>
          <a:ln w="12700">
            <a:solidFill>
              <a:schemeClr val="bg2"/>
            </a:solidFill>
            <a:prstDash val="solid"/>
          </a:ln>
        </p:spPr>
      </p:sp>
      <p:sp>
        <p:nvSpPr>
          <p:cNvPr id="27" name="text-147"/>
          <p:cNvSpPr txBox="1"/>
          <p:nvPr/>
        </p:nvSpPr>
        <p:spPr>
          <a:xfrm>
            <a:off x="7726680" y="5029200"/>
            <a:ext cx="3749040" cy="512064"/>
          </a:xfrm>
          <a:prstGeom prst="rect">
            <a:avLst/>
          </a:prstGeom>
          <a:noFill/>
          <a:ln/>
        </p:spPr>
        <p:txBody>
          <a:bodyPr wrap="square" lIns="0" tIns="0" rIns="0" bIns="0" rtlCol="0" anchor="ctr"/>
          <a:lstStyle/>
          <a:p>
            <a:pPr indent="0" marL="0">
              <a:buNone/>
            </a:pPr>
            <a:r>
              <a:rPr lang="en-US" sz="1400" dirty="0">
                <a:solidFill>
                  <a:schemeClr val="tx1"/>
                </a:solidFill>
              </a:rPr>
              <a:t>Personal welcome video for leads</a:t>
            </a:r>
            <a:endParaRPr lang="en-US" sz="1400" dirty="0"/>
          </a:p>
        </p:txBody>
      </p:sp>
      <p:sp>
        <p:nvSpPr>
          <p:cNvPr id="28" name="text-148"/>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500" b="1" dirty="0">
                <a:solidFill>
                  <a:schemeClr val="accent5"/>
                </a:solidFill>
              </a:rPr>
              <a:t>Client time: about 2½ hours a week, approvals on their phone.</a:t>
            </a:r>
            <a:endParaRPr lang="en-US" sz="15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Part one: build the foundation</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Weeks 1 to 4. Nothing launches into an empty room.</a:t>
            </a:r>
            <a:endParaRPr lang="en-US" sz="1600" dirty="0"/>
          </a:p>
        </p:txBody>
      </p:sp>
      <p:graphicFrame>
        <p:nvGraphicFramePr>
          <p:cNvPr id="12" name="table-149"/>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3200400"/>
                <a:gridCol w="3017520"/>
                <a:gridCol w="2834640"/>
              </a:tblGrid>
              <a:tr h="457200">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Component</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What it is</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Why we do it</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What it produces</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r>
              <a:tr h="960120">
                <a:tc>
                  <a:txBody>
                    <a:bodyPr/>
                    <a:lstStyle/>
                    <a:p>
                      <a:pPr indent="0" marL="0">
                        <a:buNone/>
                      </a:pPr>
                      <a:r>
                        <a:rPr lang="en-US" sz="1350" b="1" dirty="0">
                          <a:solidFill>
                            <a:schemeClr val="tx1"/>
                          </a:solidFill>
                        </a:rPr>
                        <a:t>Audit and positioning</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Profile, company page and content audit. One positioning line used everywhere.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Buyers check you before they reply. Four names and three locations kill trust.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 profile and page a CFO believes, in week one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Targeting and triggers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 named buyer list built from signals: new in role, hiring, M&amp;A, tenders, regulation.</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 message with a reason gets a reply. A job title alone doesn’t.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200+ named buyers, ranked by how ready they are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Website and articles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Site rebuilt around one first offer. Two search articles a month.</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Every channel needs one place to land. Search compounds for years.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Tracked bookings; every lead traced to its source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Reporting</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Live dashboard plus a monthly review with the client.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Cut what isn’t working, double what is. No guessing.</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Decisions on data, and a client who sees progress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Part two: run the engine</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Every week from week 2. This is the recurring part of the fee.</a:t>
            </a:r>
            <a:endParaRPr lang="en-US" sz="1600" dirty="0"/>
          </a:p>
        </p:txBody>
      </p:sp>
      <p:graphicFrame>
        <p:nvGraphicFramePr>
          <p:cNvPr id="13" name="table-15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3200400"/>
                <a:gridCol w="3017520"/>
                <a:gridCol w="2834640"/>
              </a:tblGrid>
              <a:tr h="457200">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Component</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What it is</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Why we do it</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What it produces</a:t>
                      </a:r>
                      <a:endParaRPr lang="en-US" sz="1400" dirty="0">
                        <a:latin typeface="Cambria" charset="0"/>
                        <a:ea typeface="Cambria" charset="0"/>
                        <a:cs typeface="Cambria" charset="0"/>
                      </a:endParaRPr>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r>
              <a:tr h="960120">
                <a:tc>
                  <a:txBody>
                    <a:bodyPr/>
                    <a:lstStyle/>
                    <a:p>
                      <a:pPr indent="0" marL="0">
                        <a:buNone/>
                      </a:pPr>
                      <a:r>
                        <a:rPr lang="en-US" sz="1350" b="1" dirty="0">
                          <a:solidFill>
                            <a:schemeClr val="tx1"/>
                          </a:solidFill>
                        </a:rPr>
                        <a:t>LinkedIn outreach</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5 rising to 20 connection requests a day, half warm, half cold, with a follow-up.</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Gets the expert into the buyer’s network before the RFP or budget lands.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About 8 booked calls a month at full pace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Engagement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3–5 drafted comments a day on buyers’ posts, approved by the client.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Visibility with the exact buyers, without a cold pitch.</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Name recognition where it counts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Content engine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One raw note becomes posts, newsletter, articles and clips.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Consistency without taking the founder’s week.</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Weekly proof and point-of-view posts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960120">
                <a:tc>
                  <a:txBody>
                    <a:bodyPr/>
                    <a:lstStyle/>
                    <a:p>
                      <a:pPr indent="0" marL="0">
                        <a:buNone/>
                      </a:pPr>
                      <a:r>
                        <a:rPr lang="en-US" sz="1350" b="1" dirty="0">
                          <a:solidFill>
                            <a:schemeClr val="tx1"/>
                          </a:solidFill>
                        </a:rPr>
                        <a:t>Events and community</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Monthly webinar, small invite-only dinners, Substack or Skool where it fits.</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Be in rooms where buyers already are, and own a small one.</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Warm calls within 48 hours of every event</a:t>
                      </a:r>
                      <a:endParaRPr lang="en-US" sz="1350" dirty="0"/>
                    </a:p>
                  </a:txBody>
                  <a:tcPr marL="109728" marR="109728" marT="73152" marB="73152"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How we run it: agents draft, people decide</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The same five-step loop for every channel and every client.</a:t>
            </a:r>
            <a:endParaRPr lang="en-US" sz="1600" dirty="0"/>
          </a:p>
        </p:txBody>
      </p:sp>
      <p:sp>
        <p:nvSpPr>
          <p:cNvPr id="4" name="card-151"/>
          <p:cNvSpPr/>
          <p:nvPr/>
        </p:nvSpPr>
        <p:spPr>
          <a:xfrm>
            <a:off x="548640" y="1783080"/>
            <a:ext cx="2057400" cy="2651760"/>
          </a:xfrm>
          <a:prstGeom prst="roundRect">
            <a:avLst>
              <a:gd name="adj" fmla="val 3556"/>
            </a:avLst>
          </a:prstGeom>
          <a:solidFill>
            <a:schemeClr val="bg2"/>
          </a:solidFill>
          <a:ln w="12700">
            <a:solidFill>
              <a:schemeClr val="bg2"/>
            </a:solidFill>
            <a:prstDash val="solid"/>
          </a:ln>
        </p:spPr>
      </p:sp>
      <p:sp>
        <p:nvSpPr>
          <p:cNvPr id="5" name="icon-bg-152"/>
          <p:cNvSpPr/>
          <p:nvPr/>
        </p:nvSpPr>
        <p:spPr>
          <a:xfrm>
            <a:off x="1234440" y="2011680"/>
            <a:ext cx="685800" cy="685800"/>
          </a:xfrm>
          <a:prstGeom prst="ellipse">
            <a:avLst/>
          </a:prstGeom>
          <a:solidFill>
            <a:schemeClr val="accent1"/>
          </a:solidFill>
          <a:ln w="12700">
            <a:solidFill>
              <a:schemeClr val="accent1"/>
            </a:solidFill>
            <a:prstDash val="solid"/>
          </a:ln>
        </p:spPr>
      </p:sp>
      <p:pic>
        <p:nvPicPr>
          <p:cNvPr id="6" name="icon-153" descr="preencoded.png">    </p:cNvPr>
          <p:cNvPicPr>
            <a:picLocks noChangeAspect="1"/>
          </p:cNvPicPr>
          <p:nvPr/>
        </p:nvPicPr>
        <p:blipFill>
          <a:blip r:embed="rId1"/>
          <a:stretch>
            <a:fillRect/>
          </a:stretch>
        </p:blipFill>
        <p:spPr>
          <a:xfrm>
            <a:off x="1399032" y="2176272"/>
            <a:ext cx="356616" cy="356616"/>
          </a:xfrm>
          <a:prstGeom prst="rect">
            <a:avLst/>
          </a:prstGeom>
        </p:spPr>
      </p:pic>
      <p:sp>
        <p:nvSpPr>
          <p:cNvPr id="7" name="text-154"/>
          <p:cNvSpPr txBox="1"/>
          <p:nvPr/>
        </p:nvSpPr>
        <p:spPr>
          <a:xfrm>
            <a:off x="685800" y="2834640"/>
            <a:ext cx="1783080" cy="411480"/>
          </a:xfrm>
          <a:prstGeom prst="rect">
            <a:avLst/>
          </a:prstGeom>
          <a:noFill/>
          <a:ln/>
        </p:spPr>
        <p:txBody>
          <a:bodyPr wrap="square" lIns="0" tIns="0" rIns="0" bIns="0" rtlCol="0" anchor="t"/>
          <a:lstStyle/>
          <a:p>
            <a:pPr algn="ctr" indent="0" marL="0">
              <a:buNone/>
            </a:pPr>
            <a:r>
              <a:rPr lang="en-US" sz="1900" b="1" dirty="0">
                <a:solidFill>
                  <a:schemeClr val="tx1"/>
                </a:solidFill>
                <a:latin typeface="Cambria" pitchFamily="34" charset="0"/>
                <a:ea typeface="Cambria" pitchFamily="34" charset="-122"/>
                <a:cs typeface="Cambria" pitchFamily="34" charset="-120"/>
              </a:rPr>
              <a:t>Watch</a:t>
            </a:r>
            <a:endParaRPr lang="en-US" sz="1900" dirty="0"/>
          </a:p>
        </p:txBody>
      </p:sp>
      <p:sp>
        <p:nvSpPr>
          <p:cNvPr id="8" name="text-155"/>
          <p:cNvSpPr txBox="1"/>
          <p:nvPr/>
        </p:nvSpPr>
        <p:spPr>
          <a:xfrm>
            <a:off x="685800" y="3291840"/>
            <a:ext cx="1783080" cy="1051560"/>
          </a:xfrm>
          <a:prstGeom prst="rect">
            <a:avLst/>
          </a:prstGeom>
          <a:noFill/>
          <a:ln/>
        </p:spPr>
        <p:txBody>
          <a:bodyPr wrap="square" lIns="0" tIns="0" rIns="0" bIns="0" rtlCol="0" anchor="t"/>
          <a:lstStyle/>
          <a:p>
            <a:pPr algn="ctr" indent="0" marL="0">
              <a:buNone/>
            </a:pPr>
            <a:r>
              <a:rPr lang="en-US" sz="1350" dirty="0">
                <a:solidFill>
                  <a:schemeClr val="tx2"/>
                </a:solidFill>
              </a:rPr>
              <a:t>Agents read buyers’ posts, job moves and news for triggers</a:t>
            </a:r>
            <a:endParaRPr lang="en-US" sz="1350" dirty="0"/>
          </a:p>
        </p:txBody>
      </p:sp>
      <p:sp>
        <p:nvSpPr>
          <p:cNvPr id="9" name="arrow-156"/>
          <p:cNvSpPr/>
          <p:nvPr/>
        </p:nvSpPr>
        <p:spPr>
          <a:xfrm>
            <a:off x="2624328" y="2971800"/>
            <a:ext cx="146304" cy="274320"/>
          </a:xfrm>
          <a:prstGeom prst="rightArrow">
            <a:avLst/>
          </a:prstGeom>
          <a:solidFill>
            <a:schemeClr val="accent2"/>
          </a:solidFill>
          <a:ln w="12700">
            <a:solidFill>
              <a:schemeClr val="accent2"/>
            </a:solidFill>
            <a:prstDash val="solid"/>
          </a:ln>
        </p:spPr>
      </p:sp>
      <p:sp>
        <p:nvSpPr>
          <p:cNvPr id="10" name="card-157"/>
          <p:cNvSpPr/>
          <p:nvPr/>
        </p:nvSpPr>
        <p:spPr>
          <a:xfrm>
            <a:off x="2788920" y="1783080"/>
            <a:ext cx="2057400" cy="2651760"/>
          </a:xfrm>
          <a:prstGeom prst="roundRect">
            <a:avLst>
              <a:gd name="adj" fmla="val 3556"/>
            </a:avLst>
          </a:prstGeom>
          <a:solidFill>
            <a:schemeClr val="bg2"/>
          </a:solidFill>
          <a:ln w="12700">
            <a:solidFill>
              <a:schemeClr val="bg2"/>
            </a:solidFill>
            <a:prstDash val="solid"/>
          </a:ln>
        </p:spPr>
      </p:sp>
      <p:sp>
        <p:nvSpPr>
          <p:cNvPr id="11" name="icon-bg-158"/>
          <p:cNvSpPr/>
          <p:nvPr/>
        </p:nvSpPr>
        <p:spPr>
          <a:xfrm>
            <a:off x="3474720" y="2011680"/>
            <a:ext cx="685800" cy="685800"/>
          </a:xfrm>
          <a:prstGeom prst="ellipse">
            <a:avLst/>
          </a:prstGeom>
          <a:solidFill>
            <a:schemeClr val="accent1"/>
          </a:solidFill>
          <a:ln w="12700">
            <a:solidFill>
              <a:schemeClr val="accent1"/>
            </a:solidFill>
            <a:prstDash val="solid"/>
          </a:ln>
        </p:spPr>
      </p:sp>
      <p:pic>
        <p:nvPicPr>
          <p:cNvPr id="12" name="icon-159" descr="preencoded.png">    </p:cNvPr>
          <p:cNvPicPr>
            <a:picLocks noChangeAspect="1"/>
          </p:cNvPicPr>
          <p:nvPr/>
        </p:nvPicPr>
        <p:blipFill>
          <a:blip r:embed="rId2"/>
          <a:stretch>
            <a:fillRect/>
          </a:stretch>
        </p:blipFill>
        <p:spPr>
          <a:xfrm>
            <a:off x="3639312" y="2176272"/>
            <a:ext cx="356616" cy="356616"/>
          </a:xfrm>
          <a:prstGeom prst="rect">
            <a:avLst/>
          </a:prstGeom>
        </p:spPr>
      </p:pic>
      <p:sp>
        <p:nvSpPr>
          <p:cNvPr id="13" name="text-160"/>
          <p:cNvSpPr txBox="1"/>
          <p:nvPr/>
        </p:nvSpPr>
        <p:spPr>
          <a:xfrm>
            <a:off x="2926080" y="2834640"/>
            <a:ext cx="1783080" cy="411480"/>
          </a:xfrm>
          <a:prstGeom prst="rect">
            <a:avLst/>
          </a:prstGeom>
          <a:noFill/>
          <a:ln/>
        </p:spPr>
        <p:txBody>
          <a:bodyPr wrap="square" lIns="0" tIns="0" rIns="0" bIns="0" rtlCol="0" anchor="t"/>
          <a:lstStyle/>
          <a:p>
            <a:pPr algn="ctr" indent="0" marL="0">
              <a:buNone/>
            </a:pPr>
            <a:r>
              <a:rPr lang="en-US" sz="1900" b="1" dirty="0">
                <a:solidFill>
                  <a:schemeClr val="tx1"/>
                </a:solidFill>
                <a:latin typeface="Cambria" pitchFamily="34" charset="0"/>
                <a:ea typeface="Cambria" pitchFamily="34" charset="-122"/>
                <a:cs typeface="Cambria" pitchFamily="34" charset="-120"/>
              </a:rPr>
              <a:t>Draft</a:t>
            </a:r>
            <a:endParaRPr lang="en-US" sz="1900" dirty="0"/>
          </a:p>
        </p:txBody>
      </p:sp>
      <p:sp>
        <p:nvSpPr>
          <p:cNvPr id="14" name="text-161"/>
          <p:cNvSpPr txBox="1"/>
          <p:nvPr/>
        </p:nvSpPr>
        <p:spPr>
          <a:xfrm>
            <a:off x="2926080" y="3291840"/>
            <a:ext cx="1783080" cy="1051560"/>
          </a:xfrm>
          <a:prstGeom prst="rect">
            <a:avLst/>
          </a:prstGeom>
          <a:noFill/>
          <a:ln/>
        </p:spPr>
        <p:txBody>
          <a:bodyPr wrap="square" lIns="0" tIns="0" rIns="0" bIns="0" rtlCol="0" anchor="t"/>
          <a:lstStyle/>
          <a:p>
            <a:pPr algn="ctr" indent="0" marL="0">
              <a:buNone/>
            </a:pPr>
            <a:r>
              <a:rPr lang="en-US" sz="1350" dirty="0">
                <a:solidFill>
                  <a:schemeClr val="tx2"/>
                </a:solidFill>
              </a:rPr>
              <a:t>Posts, comments and notes in the client’s voice</a:t>
            </a:r>
            <a:endParaRPr lang="en-US" sz="1350" dirty="0"/>
          </a:p>
        </p:txBody>
      </p:sp>
      <p:sp>
        <p:nvSpPr>
          <p:cNvPr id="15" name="arrow-162"/>
          <p:cNvSpPr/>
          <p:nvPr/>
        </p:nvSpPr>
        <p:spPr>
          <a:xfrm>
            <a:off x="4864608" y="2971800"/>
            <a:ext cx="146304" cy="274320"/>
          </a:xfrm>
          <a:prstGeom prst="rightArrow">
            <a:avLst/>
          </a:prstGeom>
          <a:solidFill>
            <a:schemeClr val="accent2"/>
          </a:solidFill>
          <a:ln w="12700">
            <a:solidFill>
              <a:schemeClr val="accent2"/>
            </a:solidFill>
            <a:prstDash val="solid"/>
          </a:ln>
        </p:spPr>
      </p:sp>
      <p:sp>
        <p:nvSpPr>
          <p:cNvPr id="16" name="card-163"/>
          <p:cNvSpPr/>
          <p:nvPr/>
        </p:nvSpPr>
        <p:spPr>
          <a:xfrm>
            <a:off x="5029200" y="1783080"/>
            <a:ext cx="2057400" cy="2651760"/>
          </a:xfrm>
          <a:prstGeom prst="roundRect">
            <a:avLst>
              <a:gd name="adj" fmla="val 3556"/>
            </a:avLst>
          </a:prstGeom>
          <a:solidFill>
            <a:schemeClr val="tx2"/>
          </a:solidFill>
          <a:ln w="12700">
            <a:solidFill>
              <a:schemeClr val="tx2"/>
            </a:solidFill>
            <a:prstDash val="solid"/>
          </a:ln>
        </p:spPr>
      </p:sp>
      <p:sp>
        <p:nvSpPr>
          <p:cNvPr id="17" name="icon-bg-164"/>
          <p:cNvSpPr/>
          <p:nvPr/>
        </p:nvSpPr>
        <p:spPr>
          <a:xfrm>
            <a:off x="5715000" y="2011680"/>
            <a:ext cx="685800" cy="685800"/>
          </a:xfrm>
          <a:prstGeom prst="ellipse">
            <a:avLst/>
          </a:prstGeom>
          <a:solidFill>
            <a:schemeClr val="accent2"/>
          </a:solidFill>
          <a:ln w="12700">
            <a:solidFill>
              <a:schemeClr val="accent2"/>
            </a:solidFill>
            <a:prstDash val="solid"/>
          </a:ln>
        </p:spPr>
      </p:sp>
      <p:pic>
        <p:nvPicPr>
          <p:cNvPr id="18" name="icon-165" descr="preencoded.png">    </p:cNvPr>
          <p:cNvPicPr>
            <a:picLocks noChangeAspect="1"/>
          </p:cNvPicPr>
          <p:nvPr/>
        </p:nvPicPr>
        <p:blipFill>
          <a:blip r:embed="rId3"/>
          <a:stretch>
            <a:fillRect/>
          </a:stretch>
        </p:blipFill>
        <p:spPr>
          <a:xfrm>
            <a:off x="5879592" y="2176272"/>
            <a:ext cx="356616" cy="356616"/>
          </a:xfrm>
          <a:prstGeom prst="rect">
            <a:avLst/>
          </a:prstGeom>
        </p:spPr>
      </p:pic>
      <p:sp>
        <p:nvSpPr>
          <p:cNvPr id="19" name="text-166"/>
          <p:cNvSpPr txBox="1"/>
          <p:nvPr/>
        </p:nvSpPr>
        <p:spPr>
          <a:xfrm>
            <a:off x="5166360" y="2834640"/>
            <a:ext cx="1783080" cy="411480"/>
          </a:xfrm>
          <a:prstGeom prst="rect">
            <a:avLst/>
          </a:prstGeom>
          <a:noFill/>
          <a:ln/>
        </p:spPr>
        <p:txBody>
          <a:bodyPr wrap="square" lIns="0" tIns="0" rIns="0" bIns="0" rtlCol="0" anchor="t"/>
          <a:lstStyle/>
          <a:p>
            <a:pPr algn="ctr" indent="0" marL="0">
              <a:buNone/>
            </a:pPr>
            <a:r>
              <a:rPr lang="en-US" sz="1900" b="1" dirty="0">
                <a:solidFill>
                  <a:schemeClr val="bg2"/>
                </a:solidFill>
                <a:latin typeface="Cambria" pitchFamily="34" charset="0"/>
                <a:ea typeface="Cambria" pitchFamily="34" charset="-122"/>
                <a:cs typeface="Cambria" pitchFamily="34" charset="-120"/>
              </a:rPr>
              <a:t>Approve</a:t>
            </a:r>
            <a:endParaRPr lang="en-US" sz="1900" dirty="0"/>
          </a:p>
        </p:txBody>
      </p:sp>
      <p:sp>
        <p:nvSpPr>
          <p:cNvPr id="20" name="text-167"/>
          <p:cNvSpPr txBox="1"/>
          <p:nvPr/>
        </p:nvSpPr>
        <p:spPr>
          <a:xfrm>
            <a:off x="5166360" y="3291840"/>
            <a:ext cx="1783080" cy="1051560"/>
          </a:xfrm>
          <a:prstGeom prst="rect">
            <a:avLst/>
          </a:prstGeom>
          <a:noFill/>
          <a:ln/>
        </p:spPr>
        <p:txBody>
          <a:bodyPr wrap="square" lIns="0" tIns="0" rIns="0" bIns="0" rtlCol="0" anchor="t"/>
          <a:lstStyle/>
          <a:p>
            <a:pPr algn="ctr" indent="0" marL="0">
              <a:buNone/>
            </a:pPr>
            <a:r>
              <a:rPr lang="en-US" sz="1350" dirty="0">
                <a:solidFill>
                  <a:schemeClr val="accent4"/>
                </a:solidFill>
              </a:rPr>
              <a:t>The client says yes, edits or bins it, on their phone</a:t>
            </a:r>
            <a:endParaRPr lang="en-US" sz="1350" dirty="0"/>
          </a:p>
        </p:txBody>
      </p:sp>
      <p:sp>
        <p:nvSpPr>
          <p:cNvPr id="21" name="arrow-168"/>
          <p:cNvSpPr/>
          <p:nvPr/>
        </p:nvSpPr>
        <p:spPr>
          <a:xfrm>
            <a:off x="7104888" y="2971800"/>
            <a:ext cx="146304" cy="274320"/>
          </a:xfrm>
          <a:prstGeom prst="rightArrow">
            <a:avLst/>
          </a:prstGeom>
          <a:solidFill>
            <a:schemeClr val="accent2"/>
          </a:solidFill>
          <a:ln w="12700">
            <a:solidFill>
              <a:schemeClr val="accent2"/>
            </a:solidFill>
            <a:prstDash val="solid"/>
          </a:ln>
        </p:spPr>
      </p:sp>
      <p:sp>
        <p:nvSpPr>
          <p:cNvPr id="22" name="card-169"/>
          <p:cNvSpPr/>
          <p:nvPr/>
        </p:nvSpPr>
        <p:spPr>
          <a:xfrm>
            <a:off x="7269480" y="1783080"/>
            <a:ext cx="2057400" cy="2651760"/>
          </a:xfrm>
          <a:prstGeom prst="roundRect">
            <a:avLst>
              <a:gd name="adj" fmla="val 3556"/>
            </a:avLst>
          </a:prstGeom>
          <a:solidFill>
            <a:schemeClr val="bg2"/>
          </a:solidFill>
          <a:ln w="12700">
            <a:solidFill>
              <a:schemeClr val="bg2"/>
            </a:solidFill>
            <a:prstDash val="solid"/>
          </a:ln>
        </p:spPr>
      </p:sp>
      <p:sp>
        <p:nvSpPr>
          <p:cNvPr id="23" name="icon-bg-170"/>
          <p:cNvSpPr/>
          <p:nvPr/>
        </p:nvSpPr>
        <p:spPr>
          <a:xfrm>
            <a:off x="7955280" y="2011680"/>
            <a:ext cx="685800" cy="685800"/>
          </a:xfrm>
          <a:prstGeom prst="ellipse">
            <a:avLst/>
          </a:prstGeom>
          <a:solidFill>
            <a:schemeClr val="accent1"/>
          </a:solidFill>
          <a:ln w="12700">
            <a:solidFill>
              <a:schemeClr val="accent1"/>
            </a:solidFill>
            <a:prstDash val="solid"/>
          </a:ln>
        </p:spPr>
      </p:sp>
      <p:pic>
        <p:nvPicPr>
          <p:cNvPr id="24" name="icon-171" descr="preencoded.png">    </p:cNvPr>
          <p:cNvPicPr>
            <a:picLocks noChangeAspect="1"/>
          </p:cNvPicPr>
          <p:nvPr/>
        </p:nvPicPr>
        <p:blipFill>
          <a:blip r:embed="rId4"/>
          <a:stretch>
            <a:fillRect/>
          </a:stretch>
        </p:blipFill>
        <p:spPr>
          <a:xfrm>
            <a:off x="8119872" y="2176272"/>
            <a:ext cx="356616" cy="356616"/>
          </a:xfrm>
          <a:prstGeom prst="rect">
            <a:avLst/>
          </a:prstGeom>
        </p:spPr>
      </p:pic>
      <p:sp>
        <p:nvSpPr>
          <p:cNvPr id="25" name="text-172"/>
          <p:cNvSpPr txBox="1"/>
          <p:nvPr/>
        </p:nvSpPr>
        <p:spPr>
          <a:xfrm>
            <a:off x="7406640" y="2834640"/>
            <a:ext cx="1783080" cy="411480"/>
          </a:xfrm>
          <a:prstGeom prst="rect">
            <a:avLst/>
          </a:prstGeom>
          <a:noFill/>
          <a:ln/>
        </p:spPr>
        <p:txBody>
          <a:bodyPr wrap="square" lIns="0" tIns="0" rIns="0" bIns="0" rtlCol="0" anchor="t"/>
          <a:lstStyle/>
          <a:p>
            <a:pPr algn="ctr" indent="0" marL="0">
              <a:buNone/>
            </a:pPr>
            <a:r>
              <a:rPr lang="en-US" sz="1900" b="1" dirty="0">
                <a:solidFill>
                  <a:schemeClr val="tx1"/>
                </a:solidFill>
                <a:latin typeface="Cambria" pitchFamily="34" charset="0"/>
                <a:ea typeface="Cambria" pitchFamily="34" charset="-122"/>
                <a:cs typeface="Cambria" pitchFamily="34" charset="-120"/>
              </a:rPr>
              <a:t>Publish</a:t>
            </a:r>
            <a:endParaRPr lang="en-US" sz="1900" dirty="0"/>
          </a:p>
        </p:txBody>
      </p:sp>
      <p:sp>
        <p:nvSpPr>
          <p:cNvPr id="26" name="text-173"/>
          <p:cNvSpPr txBox="1"/>
          <p:nvPr/>
        </p:nvSpPr>
        <p:spPr>
          <a:xfrm>
            <a:off x="7406640" y="3291840"/>
            <a:ext cx="1783080" cy="1051560"/>
          </a:xfrm>
          <a:prstGeom prst="rect">
            <a:avLst/>
          </a:prstGeom>
          <a:noFill/>
          <a:ln/>
        </p:spPr>
        <p:txBody>
          <a:bodyPr wrap="square" lIns="0" tIns="0" rIns="0" bIns="0" rtlCol="0" anchor="t"/>
          <a:lstStyle/>
          <a:p>
            <a:pPr algn="ctr" indent="0" marL="0">
              <a:buNone/>
            </a:pPr>
            <a:r>
              <a:rPr lang="en-US" sz="1350" dirty="0">
                <a:solidFill>
                  <a:schemeClr val="tx2"/>
                </a:solidFill>
              </a:rPr>
              <a:t>At a human pace, from a safe UK address</a:t>
            </a:r>
            <a:endParaRPr lang="en-US" sz="1350" dirty="0"/>
          </a:p>
        </p:txBody>
      </p:sp>
      <p:sp>
        <p:nvSpPr>
          <p:cNvPr id="27" name="arrow-174"/>
          <p:cNvSpPr/>
          <p:nvPr/>
        </p:nvSpPr>
        <p:spPr>
          <a:xfrm>
            <a:off x="9345168" y="2971800"/>
            <a:ext cx="146304" cy="274320"/>
          </a:xfrm>
          <a:prstGeom prst="rightArrow">
            <a:avLst/>
          </a:prstGeom>
          <a:solidFill>
            <a:schemeClr val="accent2"/>
          </a:solidFill>
          <a:ln w="12700">
            <a:solidFill>
              <a:schemeClr val="accent2"/>
            </a:solidFill>
            <a:prstDash val="solid"/>
          </a:ln>
        </p:spPr>
      </p:sp>
      <p:sp>
        <p:nvSpPr>
          <p:cNvPr id="28" name="card-175"/>
          <p:cNvSpPr/>
          <p:nvPr/>
        </p:nvSpPr>
        <p:spPr>
          <a:xfrm>
            <a:off x="9509760" y="1783080"/>
            <a:ext cx="2057400" cy="2651760"/>
          </a:xfrm>
          <a:prstGeom prst="roundRect">
            <a:avLst>
              <a:gd name="adj" fmla="val 3556"/>
            </a:avLst>
          </a:prstGeom>
          <a:solidFill>
            <a:schemeClr val="bg2"/>
          </a:solidFill>
          <a:ln w="12700">
            <a:solidFill>
              <a:schemeClr val="bg2"/>
            </a:solidFill>
            <a:prstDash val="solid"/>
          </a:ln>
        </p:spPr>
      </p:sp>
      <p:sp>
        <p:nvSpPr>
          <p:cNvPr id="29" name="icon-bg-176"/>
          <p:cNvSpPr/>
          <p:nvPr/>
        </p:nvSpPr>
        <p:spPr>
          <a:xfrm>
            <a:off x="10195560" y="2011680"/>
            <a:ext cx="685800" cy="685800"/>
          </a:xfrm>
          <a:prstGeom prst="ellipse">
            <a:avLst/>
          </a:prstGeom>
          <a:solidFill>
            <a:schemeClr val="accent1"/>
          </a:solidFill>
          <a:ln w="12700">
            <a:solidFill>
              <a:schemeClr val="accent1"/>
            </a:solidFill>
            <a:prstDash val="solid"/>
          </a:ln>
        </p:spPr>
      </p:sp>
      <p:pic>
        <p:nvPicPr>
          <p:cNvPr id="30" name="icon-177" descr="preencoded.png">    </p:cNvPr>
          <p:cNvPicPr>
            <a:picLocks noChangeAspect="1"/>
          </p:cNvPicPr>
          <p:nvPr/>
        </p:nvPicPr>
        <p:blipFill>
          <a:blip r:embed="rId5"/>
          <a:stretch>
            <a:fillRect/>
          </a:stretch>
        </p:blipFill>
        <p:spPr>
          <a:xfrm>
            <a:off x="10360152" y="2176272"/>
            <a:ext cx="356616" cy="356616"/>
          </a:xfrm>
          <a:prstGeom prst="rect">
            <a:avLst/>
          </a:prstGeom>
        </p:spPr>
      </p:pic>
      <p:sp>
        <p:nvSpPr>
          <p:cNvPr id="31" name="text-178"/>
          <p:cNvSpPr txBox="1"/>
          <p:nvPr/>
        </p:nvSpPr>
        <p:spPr>
          <a:xfrm>
            <a:off x="9646920" y="2834640"/>
            <a:ext cx="1783080" cy="411480"/>
          </a:xfrm>
          <a:prstGeom prst="rect">
            <a:avLst/>
          </a:prstGeom>
          <a:noFill/>
          <a:ln/>
        </p:spPr>
        <p:txBody>
          <a:bodyPr wrap="square" lIns="0" tIns="0" rIns="0" bIns="0" rtlCol="0" anchor="t"/>
          <a:lstStyle/>
          <a:p>
            <a:pPr algn="ctr" indent="0" marL="0">
              <a:buNone/>
            </a:pPr>
            <a:r>
              <a:rPr lang="en-US" sz="1900" b="1" dirty="0">
                <a:solidFill>
                  <a:schemeClr val="tx1"/>
                </a:solidFill>
                <a:latin typeface="Cambria" pitchFamily="34" charset="0"/>
                <a:ea typeface="Cambria" pitchFamily="34" charset="-122"/>
                <a:cs typeface="Cambria" pitchFamily="34" charset="-120"/>
              </a:rPr>
              <a:t>Measure</a:t>
            </a:r>
            <a:endParaRPr lang="en-US" sz="1900" dirty="0"/>
          </a:p>
        </p:txBody>
      </p:sp>
      <p:sp>
        <p:nvSpPr>
          <p:cNvPr id="32" name="text-179"/>
          <p:cNvSpPr txBox="1"/>
          <p:nvPr/>
        </p:nvSpPr>
        <p:spPr>
          <a:xfrm>
            <a:off x="9646920" y="3291840"/>
            <a:ext cx="1783080" cy="1051560"/>
          </a:xfrm>
          <a:prstGeom prst="rect">
            <a:avLst/>
          </a:prstGeom>
          <a:noFill/>
          <a:ln/>
        </p:spPr>
        <p:txBody>
          <a:bodyPr wrap="square" lIns="0" tIns="0" rIns="0" bIns="0" rtlCol="0" anchor="t"/>
          <a:lstStyle/>
          <a:p>
            <a:pPr algn="ctr" indent="0" marL="0">
              <a:buNone/>
            </a:pPr>
            <a:r>
              <a:rPr lang="en-US" sz="1350" dirty="0">
                <a:solidFill>
                  <a:schemeClr val="tx2"/>
                </a:solidFill>
              </a:rPr>
              <a:t>Replies, calls and followers, reviewed monthly</a:t>
            </a:r>
            <a:endParaRPr lang="en-US" sz="1350" dirty="0"/>
          </a:p>
        </p:txBody>
      </p:sp>
      <p:sp>
        <p:nvSpPr>
          <p:cNvPr id="33" name="icon-bg-180"/>
          <p:cNvSpPr/>
          <p:nvPr/>
        </p:nvSpPr>
        <p:spPr>
          <a:xfrm>
            <a:off x="548640" y="4709160"/>
            <a:ext cx="457200" cy="457200"/>
          </a:xfrm>
          <a:prstGeom prst="ellipse">
            <a:avLst/>
          </a:prstGeom>
          <a:solidFill>
            <a:schemeClr val="accent2"/>
          </a:solidFill>
          <a:ln w="12700">
            <a:solidFill>
              <a:schemeClr val="accent2"/>
            </a:solidFill>
            <a:prstDash val="solid"/>
          </a:ln>
        </p:spPr>
      </p:sp>
      <p:pic>
        <p:nvPicPr>
          <p:cNvPr id="34" name="icon-181" descr="preencoded.png">    </p:cNvPr>
          <p:cNvPicPr>
            <a:picLocks noChangeAspect="1"/>
          </p:cNvPicPr>
          <p:nvPr/>
        </p:nvPicPr>
        <p:blipFill>
          <a:blip r:embed="rId6"/>
          <a:stretch>
            <a:fillRect/>
          </a:stretch>
        </p:blipFill>
        <p:spPr>
          <a:xfrm>
            <a:off x="658368" y="4818888"/>
            <a:ext cx="237744" cy="237744"/>
          </a:xfrm>
          <a:prstGeom prst="rect">
            <a:avLst/>
          </a:prstGeom>
        </p:spPr>
      </p:pic>
      <p:sp>
        <p:nvSpPr>
          <p:cNvPr id="35" name="text-182"/>
          <p:cNvSpPr txBox="1"/>
          <p:nvPr/>
        </p:nvSpPr>
        <p:spPr>
          <a:xfrm>
            <a:off x="1188720" y="4709160"/>
            <a:ext cx="4754880" cy="457200"/>
          </a:xfrm>
          <a:prstGeom prst="rect">
            <a:avLst/>
          </a:prstGeom>
          <a:noFill/>
          <a:ln/>
        </p:spPr>
        <p:txBody>
          <a:bodyPr wrap="square" lIns="0" tIns="0" rIns="0" bIns="0" rtlCol="0" anchor="ctr"/>
          <a:lstStyle/>
          <a:p>
            <a:pPr indent="0" marL="0">
              <a:buNone/>
            </a:pPr>
            <a:r>
              <a:rPr lang="en-US" sz="1500" dirty="0">
                <a:solidFill>
                  <a:schemeClr val="tx1"/>
                </a:solidFill>
              </a:rPr>
              <a:t>Clients are named only with written permission</a:t>
            </a:r>
            <a:endParaRPr lang="en-US" sz="1500" dirty="0"/>
          </a:p>
        </p:txBody>
      </p:sp>
      <p:sp>
        <p:nvSpPr>
          <p:cNvPr id="36" name="icon-bg-183"/>
          <p:cNvSpPr/>
          <p:nvPr/>
        </p:nvSpPr>
        <p:spPr>
          <a:xfrm>
            <a:off x="6126480" y="4709160"/>
            <a:ext cx="457200" cy="457200"/>
          </a:xfrm>
          <a:prstGeom prst="ellipse">
            <a:avLst/>
          </a:prstGeom>
          <a:solidFill>
            <a:schemeClr val="accent2"/>
          </a:solidFill>
          <a:ln w="12700">
            <a:solidFill>
              <a:schemeClr val="accent2"/>
            </a:solidFill>
            <a:prstDash val="solid"/>
          </a:ln>
        </p:spPr>
      </p:sp>
      <p:pic>
        <p:nvPicPr>
          <p:cNvPr id="37" name="icon-184" descr="preencoded.png">    </p:cNvPr>
          <p:cNvPicPr>
            <a:picLocks noChangeAspect="1"/>
          </p:cNvPicPr>
          <p:nvPr/>
        </p:nvPicPr>
        <p:blipFill>
          <a:blip r:embed="rId7"/>
          <a:stretch>
            <a:fillRect/>
          </a:stretch>
        </p:blipFill>
        <p:spPr>
          <a:xfrm>
            <a:off x="6236208" y="4818888"/>
            <a:ext cx="237744" cy="237744"/>
          </a:xfrm>
          <a:prstGeom prst="rect">
            <a:avLst/>
          </a:prstGeom>
        </p:spPr>
      </p:pic>
      <p:sp>
        <p:nvSpPr>
          <p:cNvPr id="38" name="text-185"/>
          <p:cNvSpPr txBox="1"/>
          <p:nvPr/>
        </p:nvSpPr>
        <p:spPr>
          <a:xfrm>
            <a:off x="6766560" y="4709160"/>
            <a:ext cx="4754880" cy="457200"/>
          </a:xfrm>
          <a:prstGeom prst="rect">
            <a:avLst/>
          </a:prstGeom>
          <a:noFill/>
          <a:ln/>
        </p:spPr>
        <p:txBody>
          <a:bodyPr wrap="square" lIns="0" tIns="0" rIns="0" bIns="0" rtlCol="0" anchor="ctr"/>
          <a:lstStyle/>
          <a:p>
            <a:pPr indent="0" marL="0">
              <a:buNone/>
            </a:pPr>
            <a:r>
              <a:rPr lang="en-US" sz="1500" dirty="0">
                <a:solidFill>
                  <a:schemeClr val="tx1"/>
                </a:solidFill>
              </a:rPr>
              <a:t>Every number has a linked source</a:t>
            </a:r>
            <a:endParaRPr lang="en-US" sz="1500" dirty="0"/>
          </a:p>
        </p:txBody>
      </p:sp>
      <p:sp>
        <p:nvSpPr>
          <p:cNvPr id="39" name="icon-bg-186"/>
          <p:cNvSpPr/>
          <p:nvPr/>
        </p:nvSpPr>
        <p:spPr>
          <a:xfrm>
            <a:off x="548640" y="5394960"/>
            <a:ext cx="457200" cy="457200"/>
          </a:xfrm>
          <a:prstGeom prst="ellipse">
            <a:avLst/>
          </a:prstGeom>
          <a:solidFill>
            <a:schemeClr val="accent2"/>
          </a:solidFill>
          <a:ln w="12700">
            <a:solidFill>
              <a:schemeClr val="accent2"/>
            </a:solidFill>
            <a:prstDash val="solid"/>
          </a:ln>
        </p:spPr>
      </p:sp>
      <p:pic>
        <p:nvPicPr>
          <p:cNvPr id="40" name="icon-187" descr="preencoded.png">    </p:cNvPr>
          <p:cNvPicPr>
            <a:picLocks noChangeAspect="1"/>
          </p:cNvPicPr>
          <p:nvPr/>
        </p:nvPicPr>
        <p:blipFill>
          <a:blip r:embed="rId8"/>
          <a:stretch>
            <a:fillRect/>
          </a:stretch>
        </p:blipFill>
        <p:spPr>
          <a:xfrm>
            <a:off x="658368" y="5504688"/>
            <a:ext cx="237744" cy="237744"/>
          </a:xfrm>
          <a:prstGeom prst="rect">
            <a:avLst/>
          </a:prstGeom>
        </p:spPr>
      </p:pic>
      <p:sp>
        <p:nvSpPr>
          <p:cNvPr id="41" name="text-188"/>
          <p:cNvSpPr txBox="1"/>
          <p:nvPr/>
        </p:nvSpPr>
        <p:spPr>
          <a:xfrm>
            <a:off x="1188720" y="5394960"/>
            <a:ext cx="4754880" cy="457200"/>
          </a:xfrm>
          <a:prstGeom prst="rect">
            <a:avLst/>
          </a:prstGeom>
          <a:noFill/>
          <a:ln/>
        </p:spPr>
        <p:txBody>
          <a:bodyPr wrap="square" lIns="0" tIns="0" rIns="0" bIns="0" rtlCol="0" anchor="ctr"/>
          <a:lstStyle/>
          <a:p>
            <a:pPr indent="0" marL="0">
              <a:buNone/>
            </a:pPr>
            <a:r>
              <a:rPr lang="en-US" sz="1500" dirty="0">
                <a:solidFill>
                  <a:schemeClr val="tx1"/>
                </a:solidFill>
              </a:rPr>
              <a:t>Two proofreads before the client sees a draft</a:t>
            </a:r>
            <a:endParaRPr lang="en-US" sz="1500" dirty="0"/>
          </a:p>
        </p:txBody>
      </p:sp>
      <p:sp>
        <p:nvSpPr>
          <p:cNvPr id="42" name="icon-bg-189"/>
          <p:cNvSpPr/>
          <p:nvPr/>
        </p:nvSpPr>
        <p:spPr>
          <a:xfrm>
            <a:off x="6126480" y="5394960"/>
            <a:ext cx="457200" cy="457200"/>
          </a:xfrm>
          <a:prstGeom prst="ellipse">
            <a:avLst/>
          </a:prstGeom>
          <a:solidFill>
            <a:schemeClr val="accent2"/>
          </a:solidFill>
          <a:ln w="12700">
            <a:solidFill>
              <a:schemeClr val="accent2"/>
            </a:solidFill>
            <a:prstDash val="solid"/>
          </a:ln>
        </p:spPr>
      </p:sp>
      <p:pic>
        <p:nvPicPr>
          <p:cNvPr id="43" name="icon-190" descr="preencoded.png">    </p:cNvPr>
          <p:cNvPicPr>
            <a:picLocks noChangeAspect="1"/>
          </p:cNvPicPr>
          <p:nvPr/>
        </p:nvPicPr>
        <p:blipFill>
          <a:blip r:embed="rId9"/>
          <a:stretch>
            <a:fillRect/>
          </a:stretch>
        </p:blipFill>
        <p:spPr>
          <a:xfrm>
            <a:off x="6236208" y="5504688"/>
            <a:ext cx="237744" cy="237744"/>
          </a:xfrm>
          <a:prstGeom prst="rect">
            <a:avLst/>
          </a:prstGeom>
        </p:spPr>
      </p:pic>
      <p:sp>
        <p:nvSpPr>
          <p:cNvPr id="44" name="text-191"/>
          <p:cNvSpPr txBox="1"/>
          <p:nvPr/>
        </p:nvSpPr>
        <p:spPr>
          <a:xfrm>
            <a:off x="6766560" y="5394960"/>
            <a:ext cx="4754880" cy="457200"/>
          </a:xfrm>
          <a:prstGeom prst="rect">
            <a:avLst/>
          </a:prstGeom>
          <a:noFill/>
          <a:ln/>
        </p:spPr>
        <p:txBody>
          <a:bodyPr wrap="square" lIns="0" tIns="0" rIns="0" bIns="0" rtlCol="0" anchor="ctr"/>
          <a:lstStyle/>
          <a:p>
            <a:pPr indent="0" marL="0">
              <a:buNone/>
            </a:pPr>
            <a:r>
              <a:rPr lang="en-US" sz="1500" dirty="0">
                <a:solidFill>
                  <a:schemeClr val="tx1"/>
                </a:solidFill>
              </a:rPr>
              <a:t>Mistakes come down the same day, and we log why</a:t>
            </a:r>
            <a:endParaRPr lang="en-US" sz="15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What 20 requests a day turn into</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Monthly outreach funnel at full pace, once the account is warmed up. Our planning model.</a:t>
            </a:r>
            <a:endParaRPr lang="en-US" sz="1600" dirty="0"/>
          </a:p>
        </p:txBody>
      </p:sp>
      <p:graphicFrame>
        <p:nvGraphicFramePr>
          <p:cNvPr id="4" name="funnel-chart" descr=""/>
          <p:cNvGraphicFramePr/>
          <p:nvPr/>
        </p:nvGraphicFramePr>
        <p:xfrm>
          <a:off x="548640" y="1737360"/>
          <a:ext cx="6766560" cy="4389120"/>
        </p:xfrm>
        <a:graphic xmlns:a="http://schemas.openxmlformats.org/drawingml/2006/main">
          <a:graphicData uri="http://schemas.openxmlformats.org/drawingml/2006/chart">
            <c:chart xmlns:c="http://schemas.openxmlformats.org/drawingml/2006/chart" r:id="rId1"/>
          </a:graphicData>
        </a:graphic>
      </p:graphicFrame>
      <p:sp>
        <p:nvSpPr>
          <p:cNvPr id="5" name="card-192"/>
          <p:cNvSpPr/>
          <p:nvPr/>
        </p:nvSpPr>
        <p:spPr>
          <a:xfrm>
            <a:off x="7680960" y="1783080"/>
            <a:ext cx="3931920" cy="1280160"/>
          </a:xfrm>
          <a:prstGeom prst="roundRect">
            <a:avLst>
              <a:gd name="adj" fmla="val 5714"/>
            </a:avLst>
          </a:prstGeom>
          <a:solidFill>
            <a:schemeClr val="bg2"/>
          </a:solidFill>
          <a:ln w="12700">
            <a:solidFill>
              <a:schemeClr val="bg2"/>
            </a:solidFill>
            <a:prstDash val="solid"/>
          </a:ln>
        </p:spPr>
      </p:sp>
      <p:sp>
        <p:nvSpPr>
          <p:cNvPr id="6" name="text-193"/>
          <p:cNvSpPr txBox="1"/>
          <p:nvPr/>
        </p:nvSpPr>
        <p:spPr>
          <a:xfrm>
            <a:off x="7909560" y="1920240"/>
            <a:ext cx="1371600"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37%</a:t>
            </a:r>
            <a:endParaRPr lang="en-US" sz="3200" dirty="0"/>
          </a:p>
        </p:txBody>
      </p:sp>
      <p:sp>
        <p:nvSpPr>
          <p:cNvPr id="7" name="text-194"/>
          <p:cNvSpPr txBox="1"/>
          <p:nvPr/>
        </p:nvSpPr>
        <p:spPr>
          <a:xfrm>
            <a:off x="9281160" y="1920240"/>
            <a:ext cx="2194560" cy="640080"/>
          </a:xfrm>
          <a:prstGeom prst="rect">
            <a:avLst/>
          </a:prstGeom>
          <a:noFill/>
          <a:ln/>
        </p:spPr>
        <p:txBody>
          <a:bodyPr wrap="square" lIns="0" tIns="0" rIns="0" bIns="0" rtlCol="0" anchor="ctr"/>
          <a:lstStyle/>
          <a:p>
            <a:pPr indent="0" marL="0">
              <a:buNone/>
            </a:pPr>
            <a:r>
              <a:rPr lang="en-US" sz="1500" b="1" dirty="0">
                <a:solidFill>
                  <a:schemeClr val="tx1"/>
                </a:solidFill>
              </a:rPr>
              <a:t>accept</a:t>
            </a:r>
            <a:endParaRPr lang="en-US" sz="1500" dirty="0"/>
          </a:p>
        </p:txBody>
      </p:sp>
      <p:sp>
        <p:nvSpPr>
          <p:cNvPr id="8" name="text-195"/>
          <p:cNvSpPr txBox="1"/>
          <p:nvPr/>
        </p:nvSpPr>
        <p:spPr>
          <a:xfrm>
            <a:off x="7909560" y="2587752"/>
            <a:ext cx="3566160" cy="411480"/>
          </a:xfrm>
          <a:prstGeom prst="rect">
            <a:avLst/>
          </a:prstGeom>
          <a:noFill/>
          <a:ln/>
        </p:spPr>
        <p:txBody>
          <a:bodyPr wrap="square" lIns="0" tIns="0" rIns="0" bIns="0" rtlCol="0" anchor="t"/>
          <a:lstStyle/>
          <a:p>
            <a:pPr indent="0" marL="0">
              <a:buNone/>
            </a:pPr>
            <a:r>
              <a:rPr lang="en-US" sz="1300" dirty="0">
                <a:solidFill>
                  <a:schemeClr val="tx2"/>
                </a:solidFill>
              </a:rPr>
              <a:t>Warm contacts accept far more than cold</a:t>
            </a:r>
            <a:endParaRPr lang="en-US" sz="1300" dirty="0"/>
          </a:p>
        </p:txBody>
      </p:sp>
      <p:sp>
        <p:nvSpPr>
          <p:cNvPr id="9" name="card-196"/>
          <p:cNvSpPr/>
          <p:nvPr/>
        </p:nvSpPr>
        <p:spPr>
          <a:xfrm>
            <a:off x="7680960" y="3246120"/>
            <a:ext cx="3931920" cy="1280160"/>
          </a:xfrm>
          <a:prstGeom prst="roundRect">
            <a:avLst>
              <a:gd name="adj" fmla="val 5714"/>
            </a:avLst>
          </a:prstGeom>
          <a:solidFill>
            <a:schemeClr val="bg2"/>
          </a:solidFill>
          <a:ln w="12700">
            <a:solidFill>
              <a:schemeClr val="bg2"/>
            </a:solidFill>
            <a:prstDash val="solid"/>
          </a:ln>
        </p:spPr>
      </p:sp>
      <p:sp>
        <p:nvSpPr>
          <p:cNvPr id="10" name="text-197"/>
          <p:cNvSpPr txBox="1"/>
          <p:nvPr/>
        </p:nvSpPr>
        <p:spPr>
          <a:xfrm>
            <a:off x="7909560" y="3383280"/>
            <a:ext cx="1371600"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18%</a:t>
            </a:r>
            <a:endParaRPr lang="en-US" sz="3200" dirty="0"/>
          </a:p>
        </p:txBody>
      </p:sp>
      <p:sp>
        <p:nvSpPr>
          <p:cNvPr id="11" name="text-198"/>
          <p:cNvSpPr txBox="1"/>
          <p:nvPr/>
        </p:nvSpPr>
        <p:spPr>
          <a:xfrm>
            <a:off x="9281160" y="3383280"/>
            <a:ext cx="2194560" cy="640080"/>
          </a:xfrm>
          <a:prstGeom prst="rect">
            <a:avLst/>
          </a:prstGeom>
          <a:noFill/>
          <a:ln/>
        </p:spPr>
        <p:txBody>
          <a:bodyPr wrap="square" lIns="0" tIns="0" rIns="0" bIns="0" rtlCol="0" anchor="ctr"/>
          <a:lstStyle/>
          <a:p>
            <a:pPr indent="0" marL="0">
              <a:buNone/>
            </a:pPr>
            <a:r>
              <a:rPr lang="en-US" sz="1500" b="1" dirty="0">
                <a:solidFill>
                  <a:schemeClr val="tx1"/>
                </a:solidFill>
              </a:rPr>
              <a:t>of acceptors reply</a:t>
            </a:r>
            <a:endParaRPr lang="en-US" sz="1500" dirty="0"/>
          </a:p>
        </p:txBody>
      </p:sp>
      <p:sp>
        <p:nvSpPr>
          <p:cNvPr id="12" name="text-199"/>
          <p:cNvSpPr txBox="1"/>
          <p:nvPr/>
        </p:nvSpPr>
        <p:spPr>
          <a:xfrm>
            <a:off x="7909560" y="4050792"/>
            <a:ext cx="3566160" cy="411480"/>
          </a:xfrm>
          <a:prstGeom prst="rect">
            <a:avLst/>
          </a:prstGeom>
          <a:noFill/>
          <a:ln/>
        </p:spPr>
        <p:txBody>
          <a:bodyPr wrap="square" lIns="0" tIns="0" rIns="0" bIns="0" rtlCol="0" anchor="t"/>
          <a:lstStyle/>
          <a:p>
            <a:pPr indent="0" marL="0">
              <a:buNone/>
            </a:pPr>
            <a:r>
              <a:rPr lang="en-US" sz="1300" dirty="0">
                <a:solidFill>
                  <a:schemeClr val="tx2"/>
                </a:solidFill>
              </a:rPr>
              <a:t>Because every note names their trigger</a:t>
            </a:r>
            <a:endParaRPr lang="en-US" sz="1300" dirty="0"/>
          </a:p>
        </p:txBody>
      </p:sp>
      <p:sp>
        <p:nvSpPr>
          <p:cNvPr id="13" name="card-200"/>
          <p:cNvSpPr/>
          <p:nvPr/>
        </p:nvSpPr>
        <p:spPr>
          <a:xfrm>
            <a:off x="7680960" y="4709160"/>
            <a:ext cx="3931920" cy="1280160"/>
          </a:xfrm>
          <a:prstGeom prst="roundRect">
            <a:avLst>
              <a:gd name="adj" fmla="val 5714"/>
            </a:avLst>
          </a:prstGeom>
          <a:solidFill>
            <a:schemeClr val="bg2"/>
          </a:solidFill>
          <a:ln w="12700">
            <a:solidFill>
              <a:schemeClr val="bg2"/>
            </a:solidFill>
            <a:prstDash val="solid"/>
          </a:ln>
        </p:spPr>
      </p:sp>
      <p:sp>
        <p:nvSpPr>
          <p:cNvPr id="14" name="text-201"/>
          <p:cNvSpPr txBox="1"/>
          <p:nvPr/>
        </p:nvSpPr>
        <p:spPr>
          <a:xfrm>
            <a:off x="7909560" y="4846320"/>
            <a:ext cx="1371600"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30%</a:t>
            </a:r>
            <a:endParaRPr lang="en-US" sz="3200" dirty="0"/>
          </a:p>
        </p:txBody>
      </p:sp>
      <p:sp>
        <p:nvSpPr>
          <p:cNvPr id="15" name="text-202"/>
          <p:cNvSpPr txBox="1"/>
          <p:nvPr/>
        </p:nvSpPr>
        <p:spPr>
          <a:xfrm>
            <a:off x="9281160" y="4846320"/>
            <a:ext cx="2194560" cy="640080"/>
          </a:xfrm>
          <a:prstGeom prst="rect">
            <a:avLst/>
          </a:prstGeom>
          <a:noFill/>
          <a:ln/>
        </p:spPr>
        <p:txBody>
          <a:bodyPr wrap="square" lIns="0" tIns="0" rIns="0" bIns="0" rtlCol="0" anchor="ctr"/>
          <a:lstStyle/>
          <a:p>
            <a:pPr indent="0" marL="0">
              <a:buNone/>
            </a:pPr>
            <a:r>
              <a:rPr lang="en-US" sz="1500" b="1" dirty="0">
                <a:solidFill>
                  <a:schemeClr val="tx1"/>
                </a:solidFill>
              </a:rPr>
              <a:t>of replies book</a:t>
            </a:r>
            <a:endParaRPr lang="en-US" sz="1500" dirty="0"/>
          </a:p>
        </p:txBody>
      </p:sp>
      <p:sp>
        <p:nvSpPr>
          <p:cNvPr id="16" name="text-203"/>
          <p:cNvSpPr txBox="1"/>
          <p:nvPr/>
        </p:nvSpPr>
        <p:spPr>
          <a:xfrm>
            <a:off x="7909560" y="5513832"/>
            <a:ext cx="3566160" cy="411480"/>
          </a:xfrm>
          <a:prstGeom prst="rect">
            <a:avLst/>
          </a:prstGeom>
          <a:noFill/>
          <a:ln/>
        </p:spPr>
        <p:txBody>
          <a:bodyPr wrap="square" lIns="0" tIns="0" rIns="0" bIns="0" rtlCol="0" anchor="t"/>
          <a:lstStyle/>
          <a:p>
            <a:pPr indent="0" marL="0">
              <a:buNone/>
            </a:pPr>
            <a:r>
              <a:rPr lang="en-US" sz="1300" dirty="0">
                <a:solidFill>
                  <a:schemeClr val="tx2"/>
                </a:solidFill>
              </a:rPr>
              <a:t>No pitch in the first message, just a question</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The outcome: a pipeline that compounds</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Forecast for our consultancy client. Five lead sources, one inbox.</a:t>
            </a:r>
            <a:endParaRPr lang="en-US" sz="1600" dirty="0"/>
          </a:p>
        </p:txBody>
      </p:sp>
      <p:graphicFrame>
        <p:nvGraphicFramePr>
          <p:cNvPr id="4" name="leads-chart" descr=""/>
          <p:cNvGraphicFramePr/>
          <p:nvPr/>
        </p:nvGraphicFramePr>
        <p:xfrm>
          <a:off x="548640" y="173736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card-204"/>
          <p:cNvSpPr/>
          <p:nvPr/>
        </p:nvSpPr>
        <p:spPr>
          <a:xfrm>
            <a:off x="6949440" y="1783080"/>
            <a:ext cx="4663440" cy="960120"/>
          </a:xfrm>
          <a:prstGeom prst="roundRect">
            <a:avLst>
              <a:gd name="adj" fmla="val 7619"/>
            </a:avLst>
          </a:prstGeom>
          <a:solidFill>
            <a:schemeClr val="bg2"/>
          </a:solidFill>
          <a:ln w="12700">
            <a:solidFill>
              <a:schemeClr val="bg2"/>
            </a:solidFill>
            <a:prstDash val="solid"/>
          </a:ln>
        </p:spPr>
      </p:sp>
      <p:sp>
        <p:nvSpPr>
          <p:cNvPr id="6" name="text-205"/>
          <p:cNvSpPr txBox="1"/>
          <p:nvPr/>
        </p:nvSpPr>
        <p:spPr>
          <a:xfrm>
            <a:off x="7178040" y="1783080"/>
            <a:ext cx="1188720" cy="9601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100</a:t>
            </a:r>
            <a:endParaRPr lang="en-US" sz="3000" dirty="0"/>
          </a:p>
        </p:txBody>
      </p:sp>
      <p:sp>
        <p:nvSpPr>
          <p:cNvPr id="7" name="text-206"/>
          <p:cNvSpPr txBox="1"/>
          <p:nvPr/>
        </p:nvSpPr>
        <p:spPr>
          <a:xfrm>
            <a:off x="8412480" y="1783080"/>
            <a:ext cx="3108960" cy="960120"/>
          </a:xfrm>
          <a:prstGeom prst="rect">
            <a:avLst/>
          </a:prstGeom>
          <a:noFill/>
          <a:ln/>
        </p:spPr>
        <p:txBody>
          <a:bodyPr wrap="square" lIns="0" tIns="0" rIns="0" bIns="0" rtlCol="0" anchor="ctr"/>
          <a:lstStyle/>
          <a:p>
            <a:pPr indent="0" marL="0">
              <a:buNone/>
            </a:pPr>
            <a:r>
              <a:rPr lang="en-US" sz="1500" dirty="0">
                <a:solidFill>
                  <a:schemeClr val="tx1"/>
                </a:solidFill>
              </a:rPr>
              <a:t>qualified leads a month</a:t>
            </a:r>
            <a:endParaRPr lang="en-US" sz="1500" dirty="0"/>
          </a:p>
        </p:txBody>
      </p:sp>
      <p:sp>
        <p:nvSpPr>
          <p:cNvPr id="8" name="card-207"/>
          <p:cNvSpPr/>
          <p:nvPr/>
        </p:nvSpPr>
        <p:spPr>
          <a:xfrm>
            <a:off x="6949440" y="2926080"/>
            <a:ext cx="4663440" cy="960120"/>
          </a:xfrm>
          <a:prstGeom prst="roundRect">
            <a:avLst>
              <a:gd name="adj" fmla="val 7619"/>
            </a:avLst>
          </a:prstGeom>
          <a:solidFill>
            <a:schemeClr val="bg2"/>
          </a:solidFill>
          <a:ln w="12700">
            <a:solidFill>
              <a:schemeClr val="bg2"/>
            </a:solidFill>
            <a:prstDash val="solid"/>
          </a:ln>
        </p:spPr>
      </p:sp>
      <p:sp>
        <p:nvSpPr>
          <p:cNvPr id="9" name="text-208"/>
          <p:cNvSpPr txBox="1"/>
          <p:nvPr/>
        </p:nvSpPr>
        <p:spPr>
          <a:xfrm>
            <a:off x="7178040" y="2926080"/>
            <a:ext cx="1188720" cy="9601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10</a:t>
            </a:r>
            <a:endParaRPr lang="en-US" sz="3000" dirty="0"/>
          </a:p>
        </p:txBody>
      </p:sp>
      <p:sp>
        <p:nvSpPr>
          <p:cNvPr id="10" name="text-209"/>
          <p:cNvSpPr txBox="1"/>
          <p:nvPr/>
        </p:nvSpPr>
        <p:spPr>
          <a:xfrm>
            <a:off x="8412480" y="2926080"/>
            <a:ext cx="3108960" cy="960120"/>
          </a:xfrm>
          <a:prstGeom prst="rect">
            <a:avLst/>
          </a:prstGeom>
          <a:noFill/>
          <a:ln/>
        </p:spPr>
        <p:txBody>
          <a:bodyPr wrap="square" lIns="0" tIns="0" rIns="0" bIns="0" rtlCol="0" anchor="ctr"/>
          <a:lstStyle/>
          <a:p>
            <a:pPr indent="0" marL="0">
              <a:buNone/>
            </a:pPr>
            <a:r>
              <a:rPr lang="en-US" sz="1500" dirty="0">
                <a:solidFill>
                  <a:schemeClr val="tx1"/>
                </a:solidFill>
              </a:rPr>
              <a:t>worth pursuing: real buyer calls</a:t>
            </a:r>
            <a:endParaRPr lang="en-US" sz="1500" dirty="0"/>
          </a:p>
        </p:txBody>
      </p:sp>
      <p:sp>
        <p:nvSpPr>
          <p:cNvPr id="11" name="card-210"/>
          <p:cNvSpPr/>
          <p:nvPr/>
        </p:nvSpPr>
        <p:spPr>
          <a:xfrm>
            <a:off x="6949440" y="4069080"/>
            <a:ext cx="4663440" cy="960120"/>
          </a:xfrm>
          <a:prstGeom prst="roundRect">
            <a:avLst>
              <a:gd name="adj" fmla="val 7619"/>
            </a:avLst>
          </a:prstGeom>
          <a:solidFill>
            <a:schemeClr val="bg2"/>
          </a:solidFill>
          <a:ln w="12700">
            <a:solidFill>
              <a:schemeClr val="bg2"/>
            </a:solidFill>
            <a:prstDash val="solid"/>
          </a:ln>
        </p:spPr>
      </p:sp>
      <p:sp>
        <p:nvSpPr>
          <p:cNvPr id="12" name="text-211"/>
          <p:cNvSpPr txBox="1"/>
          <p:nvPr/>
        </p:nvSpPr>
        <p:spPr>
          <a:xfrm>
            <a:off x="7178040" y="4069080"/>
            <a:ext cx="1188720" cy="9601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2–3</a:t>
            </a:r>
            <a:endParaRPr lang="en-US" sz="3000" dirty="0"/>
          </a:p>
        </p:txBody>
      </p:sp>
      <p:sp>
        <p:nvSpPr>
          <p:cNvPr id="13" name="text-212"/>
          <p:cNvSpPr txBox="1"/>
          <p:nvPr/>
        </p:nvSpPr>
        <p:spPr>
          <a:xfrm>
            <a:off x="8412480" y="4069080"/>
            <a:ext cx="3108960" cy="960120"/>
          </a:xfrm>
          <a:prstGeom prst="rect">
            <a:avLst/>
          </a:prstGeom>
          <a:noFill/>
          <a:ln/>
        </p:spPr>
        <p:txBody>
          <a:bodyPr wrap="square" lIns="0" tIns="0" rIns="0" bIns="0" rtlCol="0" anchor="ctr"/>
          <a:lstStyle/>
          <a:p>
            <a:pPr indent="0" marL="0">
              <a:buNone/>
            </a:pPr>
            <a:r>
              <a:rPr lang="en-US" sz="1500" dirty="0">
                <a:solidFill>
                  <a:schemeClr val="tx1"/>
                </a:solidFill>
              </a:rPr>
              <a:t>paying clients</a:t>
            </a:r>
            <a:endParaRPr lang="en-US" sz="1500" dirty="0"/>
          </a:p>
        </p:txBody>
      </p:sp>
      <p:sp>
        <p:nvSpPr>
          <p:cNvPr id="14" name="card-213"/>
          <p:cNvSpPr/>
          <p:nvPr/>
        </p:nvSpPr>
        <p:spPr>
          <a:xfrm>
            <a:off x="6949440" y="5257800"/>
            <a:ext cx="4663440" cy="868680"/>
          </a:xfrm>
          <a:prstGeom prst="roundRect">
            <a:avLst>
              <a:gd name="adj" fmla="val 8421"/>
            </a:avLst>
          </a:prstGeom>
          <a:solidFill>
            <a:schemeClr val="tx2"/>
          </a:solidFill>
          <a:ln w="12700">
            <a:solidFill>
              <a:schemeClr val="tx2"/>
            </a:solidFill>
            <a:prstDash val="solid"/>
          </a:ln>
        </p:spPr>
      </p:sp>
      <p:sp>
        <p:nvSpPr>
          <p:cNvPr id="15" name="text-214"/>
          <p:cNvSpPr txBox="1"/>
          <p:nvPr/>
        </p:nvSpPr>
        <p:spPr>
          <a:xfrm>
            <a:off x="7178040" y="5257800"/>
            <a:ext cx="4206240" cy="868680"/>
          </a:xfrm>
          <a:prstGeom prst="rect">
            <a:avLst/>
          </a:prstGeom>
          <a:noFill/>
          <a:ln/>
        </p:spPr>
        <p:txBody>
          <a:bodyPr wrap="square" lIns="0" tIns="0" rIns="0" bIns="0" rtlCol="0" anchor="ctr"/>
          <a:lstStyle/>
          <a:p>
            <a:pPr indent="0" marL="0">
              <a:buNone/>
            </a:pPr>
            <a:r>
              <a:rPr lang="en-US" sz="1400" dirty="0">
                <a:solidFill>
                  <a:schemeClr val="bg2"/>
                </a:solidFill>
              </a:rPr>
              <a:t>Big-ticket sales take 6–12 months. The first win usually lands in months 6–12.</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The commercials</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One monthly fee. Every tool, subscription and hosting cost included.</a:t>
            </a:r>
            <a:endParaRPr lang="en-US" sz="1600" dirty="0"/>
          </a:p>
        </p:txBody>
      </p:sp>
      <p:sp>
        <p:nvSpPr>
          <p:cNvPr id="4" name="card-215"/>
          <p:cNvSpPr/>
          <p:nvPr/>
        </p:nvSpPr>
        <p:spPr>
          <a:xfrm>
            <a:off x="548640" y="1783080"/>
            <a:ext cx="2331720" cy="2286000"/>
          </a:xfrm>
          <a:prstGeom prst="roundRect">
            <a:avLst>
              <a:gd name="adj" fmla="val 3200"/>
            </a:avLst>
          </a:prstGeom>
          <a:solidFill>
            <a:schemeClr val="tx2"/>
          </a:solidFill>
          <a:ln w="12700">
            <a:solidFill>
              <a:schemeClr val="tx2"/>
            </a:solidFill>
            <a:prstDash val="solid"/>
          </a:ln>
        </p:spPr>
      </p:sp>
      <p:sp>
        <p:nvSpPr>
          <p:cNvPr id="5" name="text-216"/>
          <p:cNvSpPr txBox="1"/>
          <p:nvPr/>
        </p:nvSpPr>
        <p:spPr>
          <a:xfrm>
            <a:off x="777240" y="1965960"/>
            <a:ext cx="1920240" cy="731520"/>
          </a:xfrm>
          <a:prstGeom prst="rect">
            <a:avLst/>
          </a:prstGeom>
          <a:noFill/>
          <a:ln/>
        </p:spPr>
        <p:txBody>
          <a:bodyPr wrap="square" lIns="0" tIns="0" rIns="0" bIns="0" rtlCol="0" anchor="t"/>
          <a:lstStyle/>
          <a:p>
            <a:pPr indent="0" marL="0">
              <a:buNone/>
            </a:pPr>
            <a:r>
              <a:rPr lang="en-US" sz="3400" b="1" dirty="0">
                <a:solidFill>
                  <a:schemeClr val="bg2"/>
                </a:solidFill>
                <a:latin typeface="Cambria" pitchFamily="34" charset="0"/>
                <a:ea typeface="Cambria" pitchFamily="34" charset="-122"/>
                <a:cs typeface="Cambria" pitchFamily="34" charset="-120"/>
              </a:rPr>
              <a:t>£2,500</a:t>
            </a:r>
            <a:endParaRPr lang="en-US" sz="3400" dirty="0"/>
          </a:p>
        </p:txBody>
      </p:sp>
      <p:sp>
        <p:nvSpPr>
          <p:cNvPr id="6" name="text-217"/>
          <p:cNvSpPr txBox="1"/>
          <p:nvPr/>
        </p:nvSpPr>
        <p:spPr>
          <a:xfrm>
            <a:off x="777240" y="269748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a month</a:t>
            </a:r>
            <a:endParaRPr lang="en-US" sz="1400" dirty="0"/>
          </a:p>
        </p:txBody>
      </p:sp>
      <p:sp>
        <p:nvSpPr>
          <p:cNvPr id="7" name="text-218"/>
          <p:cNvSpPr txBox="1"/>
          <p:nvPr/>
        </p:nvSpPr>
        <p:spPr>
          <a:xfrm>
            <a:off x="777240" y="3108960"/>
            <a:ext cx="1920240" cy="868680"/>
          </a:xfrm>
          <a:prstGeom prst="rect">
            <a:avLst/>
          </a:prstGeom>
          <a:noFill/>
          <a:ln/>
        </p:spPr>
        <p:txBody>
          <a:bodyPr wrap="square" lIns="0" tIns="0" rIns="0" bIns="0" rtlCol="0" anchor="t"/>
          <a:lstStyle/>
          <a:p>
            <a:pPr indent="0" marL="0">
              <a:buNone/>
            </a:pPr>
            <a:r>
              <a:rPr lang="en-US" sz="1300" dirty="0">
                <a:solidFill>
                  <a:schemeClr val="accent4"/>
                </a:solidFill>
              </a:rPr>
              <a:t>Standard fee, from month four</a:t>
            </a:r>
            <a:endParaRPr lang="en-US" sz="1300" dirty="0"/>
          </a:p>
        </p:txBody>
      </p:sp>
      <p:sp>
        <p:nvSpPr>
          <p:cNvPr id="8" name="card-219"/>
          <p:cNvSpPr/>
          <p:nvPr/>
        </p:nvSpPr>
        <p:spPr>
          <a:xfrm>
            <a:off x="3063240" y="1783080"/>
            <a:ext cx="2331720" cy="2286000"/>
          </a:xfrm>
          <a:prstGeom prst="roundRect">
            <a:avLst>
              <a:gd name="adj" fmla="val 3200"/>
            </a:avLst>
          </a:prstGeom>
          <a:solidFill>
            <a:schemeClr val="bg2"/>
          </a:solidFill>
          <a:ln w="12700">
            <a:solidFill>
              <a:schemeClr val="bg2"/>
            </a:solidFill>
            <a:prstDash val="solid"/>
          </a:ln>
        </p:spPr>
      </p:sp>
      <p:sp>
        <p:nvSpPr>
          <p:cNvPr id="9" name="text-220"/>
          <p:cNvSpPr txBox="1"/>
          <p:nvPr/>
        </p:nvSpPr>
        <p:spPr>
          <a:xfrm>
            <a:off x="3291840" y="1965960"/>
            <a:ext cx="192024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£1,500</a:t>
            </a:r>
            <a:endParaRPr lang="en-US" sz="3400" dirty="0"/>
          </a:p>
        </p:txBody>
      </p:sp>
      <p:sp>
        <p:nvSpPr>
          <p:cNvPr id="10" name="text-221"/>
          <p:cNvSpPr txBox="1"/>
          <p:nvPr/>
        </p:nvSpPr>
        <p:spPr>
          <a:xfrm>
            <a:off x="3291840" y="2697480"/>
            <a:ext cx="1920240" cy="365760"/>
          </a:xfrm>
          <a:prstGeom prst="rect">
            <a:avLst/>
          </a:prstGeom>
          <a:noFill/>
          <a:ln/>
        </p:spPr>
        <p:txBody>
          <a:bodyPr wrap="square" lIns="0" tIns="0" rIns="0" bIns="0" rtlCol="0" anchor="t"/>
          <a:lstStyle/>
          <a:p>
            <a:pPr indent="0" marL="0">
              <a:buNone/>
            </a:pPr>
            <a:r>
              <a:rPr lang="en-US" sz="1400" b="1" dirty="0">
                <a:solidFill>
                  <a:schemeClr val="tx1"/>
                </a:solidFill>
              </a:rPr>
              <a:t>month one</a:t>
            </a:r>
            <a:endParaRPr lang="en-US" sz="1400" dirty="0"/>
          </a:p>
        </p:txBody>
      </p:sp>
      <p:sp>
        <p:nvSpPr>
          <p:cNvPr id="11" name="text-222"/>
          <p:cNvSpPr txBox="1"/>
          <p:nvPr/>
        </p:nvSpPr>
        <p:spPr>
          <a:xfrm>
            <a:off x="3291840" y="3108960"/>
            <a:ext cx="1920240" cy="868680"/>
          </a:xfrm>
          <a:prstGeom prst="rect">
            <a:avLst/>
          </a:prstGeom>
          <a:noFill/>
          <a:ln/>
        </p:spPr>
        <p:txBody>
          <a:bodyPr wrap="square" lIns="0" tIns="0" rIns="0" bIns="0" rtlCol="0" anchor="t"/>
          <a:lstStyle/>
          <a:p>
            <a:pPr indent="0" marL="0">
              <a:buNone/>
            </a:pPr>
            <a:r>
              <a:rPr lang="en-US" sz="1300" dirty="0">
                <a:solidFill>
                  <a:schemeClr val="tx2"/>
                </a:solidFill>
              </a:rPr>
              <a:t>Founding rate: set-up, voice interview, website build</a:t>
            </a:r>
            <a:endParaRPr lang="en-US" sz="1300" dirty="0"/>
          </a:p>
        </p:txBody>
      </p:sp>
      <p:sp>
        <p:nvSpPr>
          <p:cNvPr id="12" name="card-223"/>
          <p:cNvSpPr/>
          <p:nvPr/>
        </p:nvSpPr>
        <p:spPr>
          <a:xfrm>
            <a:off x="5577840" y="1783080"/>
            <a:ext cx="2331720" cy="2286000"/>
          </a:xfrm>
          <a:prstGeom prst="roundRect">
            <a:avLst>
              <a:gd name="adj" fmla="val 3200"/>
            </a:avLst>
          </a:prstGeom>
          <a:solidFill>
            <a:schemeClr val="bg2"/>
          </a:solidFill>
          <a:ln w="12700">
            <a:solidFill>
              <a:schemeClr val="bg2"/>
            </a:solidFill>
            <a:prstDash val="solid"/>
          </a:ln>
        </p:spPr>
      </p:sp>
      <p:sp>
        <p:nvSpPr>
          <p:cNvPr id="13" name="text-224"/>
          <p:cNvSpPr txBox="1"/>
          <p:nvPr/>
        </p:nvSpPr>
        <p:spPr>
          <a:xfrm>
            <a:off x="5806440" y="1965960"/>
            <a:ext cx="192024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£1,200</a:t>
            </a:r>
            <a:endParaRPr lang="en-US" sz="3400" dirty="0"/>
          </a:p>
        </p:txBody>
      </p:sp>
      <p:sp>
        <p:nvSpPr>
          <p:cNvPr id="14" name="text-225"/>
          <p:cNvSpPr txBox="1"/>
          <p:nvPr/>
        </p:nvSpPr>
        <p:spPr>
          <a:xfrm>
            <a:off x="5806440" y="2697480"/>
            <a:ext cx="1920240" cy="365760"/>
          </a:xfrm>
          <a:prstGeom prst="rect">
            <a:avLst/>
          </a:prstGeom>
          <a:noFill/>
          <a:ln/>
        </p:spPr>
        <p:txBody>
          <a:bodyPr wrap="square" lIns="0" tIns="0" rIns="0" bIns="0" rtlCol="0" anchor="t"/>
          <a:lstStyle/>
          <a:p>
            <a:pPr indent="0" marL="0">
              <a:buNone/>
            </a:pPr>
            <a:r>
              <a:rPr lang="en-US" sz="1400" b="1" dirty="0">
                <a:solidFill>
                  <a:schemeClr val="tx1"/>
                </a:solidFill>
              </a:rPr>
              <a:t>months two and three</a:t>
            </a:r>
            <a:endParaRPr lang="en-US" sz="1400" dirty="0"/>
          </a:p>
        </p:txBody>
      </p:sp>
      <p:sp>
        <p:nvSpPr>
          <p:cNvPr id="15" name="text-226"/>
          <p:cNvSpPr txBox="1"/>
          <p:nvPr/>
        </p:nvSpPr>
        <p:spPr>
          <a:xfrm>
            <a:off x="5806440" y="3108960"/>
            <a:ext cx="1920240" cy="868680"/>
          </a:xfrm>
          <a:prstGeom prst="rect">
            <a:avLst/>
          </a:prstGeom>
          <a:noFill/>
          <a:ln/>
        </p:spPr>
        <p:txBody>
          <a:bodyPr wrap="square" lIns="0" tIns="0" rIns="0" bIns="0" rtlCol="0" anchor="t"/>
          <a:lstStyle/>
          <a:p>
            <a:pPr indent="0" marL="0">
              <a:buNone/>
            </a:pPr>
            <a:r>
              <a:rPr lang="en-US" sz="1300" dirty="0">
                <a:solidFill>
                  <a:schemeClr val="tx2"/>
                </a:solidFill>
              </a:rPr>
              <a:t>Founding rate: delivery and weekly call</a:t>
            </a:r>
            <a:endParaRPr lang="en-US" sz="1300" dirty="0"/>
          </a:p>
        </p:txBody>
      </p:sp>
      <p:sp>
        <p:nvSpPr>
          <p:cNvPr id="16" name="card-227"/>
          <p:cNvSpPr/>
          <p:nvPr/>
        </p:nvSpPr>
        <p:spPr>
          <a:xfrm>
            <a:off x="548640" y="4297680"/>
            <a:ext cx="7269480" cy="1828800"/>
          </a:xfrm>
          <a:prstGeom prst="roundRect">
            <a:avLst>
              <a:gd name="adj" fmla="val 4000"/>
            </a:avLst>
          </a:prstGeom>
          <a:solidFill>
            <a:schemeClr val="bg2"/>
          </a:solidFill>
          <a:ln w="12700">
            <a:solidFill>
              <a:schemeClr val="bg2"/>
            </a:solidFill>
            <a:prstDash val="solid"/>
          </a:ln>
        </p:spPr>
      </p:sp>
      <p:sp>
        <p:nvSpPr>
          <p:cNvPr id="17" name="icon-bg-228"/>
          <p:cNvSpPr/>
          <p:nvPr/>
        </p:nvSpPr>
        <p:spPr>
          <a:xfrm>
            <a:off x="777240" y="4526280"/>
            <a:ext cx="548640" cy="548640"/>
          </a:xfrm>
          <a:prstGeom prst="ellipse">
            <a:avLst/>
          </a:prstGeom>
          <a:solidFill>
            <a:schemeClr val="accent1"/>
          </a:solidFill>
          <a:ln w="12700">
            <a:solidFill>
              <a:schemeClr val="accent1"/>
            </a:solidFill>
            <a:prstDash val="solid"/>
          </a:ln>
        </p:spPr>
      </p:sp>
      <p:pic>
        <p:nvPicPr>
          <p:cNvPr id="18" name="icon-229" descr="preencoded.png">    </p:cNvPr>
          <p:cNvPicPr>
            <a:picLocks noChangeAspect="1"/>
          </p:cNvPicPr>
          <p:nvPr/>
        </p:nvPicPr>
        <p:blipFill>
          <a:blip r:embed="rId1"/>
          <a:stretch>
            <a:fillRect/>
          </a:stretch>
        </p:blipFill>
        <p:spPr>
          <a:xfrm>
            <a:off x="908914" y="4657954"/>
            <a:ext cx="285293" cy="285293"/>
          </a:xfrm>
          <a:prstGeom prst="rect">
            <a:avLst/>
          </a:prstGeom>
        </p:spPr>
      </p:pic>
      <p:sp>
        <p:nvSpPr>
          <p:cNvPr id="19" name="text-230"/>
          <p:cNvSpPr txBox="1"/>
          <p:nvPr/>
        </p:nvSpPr>
        <p:spPr>
          <a:xfrm>
            <a:off x="1508760" y="4553712"/>
            <a:ext cx="594360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Our accountability</a:t>
            </a:r>
            <a:endParaRPr lang="en-US" sz="1700" dirty="0"/>
          </a:p>
        </p:txBody>
      </p:sp>
      <p:sp>
        <p:nvSpPr>
          <p:cNvPr id="20" name="text-231"/>
          <p:cNvSpPr txBox="1"/>
          <p:nvPr/>
        </p:nvSpPr>
        <p:spPr>
          <a:xfrm>
            <a:off x="1508760" y="4983480"/>
            <a:ext cx="6126480" cy="1051560"/>
          </a:xfrm>
          <a:prstGeom prst="rect">
            <a:avLst/>
          </a:prstGeom>
          <a:noFill/>
          <a:ln/>
        </p:spPr>
        <p:txBody>
          <a:bodyPr wrap="square" lIns="0" tIns="0" rIns="0" bIns="0" rtlCol="0" anchor="t"/>
          <a:lstStyle/>
          <a:p>
            <a:pPr indent="0" marL="0">
              <a:buNone/>
            </a:pPr>
            <a:r>
              <a:rPr lang="en-US" sz="1400" dirty="0">
                <a:solidFill>
                  <a:schemeClr val="tx2"/>
                </a:solidFill>
              </a:rPr>
              <a:t>At day 60 we review the numbers together. If we’re behind, we agree a written fix plan, or the client gives 30 days’ notice and leaves before the standard fee starts.</a:t>
            </a:r>
            <a:endParaRPr lang="en-US" sz="1400" dirty="0"/>
          </a:p>
        </p:txBody>
      </p:sp>
      <p:graphicFrame>
        <p:nvGraphicFramePr>
          <p:cNvPr id="17" name="table-232"/>
          <p:cNvGraphicFramePr>
            <a:graphicFrameLocks noGrp="1"/>
          </p:cNvGraphicFramePr>
          <p:nvPr>
            <p:extLst>
              <p:ext uri="{D42A27DB-BD31-4B8C-83A1-F6EECF244321}">
                <p14:modId xmlns:p14="http://schemas.microsoft.com/office/powerpoint/2010/main" val="1579011935"/>
              </p:ext>
            </p:extLst>
          </p:nvPr>
        </p:nvGraphicFramePr>
        <p:xfrm>
          <a:off x="8092440" y="1783080"/>
          <a:ext cx="3520440" cy="914400"/>
        </p:xfrm>
        <a:graphic>
          <a:graphicData uri="http://schemas.openxmlformats.org/drawingml/2006/table">
            <a:tbl>
              <a:tblPr/>
              <a:tblGrid>
                <a:gridCol w="1600200"/>
                <a:gridCol w="914400"/>
                <a:gridCol w="1005840"/>
              </a:tblGrid>
              <a:tr h="548640">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If year one brings…</a:t>
                      </a:r>
                      <a:endParaRPr lang="en-US" sz="1400" dirty="0">
                        <a:latin typeface="Cambria" charset="0"/>
                        <a:ea typeface="Cambria" charset="0"/>
                        <a:cs typeface="Cambria" charset="0"/>
                      </a:endParaRPr>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Worth</a:t>
                      </a:r>
                      <a:endParaRPr lang="en-US" sz="1400" dirty="0">
                        <a:latin typeface="Cambria" charset="0"/>
                        <a:ea typeface="Cambria" charset="0"/>
                        <a:cs typeface="Cambria" charset="0"/>
                      </a:endParaRPr>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2"/>
                          </a:solidFill>
                          <a:latin typeface="Cambria" pitchFamily="34" charset="0"/>
                          <a:ea typeface="Cambria" pitchFamily="34" charset="-122"/>
                          <a:cs typeface="Cambria" pitchFamily="34" charset="-120"/>
                        </a:rPr>
                        <a:t>Return on profit</a:t>
                      </a:r>
                      <a:endParaRPr lang="en-US" sz="1400" dirty="0">
                        <a:latin typeface="Cambria" charset="0"/>
                        <a:ea typeface="Cambria" charset="0"/>
                        <a:cs typeface="Cambria" charset="0"/>
                      </a:endParaRPr>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tx2"/>
                    </a:solidFill>
                  </a:tcPr>
                </a:tc>
              </a:tr>
              <a:tr h="685800">
                <a:tc>
                  <a:txBody>
                    <a:bodyPr/>
                    <a:lstStyle/>
                    <a:p>
                      <a:pPr indent="0" marL="0">
                        <a:buNone/>
                      </a:pPr>
                      <a:r>
                        <a:rPr lang="en-US" sz="1350" dirty="0">
                          <a:solidFill>
                            <a:schemeClr val="tx1"/>
                          </a:solidFill>
                        </a:rPr>
                        <a:t>One small advisory piece</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£50,000</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 0.9×</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685800">
                <a:tc>
                  <a:txBody>
                    <a:bodyPr/>
                    <a:lstStyle/>
                    <a:p>
                      <a:pPr indent="0" marL="0">
                        <a:buNone/>
                      </a:pPr>
                      <a:r>
                        <a:rPr lang="en-US" sz="1350" dirty="0">
                          <a:solidFill>
                            <a:schemeClr val="tx1"/>
                          </a:solidFill>
                        </a:rPr>
                        <a:t>One mid-size engagement</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£150,000</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b="1" dirty="0">
                          <a:solidFill>
                            <a:schemeClr val="tx1"/>
                          </a:solidFill>
                        </a:rPr>
                        <a:t>≈ 2.8×</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r h="685800">
                <a:tc>
                  <a:txBody>
                    <a:bodyPr/>
                    <a:lstStyle/>
                    <a:p>
                      <a:pPr indent="0" marL="0">
                        <a:buNone/>
                      </a:pPr>
                      <a:r>
                        <a:rPr lang="en-US" sz="1350" dirty="0">
                          <a:solidFill>
                            <a:schemeClr val="tx1"/>
                          </a:solidFill>
                        </a:rPr>
                        <a:t>Two engagements</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£500,000+</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c>
                  <a:txBody>
                    <a:bodyPr/>
                    <a:lstStyle/>
                    <a:p>
                      <a:pPr indent="0" marL="0">
                        <a:buNone/>
                      </a:pPr>
                      <a:r>
                        <a:rPr lang="en-US" sz="1350" b="1" dirty="0">
                          <a:solidFill>
                            <a:schemeClr val="tx1"/>
                          </a:solidFill>
                        </a:rPr>
                        <a:t>≈ 9.5×</a:t>
                      </a:r>
                      <a:endParaRPr lang="en-US" sz="1350" dirty="0"/>
                    </a:p>
                  </a:txBody>
                  <a:tcPr marL="73152" marR="73152" marT="54864" marB="54864" anchor="ctr">
                    <a:lnL w="9525" cap="flat" cmpd="sng" algn="ctr">
                      <a:solidFill>
                        <a:srgbClr val="C6DE9F"/>
                      </a:solidFill>
                      <a:prstDash val="solid"/>
                      <a:round/>
                      <a:headEnd type="none" w="med" len="med"/>
                      <a:tailEnd type="none" w="med" len="med"/>
                    </a:lnL>
                    <a:lnR w="9525" cap="flat" cmpd="sng" algn="ctr">
                      <a:solidFill>
                        <a:srgbClr val="C6DE9F"/>
                      </a:solidFill>
                      <a:prstDash val="solid"/>
                      <a:round/>
                      <a:headEnd type="none" w="med" len="med"/>
                      <a:tailEnd type="none" w="med" len="med"/>
                    </a:lnR>
                    <a:lnT w="9525" cap="flat" cmpd="sng" algn="ctr">
                      <a:solidFill>
                        <a:srgbClr val="C6DE9F"/>
                      </a:solidFill>
                      <a:prstDash val="solid"/>
                      <a:round/>
                      <a:headEnd type="none" w="med" len="med"/>
                      <a:tailEnd type="none" w="med" len="med"/>
                    </a:lnT>
                    <a:lnB w="9525" cap="flat" cmpd="sng" algn="ctr">
                      <a:solidFill>
                        <a:srgbClr val="C6DE9F"/>
                      </a:solidFill>
                      <a:prstDash val="solid"/>
                      <a:round/>
                      <a:headEnd type="none" w="med" len="med"/>
                      <a:tailEnd type="none" w="med" len="med"/>
                    </a:lnB>
                    <a:solidFill>
                      <a:schemeClr val="bg1"/>
                    </a:solidFill>
                  </a:tcPr>
                </a:tc>
              </a:tr>
            </a:tbl>
          </a:graphicData>
        </a:graphic>
      </p:graphicFrame>
      <p:sp>
        <p:nvSpPr>
          <p:cNvPr id="22" name="text-233"/>
          <p:cNvSpPr txBox="1"/>
          <p:nvPr/>
        </p:nvSpPr>
        <p:spPr>
          <a:xfrm>
            <a:off x="8092440" y="4572000"/>
            <a:ext cx="3520440" cy="914400"/>
          </a:xfrm>
          <a:prstGeom prst="rect">
            <a:avLst/>
          </a:prstGeom>
          <a:noFill/>
          <a:ln/>
        </p:spPr>
        <p:txBody>
          <a:bodyPr wrap="square" lIns="0" tIns="0" rIns="0" bIns="0" rtlCol="0" anchor="t"/>
          <a:lstStyle/>
          <a:p>
            <a:pPr indent="0" marL="0">
              <a:buNone/>
            </a:pPr>
            <a:r>
              <a:rPr lang="en-US" sz="1200" i="1" dirty="0">
                <a:solidFill>
                  <a:schemeClr val="accent5"/>
                </a:solidFill>
              </a:rPr>
              <a:t>Year-one fee £26,400. Return assumes a 50% margin after delivery. Illustrative.</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What we take care of, so the client doesn’t worry</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The things that could go wrong, and what we do about each one.</a:t>
            </a:r>
            <a:endParaRPr lang="en-US" sz="1600" dirty="0"/>
          </a:p>
        </p:txBody>
      </p:sp>
      <p:sp>
        <p:nvSpPr>
          <p:cNvPr id="4" name="card-234"/>
          <p:cNvSpPr/>
          <p:nvPr/>
        </p:nvSpPr>
        <p:spPr>
          <a:xfrm>
            <a:off x="548640" y="1783080"/>
            <a:ext cx="3520440" cy="2011680"/>
          </a:xfrm>
          <a:prstGeom prst="roundRect">
            <a:avLst>
              <a:gd name="adj" fmla="val 3636"/>
            </a:avLst>
          </a:prstGeom>
          <a:solidFill>
            <a:schemeClr val="bg2"/>
          </a:solidFill>
          <a:ln w="12700">
            <a:solidFill>
              <a:schemeClr val="bg2"/>
            </a:solidFill>
            <a:prstDash val="solid"/>
          </a:ln>
        </p:spPr>
      </p:sp>
      <p:sp>
        <p:nvSpPr>
          <p:cNvPr id="5" name="icon-bg-235"/>
          <p:cNvSpPr/>
          <p:nvPr/>
        </p:nvSpPr>
        <p:spPr>
          <a:xfrm>
            <a:off x="822960" y="2057400"/>
            <a:ext cx="548640" cy="548640"/>
          </a:xfrm>
          <a:prstGeom prst="ellipse">
            <a:avLst/>
          </a:prstGeom>
          <a:solidFill>
            <a:schemeClr val="accent1"/>
          </a:solidFill>
          <a:ln w="12700">
            <a:solidFill>
              <a:schemeClr val="accent1"/>
            </a:solidFill>
            <a:prstDash val="solid"/>
          </a:ln>
        </p:spPr>
      </p:sp>
      <p:pic>
        <p:nvPicPr>
          <p:cNvPr id="6" name="icon-236" descr="preencoded.png">    </p:cNvPr>
          <p:cNvPicPr>
            <a:picLocks noChangeAspect="1"/>
          </p:cNvPicPr>
          <p:nvPr/>
        </p:nvPicPr>
        <p:blipFill>
          <a:blip r:embed="rId1"/>
          <a:stretch>
            <a:fillRect/>
          </a:stretch>
        </p:blipFill>
        <p:spPr>
          <a:xfrm>
            <a:off x="954634" y="2189074"/>
            <a:ext cx="285293" cy="285293"/>
          </a:xfrm>
          <a:prstGeom prst="rect">
            <a:avLst/>
          </a:prstGeom>
        </p:spPr>
      </p:pic>
      <p:sp>
        <p:nvSpPr>
          <p:cNvPr id="7" name="text-237"/>
          <p:cNvSpPr txBox="1"/>
          <p:nvPr/>
        </p:nvSpPr>
        <p:spPr>
          <a:xfrm>
            <a:off x="155448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Their LinkedIn account</a:t>
            </a:r>
            <a:endParaRPr lang="en-US" sz="1700" dirty="0"/>
          </a:p>
        </p:txBody>
      </p:sp>
      <p:sp>
        <p:nvSpPr>
          <p:cNvPr id="8" name="text-238"/>
          <p:cNvSpPr txBox="1"/>
          <p:nvPr/>
        </p:nvSpPr>
        <p:spPr>
          <a:xfrm>
            <a:off x="822960" y="2743200"/>
            <a:ext cx="3017520" cy="960120"/>
          </a:xfrm>
          <a:prstGeom prst="rect">
            <a:avLst/>
          </a:prstGeom>
          <a:noFill/>
          <a:ln/>
        </p:spPr>
        <p:txBody>
          <a:bodyPr wrap="square" lIns="0" tIns="0" rIns="0" bIns="0" rtlCol="0" anchor="t"/>
          <a:lstStyle/>
          <a:p>
            <a:pPr indent="0" marL="0">
              <a:buNone/>
            </a:pPr>
            <a:r>
              <a:rPr lang="en-US" sz="1400" dirty="0">
                <a:solidFill>
                  <a:schemeClr val="tx2"/>
                </a:solidFill>
              </a:rPr>
              <a:t>Human pace, slow warm-up, a UK address. Always well under daily limits.</a:t>
            </a:r>
            <a:endParaRPr lang="en-US" sz="1400" dirty="0"/>
          </a:p>
        </p:txBody>
      </p:sp>
      <p:sp>
        <p:nvSpPr>
          <p:cNvPr id="9" name="card-239"/>
          <p:cNvSpPr/>
          <p:nvPr/>
        </p:nvSpPr>
        <p:spPr>
          <a:xfrm>
            <a:off x="4297680" y="1783080"/>
            <a:ext cx="3520440" cy="2011680"/>
          </a:xfrm>
          <a:prstGeom prst="roundRect">
            <a:avLst>
              <a:gd name="adj" fmla="val 3636"/>
            </a:avLst>
          </a:prstGeom>
          <a:solidFill>
            <a:schemeClr val="bg2"/>
          </a:solidFill>
          <a:ln w="12700">
            <a:solidFill>
              <a:schemeClr val="bg2"/>
            </a:solidFill>
            <a:prstDash val="solid"/>
          </a:ln>
        </p:spPr>
      </p:sp>
      <p:sp>
        <p:nvSpPr>
          <p:cNvPr id="10" name="icon-bg-240"/>
          <p:cNvSpPr/>
          <p:nvPr/>
        </p:nvSpPr>
        <p:spPr>
          <a:xfrm>
            <a:off x="4572000" y="2057400"/>
            <a:ext cx="548640" cy="548640"/>
          </a:xfrm>
          <a:prstGeom prst="ellipse">
            <a:avLst/>
          </a:prstGeom>
          <a:solidFill>
            <a:schemeClr val="accent1"/>
          </a:solidFill>
          <a:ln w="12700">
            <a:solidFill>
              <a:schemeClr val="accent1"/>
            </a:solidFill>
            <a:prstDash val="solid"/>
          </a:ln>
        </p:spPr>
      </p:sp>
      <p:pic>
        <p:nvPicPr>
          <p:cNvPr id="11" name="icon-241" descr="preencoded.png">    </p:cNvPr>
          <p:cNvPicPr>
            <a:picLocks noChangeAspect="1"/>
          </p:cNvPicPr>
          <p:nvPr/>
        </p:nvPicPr>
        <p:blipFill>
          <a:blip r:embed="rId2"/>
          <a:stretch>
            <a:fillRect/>
          </a:stretch>
        </p:blipFill>
        <p:spPr>
          <a:xfrm>
            <a:off x="4703674" y="2189074"/>
            <a:ext cx="285293" cy="285293"/>
          </a:xfrm>
          <a:prstGeom prst="rect">
            <a:avLst/>
          </a:prstGeom>
        </p:spPr>
      </p:pic>
      <p:sp>
        <p:nvSpPr>
          <p:cNvPr id="12" name="text-242"/>
          <p:cNvSpPr txBox="1"/>
          <p:nvPr/>
        </p:nvSpPr>
        <p:spPr>
          <a:xfrm>
            <a:off x="530352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Their clients and NDA</a:t>
            </a:r>
            <a:endParaRPr lang="en-US" sz="1700" dirty="0"/>
          </a:p>
        </p:txBody>
      </p:sp>
      <p:sp>
        <p:nvSpPr>
          <p:cNvPr id="13" name="text-243"/>
          <p:cNvSpPr txBox="1"/>
          <p:nvPr/>
        </p:nvSpPr>
        <p:spPr>
          <a:xfrm>
            <a:off x="4572000" y="2743200"/>
            <a:ext cx="3017520" cy="960120"/>
          </a:xfrm>
          <a:prstGeom prst="rect">
            <a:avLst/>
          </a:prstGeom>
          <a:noFill/>
          <a:ln/>
        </p:spPr>
        <p:txBody>
          <a:bodyPr wrap="square" lIns="0" tIns="0" rIns="0" bIns="0" rtlCol="0" anchor="t"/>
          <a:lstStyle/>
          <a:p>
            <a:pPr indent="0" marL="0">
              <a:buNone/>
            </a:pPr>
            <a:r>
              <a:rPr lang="en-US" sz="1400" dirty="0">
                <a:solidFill>
                  <a:schemeClr val="tx2"/>
                </a:solidFill>
              </a:rPr>
              <a:t>Named only with written permission. NDA and a data processing agreement before we start.</a:t>
            </a:r>
            <a:endParaRPr lang="en-US" sz="1400" dirty="0"/>
          </a:p>
        </p:txBody>
      </p:sp>
      <p:sp>
        <p:nvSpPr>
          <p:cNvPr id="14" name="card-244"/>
          <p:cNvSpPr/>
          <p:nvPr/>
        </p:nvSpPr>
        <p:spPr>
          <a:xfrm>
            <a:off x="8046720" y="1783080"/>
            <a:ext cx="3520440" cy="2011680"/>
          </a:xfrm>
          <a:prstGeom prst="roundRect">
            <a:avLst>
              <a:gd name="adj" fmla="val 3636"/>
            </a:avLst>
          </a:prstGeom>
          <a:solidFill>
            <a:schemeClr val="bg2"/>
          </a:solidFill>
          <a:ln w="12700">
            <a:solidFill>
              <a:schemeClr val="bg2"/>
            </a:solidFill>
            <a:prstDash val="solid"/>
          </a:ln>
        </p:spPr>
      </p:sp>
      <p:sp>
        <p:nvSpPr>
          <p:cNvPr id="15" name="icon-bg-245"/>
          <p:cNvSpPr/>
          <p:nvPr/>
        </p:nvSpPr>
        <p:spPr>
          <a:xfrm>
            <a:off x="8321040" y="2057400"/>
            <a:ext cx="548640" cy="548640"/>
          </a:xfrm>
          <a:prstGeom prst="ellipse">
            <a:avLst/>
          </a:prstGeom>
          <a:solidFill>
            <a:schemeClr val="accent1"/>
          </a:solidFill>
          <a:ln w="12700">
            <a:solidFill>
              <a:schemeClr val="accent1"/>
            </a:solidFill>
            <a:prstDash val="solid"/>
          </a:ln>
        </p:spPr>
      </p:sp>
      <p:pic>
        <p:nvPicPr>
          <p:cNvPr id="16" name="icon-246" descr="preencoded.png">    </p:cNvPr>
          <p:cNvPicPr>
            <a:picLocks noChangeAspect="1"/>
          </p:cNvPicPr>
          <p:nvPr/>
        </p:nvPicPr>
        <p:blipFill>
          <a:blip r:embed="rId3"/>
          <a:stretch>
            <a:fillRect/>
          </a:stretch>
        </p:blipFill>
        <p:spPr>
          <a:xfrm>
            <a:off x="8452714" y="2189074"/>
            <a:ext cx="285293" cy="285293"/>
          </a:xfrm>
          <a:prstGeom prst="rect">
            <a:avLst/>
          </a:prstGeom>
        </p:spPr>
      </p:pic>
      <p:sp>
        <p:nvSpPr>
          <p:cNvPr id="17" name="text-247"/>
          <p:cNvSpPr txBox="1"/>
          <p:nvPr/>
        </p:nvSpPr>
        <p:spPr>
          <a:xfrm>
            <a:off x="9052560" y="213055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Mistakes</a:t>
            </a:r>
            <a:endParaRPr lang="en-US" sz="1700" dirty="0"/>
          </a:p>
        </p:txBody>
      </p:sp>
      <p:sp>
        <p:nvSpPr>
          <p:cNvPr id="18" name="text-248"/>
          <p:cNvSpPr txBox="1"/>
          <p:nvPr/>
        </p:nvSpPr>
        <p:spPr>
          <a:xfrm>
            <a:off x="8321040" y="2743200"/>
            <a:ext cx="3017520" cy="960120"/>
          </a:xfrm>
          <a:prstGeom prst="rect">
            <a:avLst/>
          </a:prstGeom>
          <a:noFill/>
          <a:ln/>
        </p:spPr>
        <p:txBody>
          <a:bodyPr wrap="square" lIns="0" tIns="0" rIns="0" bIns="0" rtlCol="0" anchor="t"/>
          <a:lstStyle/>
          <a:p>
            <a:pPr indent="0" marL="0">
              <a:buNone/>
            </a:pPr>
            <a:r>
              <a:rPr lang="en-US" sz="1400" dirty="0">
                <a:solidFill>
                  <a:schemeClr val="tx2"/>
                </a:solidFill>
              </a:rPr>
              <a:t>Anything wrong comes down the same day, gets fixed, and the cause is logged.</a:t>
            </a:r>
            <a:endParaRPr lang="en-US" sz="1400" dirty="0"/>
          </a:p>
        </p:txBody>
      </p:sp>
      <p:sp>
        <p:nvSpPr>
          <p:cNvPr id="19" name="card-249"/>
          <p:cNvSpPr/>
          <p:nvPr/>
        </p:nvSpPr>
        <p:spPr>
          <a:xfrm>
            <a:off x="548640" y="3977640"/>
            <a:ext cx="3520440" cy="2011680"/>
          </a:xfrm>
          <a:prstGeom prst="roundRect">
            <a:avLst>
              <a:gd name="adj" fmla="val 3636"/>
            </a:avLst>
          </a:prstGeom>
          <a:solidFill>
            <a:schemeClr val="bg2"/>
          </a:solidFill>
          <a:ln w="12700">
            <a:solidFill>
              <a:schemeClr val="bg2"/>
            </a:solidFill>
            <a:prstDash val="solid"/>
          </a:ln>
        </p:spPr>
      </p:sp>
      <p:sp>
        <p:nvSpPr>
          <p:cNvPr id="20" name="icon-bg-250"/>
          <p:cNvSpPr/>
          <p:nvPr/>
        </p:nvSpPr>
        <p:spPr>
          <a:xfrm>
            <a:off x="822960" y="4251960"/>
            <a:ext cx="548640" cy="548640"/>
          </a:xfrm>
          <a:prstGeom prst="ellipse">
            <a:avLst/>
          </a:prstGeom>
          <a:solidFill>
            <a:schemeClr val="accent1"/>
          </a:solidFill>
          <a:ln w="12700">
            <a:solidFill>
              <a:schemeClr val="accent1"/>
            </a:solidFill>
            <a:prstDash val="solid"/>
          </a:ln>
        </p:spPr>
      </p:sp>
      <p:pic>
        <p:nvPicPr>
          <p:cNvPr id="21" name="icon-251" descr="preencoded.png">    </p:cNvPr>
          <p:cNvPicPr>
            <a:picLocks noChangeAspect="1"/>
          </p:cNvPicPr>
          <p:nvPr/>
        </p:nvPicPr>
        <p:blipFill>
          <a:blip r:embed="rId4"/>
          <a:stretch>
            <a:fillRect/>
          </a:stretch>
        </p:blipFill>
        <p:spPr>
          <a:xfrm>
            <a:off x="954634" y="4383634"/>
            <a:ext cx="285293" cy="285293"/>
          </a:xfrm>
          <a:prstGeom prst="rect">
            <a:avLst/>
          </a:prstGeom>
        </p:spPr>
      </p:pic>
      <p:sp>
        <p:nvSpPr>
          <p:cNvPr id="22" name="text-252"/>
          <p:cNvSpPr txBox="1"/>
          <p:nvPr/>
        </p:nvSpPr>
        <p:spPr>
          <a:xfrm>
            <a:off x="1554480" y="432511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Their brand</a:t>
            </a:r>
            <a:endParaRPr lang="en-US" sz="1700" dirty="0"/>
          </a:p>
        </p:txBody>
      </p:sp>
      <p:sp>
        <p:nvSpPr>
          <p:cNvPr id="23" name="text-253"/>
          <p:cNvSpPr txBox="1"/>
          <p:nvPr/>
        </p:nvSpPr>
        <p:spPr>
          <a:xfrm>
            <a:off x="822960" y="4937760"/>
            <a:ext cx="3017520" cy="960120"/>
          </a:xfrm>
          <a:prstGeom prst="rect">
            <a:avLst/>
          </a:prstGeom>
          <a:noFill/>
          <a:ln/>
        </p:spPr>
        <p:txBody>
          <a:bodyPr wrap="square" lIns="0" tIns="0" rIns="0" bIns="0" rtlCol="0" anchor="t"/>
          <a:lstStyle/>
          <a:p>
            <a:pPr indent="0" marL="0">
              <a:buNone/>
            </a:pPr>
            <a:r>
              <a:rPr lang="en-US" sz="1400" dirty="0">
                <a:solidFill>
                  <a:schemeClr val="tx2"/>
                </a:solidFill>
              </a:rPr>
              <a:t>One name, one location, one story, everywhere, from week one.</a:t>
            </a:r>
            <a:endParaRPr lang="en-US" sz="1400" dirty="0"/>
          </a:p>
        </p:txBody>
      </p:sp>
      <p:sp>
        <p:nvSpPr>
          <p:cNvPr id="24" name="card-254"/>
          <p:cNvSpPr/>
          <p:nvPr/>
        </p:nvSpPr>
        <p:spPr>
          <a:xfrm>
            <a:off x="4297680" y="3977640"/>
            <a:ext cx="3520440" cy="2011680"/>
          </a:xfrm>
          <a:prstGeom prst="roundRect">
            <a:avLst>
              <a:gd name="adj" fmla="val 3636"/>
            </a:avLst>
          </a:prstGeom>
          <a:solidFill>
            <a:schemeClr val="bg2"/>
          </a:solidFill>
          <a:ln w="12700">
            <a:solidFill>
              <a:schemeClr val="bg2"/>
            </a:solidFill>
            <a:prstDash val="solid"/>
          </a:ln>
        </p:spPr>
      </p:sp>
      <p:sp>
        <p:nvSpPr>
          <p:cNvPr id="25" name="icon-bg-255"/>
          <p:cNvSpPr/>
          <p:nvPr/>
        </p:nvSpPr>
        <p:spPr>
          <a:xfrm>
            <a:off x="4572000" y="4251960"/>
            <a:ext cx="548640" cy="548640"/>
          </a:xfrm>
          <a:prstGeom prst="ellipse">
            <a:avLst/>
          </a:prstGeom>
          <a:solidFill>
            <a:schemeClr val="accent1"/>
          </a:solidFill>
          <a:ln w="12700">
            <a:solidFill>
              <a:schemeClr val="accent1"/>
            </a:solidFill>
            <a:prstDash val="solid"/>
          </a:ln>
        </p:spPr>
      </p:sp>
      <p:pic>
        <p:nvPicPr>
          <p:cNvPr id="26" name="icon-256" descr="preencoded.png">    </p:cNvPr>
          <p:cNvPicPr>
            <a:picLocks noChangeAspect="1"/>
          </p:cNvPicPr>
          <p:nvPr/>
        </p:nvPicPr>
        <p:blipFill>
          <a:blip r:embed="rId5"/>
          <a:stretch>
            <a:fillRect/>
          </a:stretch>
        </p:blipFill>
        <p:spPr>
          <a:xfrm>
            <a:off x="4703674" y="4383634"/>
            <a:ext cx="285293" cy="285293"/>
          </a:xfrm>
          <a:prstGeom prst="rect">
            <a:avLst/>
          </a:prstGeom>
        </p:spPr>
      </p:pic>
      <p:sp>
        <p:nvSpPr>
          <p:cNvPr id="27" name="text-257"/>
          <p:cNvSpPr txBox="1"/>
          <p:nvPr/>
        </p:nvSpPr>
        <p:spPr>
          <a:xfrm>
            <a:off x="5303520" y="432511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Their data</a:t>
            </a:r>
            <a:endParaRPr lang="en-US" sz="1700" dirty="0"/>
          </a:p>
        </p:txBody>
      </p:sp>
      <p:sp>
        <p:nvSpPr>
          <p:cNvPr id="28" name="text-258"/>
          <p:cNvSpPr txBox="1"/>
          <p:nvPr/>
        </p:nvSpPr>
        <p:spPr>
          <a:xfrm>
            <a:off x="4572000" y="4937760"/>
            <a:ext cx="3017520" cy="960120"/>
          </a:xfrm>
          <a:prstGeom prst="rect">
            <a:avLst/>
          </a:prstGeom>
          <a:noFill/>
          <a:ln/>
        </p:spPr>
        <p:txBody>
          <a:bodyPr wrap="square" lIns="0" tIns="0" rIns="0" bIns="0" rtlCol="0" anchor="t"/>
          <a:lstStyle/>
          <a:p>
            <a:pPr indent="0" marL="0">
              <a:buNone/>
            </a:pPr>
            <a:r>
              <a:rPr lang="en-US" sz="1400" dirty="0">
                <a:solidFill>
                  <a:schemeClr val="tx2"/>
                </a:solidFill>
              </a:rPr>
              <a:t>Confidential detail is stripped from notes before drafting. Accounts and content are handed back if we stop.</a:t>
            </a:r>
            <a:endParaRPr lang="en-US" sz="1400" dirty="0"/>
          </a:p>
        </p:txBody>
      </p:sp>
      <p:sp>
        <p:nvSpPr>
          <p:cNvPr id="29" name="card-259"/>
          <p:cNvSpPr/>
          <p:nvPr/>
        </p:nvSpPr>
        <p:spPr>
          <a:xfrm>
            <a:off x="8046720" y="3977640"/>
            <a:ext cx="3520440" cy="2011680"/>
          </a:xfrm>
          <a:prstGeom prst="roundRect">
            <a:avLst>
              <a:gd name="adj" fmla="val 3636"/>
            </a:avLst>
          </a:prstGeom>
          <a:solidFill>
            <a:schemeClr val="bg2"/>
          </a:solidFill>
          <a:ln w="12700">
            <a:solidFill>
              <a:schemeClr val="bg2"/>
            </a:solidFill>
            <a:prstDash val="solid"/>
          </a:ln>
        </p:spPr>
      </p:sp>
      <p:sp>
        <p:nvSpPr>
          <p:cNvPr id="30" name="icon-bg-260"/>
          <p:cNvSpPr/>
          <p:nvPr/>
        </p:nvSpPr>
        <p:spPr>
          <a:xfrm>
            <a:off x="8321040" y="4251960"/>
            <a:ext cx="548640" cy="548640"/>
          </a:xfrm>
          <a:prstGeom prst="ellipse">
            <a:avLst/>
          </a:prstGeom>
          <a:solidFill>
            <a:schemeClr val="accent1"/>
          </a:solidFill>
          <a:ln w="12700">
            <a:solidFill>
              <a:schemeClr val="accent1"/>
            </a:solidFill>
            <a:prstDash val="solid"/>
          </a:ln>
        </p:spPr>
      </p:sp>
      <p:pic>
        <p:nvPicPr>
          <p:cNvPr id="31" name="icon-261" descr="preencoded.png">    </p:cNvPr>
          <p:cNvPicPr>
            <a:picLocks noChangeAspect="1"/>
          </p:cNvPicPr>
          <p:nvPr/>
        </p:nvPicPr>
        <p:blipFill>
          <a:blip r:embed="rId6"/>
          <a:stretch>
            <a:fillRect/>
          </a:stretch>
        </p:blipFill>
        <p:spPr>
          <a:xfrm>
            <a:off x="8452714" y="4383634"/>
            <a:ext cx="285293" cy="285293"/>
          </a:xfrm>
          <a:prstGeom prst="rect">
            <a:avLst/>
          </a:prstGeom>
        </p:spPr>
      </p:pic>
      <p:sp>
        <p:nvSpPr>
          <p:cNvPr id="32" name="text-262"/>
          <p:cNvSpPr txBox="1"/>
          <p:nvPr/>
        </p:nvSpPr>
        <p:spPr>
          <a:xfrm>
            <a:off x="9052560" y="4325112"/>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Their audiences</a:t>
            </a:r>
            <a:endParaRPr lang="en-US" sz="1700" dirty="0"/>
          </a:p>
        </p:txBody>
      </p:sp>
      <p:sp>
        <p:nvSpPr>
          <p:cNvPr id="33" name="text-263"/>
          <p:cNvSpPr txBox="1"/>
          <p:nvPr/>
        </p:nvSpPr>
        <p:spPr>
          <a:xfrm>
            <a:off x="8321040" y="4937760"/>
            <a:ext cx="3017520" cy="960120"/>
          </a:xfrm>
          <a:prstGeom prst="rect">
            <a:avLst/>
          </a:prstGeom>
          <a:noFill/>
          <a:ln/>
        </p:spPr>
        <p:txBody>
          <a:bodyPr wrap="square" lIns="0" tIns="0" rIns="0" bIns="0" rtlCol="0" anchor="t"/>
          <a:lstStyle/>
          <a:p>
            <a:pPr indent="0" marL="0">
              <a:buNone/>
            </a:pPr>
            <a:r>
              <a:rPr lang="en-US" sz="1400" dirty="0">
                <a:solidFill>
                  <a:schemeClr val="tx2"/>
                </a:solidFill>
              </a:rPr>
              <a:t>Buyer and community content never share a post. A CFO should never feel sold a course.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2743200" cy="1097280"/>
          </a:xfrm>
          <a:prstGeom prst="rect">
            <a:avLst/>
          </a:prstGeom>
          <a:noFill/>
          <a:ln/>
        </p:spPr>
        <p:txBody>
          <a:bodyPr wrap="square" lIns="0" tIns="0" rIns="0" bIns="0" rtlCol="0" anchor="t"/>
          <a:lstStyle/>
          <a:p>
            <a:pPr indent="0" marL="0">
              <a:buNone/>
            </a:pPr>
            <a:r>
              <a:rPr lang="en-US" sz="6000" b="1" dirty="0">
                <a:solidFill>
                  <a:schemeClr val="accent3"/>
                </a:solidFill>
                <a:latin typeface="Cambria" pitchFamily="34" charset="0"/>
                <a:ea typeface="Cambria" pitchFamily="34" charset="-122"/>
                <a:cs typeface="Cambria" pitchFamily="34" charset="-120"/>
              </a:rPr>
              <a:t>03</a:t>
            </a:r>
            <a:endParaRPr lang="en-US" sz="6000" dirty="0"/>
          </a:p>
        </p:txBody>
      </p:sp>
      <p:sp>
        <p:nvSpPr>
          <p:cNvPr id="3" name="Text 0"/>
          <p:cNvSpPr/>
          <p:nvPr>
            <p:ph idx="101" type="title" hasCustomPrompt="1"/>
          </p:nvPr>
        </p:nvSpPr>
        <p:spPr>
          <a:xfrm>
            <a:off x="731520" y="2880360"/>
            <a:ext cx="10698480" cy="1005840"/>
          </a:xfrm>
          <a:prstGeom prst="rect">
            <a:avLst/>
          </a:prstGeom>
          <a:noFill/>
          <a:ln/>
        </p:spPr>
        <p:txBody>
          <a:bodyPr wrap="square" lIns="0" tIns="0" rIns="0" bIns="0" rtlCol="0" anchor="t"/>
          <a:lstStyle/>
          <a:p>
            <a:pPr algn="l" indent="0" marL="0">
              <a:buNone/>
            </a:pPr>
            <a:r>
              <a:rPr lang="en-US" sz="4000" b="1" dirty="0">
                <a:solidFill>
                  <a:schemeClr val="bg2"/>
                </a:solidFill>
                <a:latin typeface="Cambria" pitchFamily="34" charset="0"/>
                <a:ea typeface="Cambria" pitchFamily="34" charset="-122"/>
                <a:cs typeface="Cambria" pitchFamily="34" charset="-120"/>
              </a:rPr>
              <a:t>Where you come in</a:t>
            </a:r>
            <a:endParaRPr lang="en-US" sz="4000" dirty="0"/>
          </a:p>
        </p:txBody>
      </p:sp>
      <p:sp>
        <p:nvSpPr>
          <p:cNvPr id="4" name="Text 0"/>
          <p:cNvSpPr/>
          <p:nvPr>
            <p:ph idx="102" type="body" hasCustomPrompt="1"/>
          </p:nvPr>
        </p:nvSpPr>
        <p:spPr>
          <a:xfrm>
            <a:off x="731520" y="397764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Advise, guide and open doors, and how we make it worth your while.</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Three ways you can move the needle</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Working alongside us, not for us.</a:t>
            </a:r>
            <a:endParaRPr lang="en-US" sz="1600" dirty="0"/>
          </a:p>
        </p:txBody>
      </p:sp>
      <p:sp>
        <p:nvSpPr>
          <p:cNvPr id="4" name="card-264"/>
          <p:cNvSpPr/>
          <p:nvPr/>
        </p:nvSpPr>
        <p:spPr>
          <a:xfrm>
            <a:off x="548640" y="1783080"/>
            <a:ext cx="3520440" cy="4343400"/>
          </a:xfrm>
          <a:prstGeom prst="roundRect">
            <a:avLst>
              <a:gd name="adj" fmla="val 2078"/>
            </a:avLst>
          </a:prstGeom>
          <a:solidFill>
            <a:schemeClr val="bg2"/>
          </a:solidFill>
          <a:ln w="12700">
            <a:solidFill>
              <a:schemeClr val="bg2"/>
            </a:solidFill>
            <a:prstDash val="solid"/>
          </a:ln>
        </p:spPr>
      </p:sp>
      <p:sp>
        <p:nvSpPr>
          <p:cNvPr id="5" name="icon-bg-265"/>
          <p:cNvSpPr/>
          <p:nvPr/>
        </p:nvSpPr>
        <p:spPr>
          <a:xfrm>
            <a:off x="868680" y="2103120"/>
            <a:ext cx="777240" cy="777240"/>
          </a:xfrm>
          <a:prstGeom prst="ellipse">
            <a:avLst/>
          </a:prstGeom>
          <a:solidFill>
            <a:schemeClr val="accent1"/>
          </a:solidFill>
          <a:ln w="12700">
            <a:solidFill>
              <a:schemeClr val="accent1"/>
            </a:solidFill>
            <a:prstDash val="solid"/>
          </a:ln>
        </p:spPr>
      </p:sp>
      <p:pic>
        <p:nvPicPr>
          <p:cNvPr id="6" name="icon-266" descr="preencoded.png">    </p:cNvPr>
          <p:cNvPicPr>
            <a:picLocks noChangeAspect="1"/>
          </p:cNvPicPr>
          <p:nvPr/>
        </p:nvPicPr>
        <p:blipFill>
          <a:blip r:embed="rId1"/>
          <a:stretch>
            <a:fillRect/>
          </a:stretch>
        </p:blipFill>
        <p:spPr>
          <a:xfrm>
            <a:off x="1055218" y="2289658"/>
            <a:ext cx="404165" cy="404165"/>
          </a:xfrm>
          <a:prstGeom prst="rect">
            <a:avLst/>
          </a:prstGeom>
        </p:spPr>
      </p:pic>
      <p:sp>
        <p:nvSpPr>
          <p:cNvPr id="7" name="text-267"/>
          <p:cNvSpPr txBox="1"/>
          <p:nvPr/>
        </p:nvSpPr>
        <p:spPr>
          <a:xfrm>
            <a:off x="868680" y="3063240"/>
            <a:ext cx="2926080" cy="50292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Advise</a:t>
            </a:r>
            <a:endParaRPr lang="en-US" sz="2400" dirty="0"/>
          </a:p>
        </p:txBody>
      </p:sp>
      <p:sp>
        <p:nvSpPr>
          <p:cNvPr id="8" name="text-268"/>
          <p:cNvSpPr txBox="1"/>
          <p:nvPr/>
        </p:nvSpPr>
        <p:spPr>
          <a:xfrm>
            <a:off x="868680" y="3703320"/>
            <a:ext cx="2926080" cy="22860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Pressure-test the offer and pricing</a:t>
            </a:r>
            <a:endParaRPr lang="en-US" sz="1500" dirty="0"/>
          </a:p>
          <a:p>
            <a:pPr marL="342900" indent="-342900">
              <a:spcAft>
                <a:spcPts val="1000"/>
              </a:spcAft>
              <a:buSzPct val="100000"/>
              <a:buChar char="•"/>
            </a:pPr>
            <a:r>
              <a:rPr lang="en-US" sz="1500" dirty="0">
                <a:solidFill>
                  <a:schemeClr val="tx2"/>
                </a:solidFill>
              </a:rPr>
              <a:t>Sharpen how we explain outcomes to senior buyers</a:t>
            </a:r>
            <a:endParaRPr lang="en-US" sz="1500" dirty="0"/>
          </a:p>
          <a:p>
            <a:pPr marL="342900" indent="-342900">
              <a:spcAft>
                <a:spcPts val="1000"/>
              </a:spcAft>
              <a:buSzPct val="100000"/>
              <a:buChar char="•"/>
            </a:pPr>
            <a:r>
              <a:rPr lang="en-US" sz="1500" dirty="0">
                <a:solidFill>
                  <a:schemeClr val="tx2"/>
                </a:solidFill>
              </a:rPr>
              <a:t>Sit in on key pitches and debrief us</a:t>
            </a:r>
            <a:endParaRPr lang="en-US" sz="1500" dirty="0"/>
          </a:p>
        </p:txBody>
      </p:sp>
      <p:sp>
        <p:nvSpPr>
          <p:cNvPr id="9" name="card-269"/>
          <p:cNvSpPr/>
          <p:nvPr/>
        </p:nvSpPr>
        <p:spPr>
          <a:xfrm>
            <a:off x="4297680" y="1783080"/>
            <a:ext cx="3520440" cy="4343400"/>
          </a:xfrm>
          <a:prstGeom prst="roundRect">
            <a:avLst>
              <a:gd name="adj" fmla="val 2078"/>
            </a:avLst>
          </a:prstGeom>
          <a:solidFill>
            <a:schemeClr val="bg2"/>
          </a:solidFill>
          <a:ln w="12700">
            <a:solidFill>
              <a:schemeClr val="bg2"/>
            </a:solidFill>
            <a:prstDash val="solid"/>
          </a:ln>
        </p:spPr>
      </p:sp>
      <p:sp>
        <p:nvSpPr>
          <p:cNvPr id="10" name="icon-bg-270"/>
          <p:cNvSpPr/>
          <p:nvPr/>
        </p:nvSpPr>
        <p:spPr>
          <a:xfrm>
            <a:off x="4617720" y="2103120"/>
            <a:ext cx="777240" cy="777240"/>
          </a:xfrm>
          <a:prstGeom prst="ellipse">
            <a:avLst/>
          </a:prstGeom>
          <a:solidFill>
            <a:schemeClr val="accent1"/>
          </a:solidFill>
          <a:ln w="12700">
            <a:solidFill>
              <a:schemeClr val="accent1"/>
            </a:solidFill>
            <a:prstDash val="solid"/>
          </a:ln>
        </p:spPr>
      </p:sp>
      <p:pic>
        <p:nvPicPr>
          <p:cNvPr id="11" name="icon-271" descr="preencoded.png">    </p:cNvPr>
          <p:cNvPicPr>
            <a:picLocks noChangeAspect="1"/>
          </p:cNvPicPr>
          <p:nvPr/>
        </p:nvPicPr>
        <p:blipFill>
          <a:blip r:embed="rId2"/>
          <a:stretch>
            <a:fillRect/>
          </a:stretch>
        </p:blipFill>
        <p:spPr>
          <a:xfrm>
            <a:off x="4804258" y="2289658"/>
            <a:ext cx="404165" cy="404165"/>
          </a:xfrm>
          <a:prstGeom prst="rect">
            <a:avLst/>
          </a:prstGeom>
        </p:spPr>
      </p:pic>
      <p:sp>
        <p:nvSpPr>
          <p:cNvPr id="12" name="text-272"/>
          <p:cNvSpPr txBox="1"/>
          <p:nvPr/>
        </p:nvSpPr>
        <p:spPr>
          <a:xfrm>
            <a:off x="4617720" y="3063240"/>
            <a:ext cx="2926080" cy="50292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Guide</a:t>
            </a:r>
            <a:endParaRPr lang="en-US" sz="2400" dirty="0"/>
          </a:p>
        </p:txBody>
      </p:sp>
      <p:sp>
        <p:nvSpPr>
          <p:cNvPr id="13" name="text-273"/>
          <p:cNvSpPr txBox="1"/>
          <p:nvPr/>
        </p:nvSpPr>
        <p:spPr>
          <a:xfrm>
            <a:off x="4617720" y="3703320"/>
            <a:ext cx="2926080" cy="22860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Help us pick the one market to own first</a:t>
            </a:r>
            <a:endParaRPr lang="en-US" sz="1500" dirty="0"/>
          </a:p>
          <a:p>
            <a:pPr marL="342900" indent="-342900">
              <a:spcAft>
                <a:spcPts val="1000"/>
              </a:spcAft>
              <a:buSzPct val="100000"/>
              <a:buChar char="•"/>
            </a:pPr>
            <a:r>
              <a:rPr lang="en-US" sz="1500" dirty="0">
                <a:solidFill>
                  <a:schemeClr val="tx2"/>
                </a:solidFill>
              </a:rPr>
              <a:t>Tell us which proof your network would trust</a:t>
            </a:r>
            <a:endParaRPr lang="en-US" sz="1500" dirty="0"/>
          </a:p>
          <a:p>
            <a:pPr marL="342900" indent="-342900">
              <a:spcAft>
                <a:spcPts val="1000"/>
              </a:spcAft>
              <a:buSzPct val="100000"/>
              <a:buChar char="•"/>
            </a:pPr>
            <a:r>
              <a:rPr lang="en-US" sz="1500" dirty="0">
                <a:solidFill>
                  <a:schemeClr val="tx2"/>
                </a:solidFill>
              </a:rPr>
              <a:t>A monthly strategy hour with the founders</a:t>
            </a:r>
            <a:endParaRPr lang="en-US" sz="1500" dirty="0"/>
          </a:p>
        </p:txBody>
      </p:sp>
      <p:sp>
        <p:nvSpPr>
          <p:cNvPr id="14" name="card-274"/>
          <p:cNvSpPr/>
          <p:nvPr/>
        </p:nvSpPr>
        <p:spPr>
          <a:xfrm>
            <a:off x="8046720" y="1783080"/>
            <a:ext cx="3520440" cy="4343400"/>
          </a:xfrm>
          <a:prstGeom prst="roundRect">
            <a:avLst>
              <a:gd name="adj" fmla="val 2078"/>
            </a:avLst>
          </a:prstGeom>
          <a:solidFill>
            <a:schemeClr val="tx2"/>
          </a:solidFill>
          <a:ln w="12700">
            <a:solidFill>
              <a:schemeClr val="tx2"/>
            </a:solidFill>
            <a:prstDash val="solid"/>
          </a:ln>
        </p:spPr>
      </p:sp>
      <p:sp>
        <p:nvSpPr>
          <p:cNvPr id="15" name="icon-bg-275"/>
          <p:cNvSpPr/>
          <p:nvPr/>
        </p:nvSpPr>
        <p:spPr>
          <a:xfrm>
            <a:off x="8366760" y="2103120"/>
            <a:ext cx="777240" cy="777240"/>
          </a:xfrm>
          <a:prstGeom prst="ellipse">
            <a:avLst/>
          </a:prstGeom>
          <a:solidFill>
            <a:schemeClr val="accent2"/>
          </a:solidFill>
          <a:ln w="12700">
            <a:solidFill>
              <a:schemeClr val="accent2"/>
            </a:solidFill>
            <a:prstDash val="solid"/>
          </a:ln>
        </p:spPr>
      </p:sp>
      <p:pic>
        <p:nvPicPr>
          <p:cNvPr id="16" name="icon-276" descr="preencoded.png">    </p:cNvPr>
          <p:cNvPicPr>
            <a:picLocks noChangeAspect="1"/>
          </p:cNvPicPr>
          <p:nvPr/>
        </p:nvPicPr>
        <p:blipFill>
          <a:blip r:embed="rId3"/>
          <a:stretch>
            <a:fillRect/>
          </a:stretch>
        </p:blipFill>
        <p:spPr>
          <a:xfrm>
            <a:off x="8553298" y="2289658"/>
            <a:ext cx="404165" cy="404165"/>
          </a:xfrm>
          <a:prstGeom prst="rect">
            <a:avLst/>
          </a:prstGeom>
        </p:spPr>
      </p:pic>
      <p:sp>
        <p:nvSpPr>
          <p:cNvPr id="17" name="text-277"/>
          <p:cNvSpPr txBox="1"/>
          <p:nvPr/>
        </p:nvSpPr>
        <p:spPr>
          <a:xfrm>
            <a:off x="8366760" y="3063240"/>
            <a:ext cx="2926080" cy="502920"/>
          </a:xfrm>
          <a:prstGeom prst="rect">
            <a:avLst/>
          </a:prstGeom>
          <a:noFill/>
          <a:ln/>
        </p:spPr>
        <p:txBody>
          <a:bodyPr wrap="square" lIns="0" tIns="0" rIns="0" bIns="0" rtlCol="0" anchor="t"/>
          <a:lstStyle/>
          <a:p>
            <a:pPr indent="0" marL="0">
              <a:buNone/>
            </a:pPr>
            <a:r>
              <a:rPr lang="en-US" sz="2400" b="1" dirty="0">
                <a:solidFill>
                  <a:schemeClr val="bg2"/>
                </a:solidFill>
                <a:latin typeface="Cambria" pitchFamily="34" charset="0"/>
                <a:ea typeface="Cambria" pitchFamily="34" charset="-122"/>
                <a:cs typeface="Cambria" pitchFamily="34" charset="-120"/>
              </a:rPr>
              <a:t>Open doors</a:t>
            </a:r>
            <a:endParaRPr lang="en-US" sz="2400" dirty="0"/>
          </a:p>
        </p:txBody>
      </p:sp>
      <p:sp>
        <p:nvSpPr>
          <p:cNvPr id="18" name="text-278"/>
          <p:cNvSpPr txBox="1"/>
          <p:nvPr/>
        </p:nvSpPr>
        <p:spPr>
          <a:xfrm>
            <a:off x="8366760" y="3703320"/>
            <a:ext cx="2926080" cy="22860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4"/>
                </a:solidFill>
              </a:rPr>
              <a:t>Warm intros to founders and firms who fit</a:t>
            </a:r>
            <a:endParaRPr lang="en-US" sz="1500" dirty="0"/>
          </a:p>
          <a:p>
            <a:pPr marL="342900" indent="-342900">
              <a:spcAft>
                <a:spcPts val="1000"/>
              </a:spcAft>
              <a:buSzPct val="100000"/>
              <a:buChar char="•"/>
            </a:pPr>
            <a:r>
              <a:rPr lang="en-US" sz="1500" dirty="0">
                <a:solidFill>
                  <a:schemeClr val="accent4"/>
                </a:solidFill>
              </a:rPr>
              <a:t>Join first calls where your name helps</a:t>
            </a:r>
            <a:endParaRPr lang="en-US" sz="1500" dirty="0"/>
          </a:p>
          <a:p>
            <a:pPr marL="342900" indent="-342900">
              <a:spcAft>
                <a:spcPts val="1000"/>
              </a:spcAft>
              <a:buSzPct val="100000"/>
              <a:buChar char="•"/>
            </a:pPr>
            <a:r>
              <a:rPr lang="en-US" sz="1500" dirty="0">
                <a:solidFill>
                  <a:schemeClr val="accent4"/>
                </a:solidFill>
              </a:rPr>
              <a:t>Point us to the rooms and events that matter</a:t>
            </a:r>
            <a:endParaRPr lang="en-US" sz="15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Where we most need an outside view</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An honest read of our own gaps. These are the questions we’d bring to you first.</a:t>
            </a:r>
            <a:endParaRPr lang="en-US" sz="1600" dirty="0"/>
          </a:p>
        </p:txBody>
      </p:sp>
      <p:sp>
        <p:nvSpPr>
          <p:cNvPr id="4" name="card-279"/>
          <p:cNvSpPr/>
          <p:nvPr/>
        </p:nvSpPr>
        <p:spPr>
          <a:xfrm>
            <a:off x="548640" y="1783080"/>
            <a:ext cx="5349240" cy="2011680"/>
          </a:xfrm>
          <a:prstGeom prst="roundRect">
            <a:avLst>
              <a:gd name="adj" fmla="val 3636"/>
            </a:avLst>
          </a:prstGeom>
          <a:solidFill>
            <a:schemeClr val="bg2"/>
          </a:solidFill>
          <a:ln w="12700">
            <a:solidFill>
              <a:schemeClr val="bg2"/>
            </a:solidFill>
            <a:prstDash val="solid"/>
          </a:ln>
        </p:spPr>
      </p:sp>
      <p:sp>
        <p:nvSpPr>
          <p:cNvPr id="5" name="icon-bg-280"/>
          <p:cNvSpPr/>
          <p:nvPr/>
        </p:nvSpPr>
        <p:spPr>
          <a:xfrm>
            <a:off x="822960" y="2057400"/>
            <a:ext cx="548640" cy="548640"/>
          </a:xfrm>
          <a:prstGeom prst="ellipse">
            <a:avLst/>
          </a:prstGeom>
          <a:solidFill>
            <a:schemeClr val="accent1"/>
          </a:solidFill>
          <a:ln w="12700">
            <a:solidFill>
              <a:schemeClr val="accent1"/>
            </a:solidFill>
            <a:prstDash val="solid"/>
          </a:ln>
        </p:spPr>
      </p:sp>
      <p:pic>
        <p:nvPicPr>
          <p:cNvPr id="6" name="icon-281" descr="preencoded.png">    </p:cNvPr>
          <p:cNvPicPr>
            <a:picLocks noChangeAspect="1"/>
          </p:cNvPicPr>
          <p:nvPr/>
        </p:nvPicPr>
        <p:blipFill>
          <a:blip r:embed="rId1"/>
          <a:stretch>
            <a:fillRect/>
          </a:stretch>
        </p:blipFill>
        <p:spPr>
          <a:xfrm>
            <a:off x="954634" y="2189074"/>
            <a:ext cx="285293" cy="285293"/>
          </a:xfrm>
          <a:prstGeom prst="rect">
            <a:avLst/>
          </a:prstGeom>
        </p:spPr>
      </p:pic>
      <p:sp>
        <p:nvSpPr>
          <p:cNvPr id="7" name="text-282"/>
          <p:cNvSpPr txBox="1"/>
          <p:nvPr/>
        </p:nvSpPr>
        <p:spPr>
          <a:xfrm>
            <a:off x="1554480" y="2130552"/>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Proof</a:t>
            </a:r>
            <a:endParaRPr lang="en-US" sz="1800" dirty="0"/>
          </a:p>
        </p:txBody>
      </p:sp>
      <p:sp>
        <p:nvSpPr>
          <p:cNvPr id="8" name="text-283"/>
          <p:cNvSpPr txBox="1"/>
          <p:nvPr/>
        </p:nvSpPr>
        <p:spPr>
          <a:xfrm>
            <a:off x="822960" y="2697480"/>
            <a:ext cx="4846320" cy="640080"/>
          </a:xfrm>
          <a:prstGeom prst="rect">
            <a:avLst/>
          </a:prstGeom>
          <a:noFill/>
          <a:ln/>
        </p:spPr>
        <p:txBody>
          <a:bodyPr wrap="square" lIns="0" tIns="0" rIns="0" bIns="0" rtlCol="0" anchor="t"/>
          <a:lstStyle/>
          <a:p>
            <a:pPr indent="0" marL="0">
              <a:buNone/>
            </a:pPr>
            <a:r>
              <a:rPr lang="en-US" sz="1400" dirty="0">
                <a:solidFill>
                  <a:schemeClr val="tx2"/>
                </a:solidFill>
              </a:rPr>
              <a:t>No published case study with hard numbers yet. Our results are early and mostly forecasts.</a:t>
            </a:r>
            <a:endParaRPr lang="en-US" sz="1400" dirty="0"/>
          </a:p>
        </p:txBody>
      </p:sp>
      <p:sp>
        <p:nvSpPr>
          <p:cNvPr id="9" name="text-284"/>
          <p:cNvSpPr txBox="1"/>
          <p:nvPr/>
        </p:nvSpPr>
        <p:spPr>
          <a:xfrm>
            <a:off x="822960" y="3319272"/>
            <a:ext cx="4846320" cy="365760"/>
          </a:xfrm>
          <a:prstGeom prst="rect">
            <a:avLst/>
          </a:prstGeom>
          <a:noFill/>
          <a:ln/>
        </p:spPr>
        <p:txBody>
          <a:bodyPr wrap="square" lIns="0" tIns="0" rIns="0" bIns="0" rtlCol="0" anchor="t"/>
          <a:lstStyle/>
          <a:p>
            <a:pPr indent="0" marL="0">
              <a:buNone/>
            </a:pPr>
            <a:r>
              <a:rPr lang="en-US" sz="1400" b="1" i="1" dirty="0">
                <a:solidFill>
                  <a:schemeClr val="accent5"/>
                </a:solidFill>
              </a:rPr>
              <a:t>Which proof would your network trust first?</a:t>
            </a:r>
            <a:endParaRPr lang="en-US" sz="1400" dirty="0"/>
          </a:p>
        </p:txBody>
      </p:sp>
      <p:sp>
        <p:nvSpPr>
          <p:cNvPr id="10" name="card-285"/>
          <p:cNvSpPr/>
          <p:nvPr/>
        </p:nvSpPr>
        <p:spPr>
          <a:xfrm>
            <a:off x="6126480" y="1783080"/>
            <a:ext cx="5349240" cy="2011680"/>
          </a:xfrm>
          <a:prstGeom prst="roundRect">
            <a:avLst>
              <a:gd name="adj" fmla="val 3636"/>
            </a:avLst>
          </a:prstGeom>
          <a:solidFill>
            <a:schemeClr val="bg2"/>
          </a:solidFill>
          <a:ln w="12700">
            <a:solidFill>
              <a:schemeClr val="bg2"/>
            </a:solidFill>
            <a:prstDash val="solid"/>
          </a:ln>
        </p:spPr>
      </p:sp>
      <p:sp>
        <p:nvSpPr>
          <p:cNvPr id="11" name="icon-bg-286"/>
          <p:cNvSpPr/>
          <p:nvPr/>
        </p:nvSpPr>
        <p:spPr>
          <a:xfrm>
            <a:off x="6400800" y="2057400"/>
            <a:ext cx="548640" cy="548640"/>
          </a:xfrm>
          <a:prstGeom prst="ellipse">
            <a:avLst/>
          </a:prstGeom>
          <a:solidFill>
            <a:schemeClr val="accent1"/>
          </a:solidFill>
          <a:ln w="12700">
            <a:solidFill>
              <a:schemeClr val="accent1"/>
            </a:solidFill>
            <a:prstDash val="solid"/>
          </a:ln>
        </p:spPr>
      </p:sp>
      <p:pic>
        <p:nvPicPr>
          <p:cNvPr id="12" name="icon-287" descr="preencoded.png">    </p:cNvPr>
          <p:cNvPicPr>
            <a:picLocks noChangeAspect="1"/>
          </p:cNvPicPr>
          <p:nvPr/>
        </p:nvPicPr>
        <p:blipFill>
          <a:blip r:embed="rId2"/>
          <a:stretch>
            <a:fillRect/>
          </a:stretch>
        </p:blipFill>
        <p:spPr>
          <a:xfrm>
            <a:off x="6532474" y="2189074"/>
            <a:ext cx="285293" cy="285293"/>
          </a:xfrm>
          <a:prstGeom prst="rect">
            <a:avLst/>
          </a:prstGeom>
        </p:spPr>
      </p:pic>
      <p:sp>
        <p:nvSpPr>
          <p:cNvPr id="13" name="text-288"/>
          <p:cNvSpPr txBox="1"/>
          <p:nvPr/>
        </p:nvSpPr>
        <p:spPr>
          <a:xfrm>
            <a:off x="7132320" y="2130552"/>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Focus</a:t>
            </a:r>
            <a:endParaRPr lang="en-US" sz="1800" dirty="0"/>
          </a:p>
        </p:txBody>
      </p:sp>
      <p:sp>
        <p:nvSpPr>
          <p:cNvPr id="14" name="text-289"/>
          <p:cNvSpPr txBox="1"/>
          <p:nvPr/>
        </p:nvSpPr>
        <p:spPr>
          <a:xfrm>
            <a:off x="6400800" y="2697480"/>
            <a:ext cx="4846320" cy="640080"/>
          </a:xfrm>
          <a:prstGeom prst="rect">
            <a:avLst/>
          </a:prstGeom>
          <a:noFill/>
          <a:ln/>
        </p:spPr>
        <p:txBody>
          <a:bodyPr wrap="square" lIns="0" tIns="0" rIns="0" bIns="0" rtlCol="0" anchor="t"/>
          <a:lstStyle/>
          <a:p>
            <a:pPr indent="0" marL="0">
              <a:buNone/>
            </a:pPr>
            <a:r>
              <a:rPr lang="en-US" sz="1400" dirty="0">
                <a:solidFill>
                  <a:schemeClr val="tx2"/>
                </a:solidFill>
              </a:rPr>
              <a:t>Three very different markets so far: Amazon brands, SEO services, finance consulting.</a:t>
            </a:r>
            <a:endParaRPr lang="en-US" sz="1400" dirty="0"/>
          </a:p>
        </p:txBody>
      </p:sp>
      <p:sp>
        <p:nvSpPr>
          <p:cNvPr id="15" name="text-290"/>
          <p:cNvSpPr txBox="1"/>
          <p:nvPr/>
        </p:nvSpPr>
        <p:spPr>
          <a:xfrm>
            <a:off x="6400800" y="3319272"/>
            <a:ext cx="4846320" cy="365760"/>
          </a:xfrm>
          <a:prstGeom prst="rect">
            <a:avLst/>
          </a:prstGeom>
          <a:noFill/>
          <a:ln/>
        </p:spPr>
        <p:txBody>
          <a:bodyPr wrap="square" lIns="0" tIns="0" rIns="0" bIns="0" rtlCol="0" anchor="t"/>
          <a:lstStyle/>
          <a:p>
            <a:pPr indent="0" marL="0">
              <a:buNone/>
            </a:pPr>
            <a:r>
              <a:rPr lang="en-US" sz="1400" b="1" i="1" dirty="0">
                <a:solidFill>
                  <a:schemeClr val="accent5"/>
                </a:solidFill>
              </a:rPr>
              <a:t>Which one should we own, and which should we drop?</a:t>
            </a:r>
            <a:endParaRPr lang="en-US" sz="1400" dirty="0"/>
          </a:p>
        </p:txBody>
      </p:sp>
      <p:sp>
        <p:nvSpPr>
          <p:cNvPr id="16" name="card-291"/>
          <p:cNvSpPr/>
          <p:nvPr/>
        </p:nvSpPr>
        <p:spPr>
          <a:xfrm>
            <a:off x="548640" y="3977640"/>
            <a:ext cx="5349240" cy="2011680"/>
          </a:xfrm>
          <a:prstGeom prst="roundRect">
            <a:avLst>
              <a:gd name="adj" fmla="val 3636"/>
            </a:avLst>
          </a:prstGeom>
          <a:solidFill>
            <a:schemeClr val="bg2"/>
          </a:solidFill>
          <a:ln w="12700">
            <a:solidFill>
              <a:schemeClr val="bg2"/>
            </a:solidFill>
            <a:prstDash val="solid"/>
          </a:ln>
        </p:spPr>
      </p:sp>
      <p:sp>
        <p:nvSpPr>
          <p:cNvPr id="17" name="icon-bg-292"/>
          <p:cNvSpPr/>
          <p:nvPr/>
        </p:nvSpPr>
        <p:spPr>
          <a:xfrm>
            <a:off x="822960" y="4251960"/>
            <a:ext cx="548640" cy="548640"/>
          </a:xfrm>
          <a:prstGeom prst="ellipse">
            <a:avLst/>
          </a:prstGeom>
          <a:solidFill>
            <a:schemeClr val="accent1"/>
          </a:solidFill>
          <a:ln w="12700">
            <a:solidFill>
              <a:schemeClr val="accent1"/>
            </a:solidFill>
            <a:prstDash val="solid"/>
          </a:ln>
        </p:spPr>
      </p:sp>
      <p:pic>
        <p:nvPicPr>
          <p:cNvPr id="18" name="icon-293" descr="preencoded.png">    </p:cNvPr>
          <p:cNvPicPr>
            <a:picLocks noChangeAspect="1"/>
          </p:cNvPicPr>
          <p:nvPr/>
        </p:nvPicPr>
        <p:blipFill>
          <a:blip r:embed="rId3"/>
          <a:stretch>
            <a:fillRect/>
          </a:stretch>
        </p:blipFill>
        <p:spPr>
          <a:xfrm>
            <a:off x="954634" y="4383634"/>
            <a:ext cx="285293" cy="285293"/>
          </a:xfrm>
          <a:prstGeom prst="rect">
            <a:avLst/>
          </a:prstGeom>
        </p:spPr>
      </p:pic>
      <p:sp>
        <p:nvSpPr>
          <p:cNvPr id="19" name="text-294"/>
          <p:cNvSpPr txBox="1"/>
          <p:nvPr/>
        </p:nvSpPr>
        <p:spPr>
          <a:xfrm>
            <a:off x="1554480" y="4325112"/>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Pricing</a:t>
            </a:r>
            <a:endParaRPr lang="en-US" sz="1800" dirty="0"/>
          </a:p>
        </p:txBody>
      </p:sp>
      <p:sp>
        <p:nvSpPr>
          <p:cNvPr id="20" name="text-295"/>
          <p:cNvSpPr txBox="1"/>
          <p:nvPr/>
        </p:nvSpPr>
        <p:spPr>
          <a:xfrm>
            <a:off x="822960" y="4892040"/>
            <a:ext cx="4846320" cy="640080"/>
          </a:xfrm>
          <a:prstGeom prst="rect">
            <a:avLst/>
          </a:prstGeom>
          <a:noFill/>
          <a:ln/>
        </p:spPr>
        <p:txBody>
          <a:bodyPr wrap="square" lIns="0" tIns="0" rIns="0" bIns="0" rtlCol="0" anchor="t"/>
          <a:lstStyle/>
          <a:p>
            <a:pPr indent="0" marL="0">
              <a:buNone/>
            </a:pPr>
            <a:r>
              <a:rPr lang="en-US" sz="1400" dirty="0">
                <a:solidFill>
                  <a:schemeClr val="tx2"/>
                </a:solidFill>
              </a:rPr>
              <a:t>£2,500 a month has been offered to one founding client. It isn’t tested at scale.</a:t>
            </a:r>
            <a:endParaRPr lang="en-US" sz="1400" dirty="0"/>
          </a:p>
        </p:txBody>
      </p:sp>
      <p:sp>
        <p:nvSpPr>
          <p:cNvPr id="21" name="text-296"/>
          <p:cNvSpPr txBox="1"/>
          <p:nvPr/>
        </p:nvSpPr>
        <p:spPr>
          <a:xfrm>
            <a:off x="822960" y="5513832"/>
            <a:ext cx="4846320" cy="365760"/>
          </a:xfrm>
          <a:prstGeom prst="rect">
            <a:avLst/>
          </a:prstGeom>
          <a:noFill/>
          <a:ln/>
        </p:spPr>
        <p:txBody>
          <a:bodyPr wrap="square" lIns="0" tIns="0" rIns="0" bIns="0" rtlCol="0" anchor="t"/>
          <a:lstStyle/>
          <a:p>
            <a:pPr indent="0" marL="0">
              <a:buNone/>
            </a:pPr>
            <a:r>
              <a:rPr lang="en-US" sz="1400" b="1" i="1" dirty="0">
                <a:solidFill>
                  <a:schemeClr val="accent5"/>
                </a:solidFill>
              </a:rPr>
              <a:t>Is it priced for the value, or leaving money on the table?</a:t>
            </a:r>
            <a:endParaRPr lang="en-US" sz="1400" dirty="0"/>
          </a:p>
        </p:txBody>
      </p:sp>
      <p:sp>
        <p:nvSpPr>
          <p:cNvPr id="22" name="card-297"/>
          <p:cNvSpPr/>
          <p:nvPr/>
        </p:nvSpPr>
        <p:spPr>
          <a:xfrm>
            <a:off x="6126480" y="3977640"/>
            <a:ext cx="5349240" cy="2011680"/>
          </a:xfrm>
          <a:prstGeom prst="roundRect">
            <a:avLst>
              <a:gd name="adj" fmla="val 3636"/>
            </a:avLst>
          </a:prstGeom>
          <a:solidFill>
            <a:schemeClr val="bg2"/>
          </a:solidFill>
          <a:ln w="12700">
            <a:solidFill>
              <a:schemeClr val="bg2"/>
            </a:solidFill>
            <a:prstDash val="solid"/>
          </a:ln>
        </p:spPr>
      </p:sp>
      <p:sp>
        <p:nvSpPr>
          <p:cNvPr id="23" name="icon-bg-298"/>
          <p:cNvSpPr/>
          <p:nvPr/>
        </p:nvSpPr>
        <p:spPr>
          <a:xfrm>
            <a:off x="6400800" y="4251960"/>
            <a:ext cx="548640" cy="548640"/>
          </a:xfrm>
          <a:prstGeom prst="ellipse">
            <a:avLst/>
          </a:prstGeom>
          <a:solidFill>
            <a:schemeClr val="accent1"/>
          </a:solidFill>
          <a:ln w="12700">
            <a:solidFill>
              <a:schemeClr val="accent1"/>
            </a:solidFill>
            <a:prstDash val="solid"/>
          </a:ln>
        </p:spPr>
      </p:sp>
      <p:pic>
        <p:nvPicPr>
          <p:cNvPr id="24" name="icon-299" descr="preencoded.png">    </p:cNvPr>
          <p:cNvPicPr>
            <a:picLocks noChangeAspect="1"/>
          </p:cNvPicPr>
          <p:nvPr/>
        </p:nvPicPr>
        <p:blipFill>
          <a:blip r:embed="rId4"/>
          <a:stretch>
            <a:fillRect/>
          </a:stretch>
        </p:blipFill>
        <p:spPr>
          <a:xfrm>
            <a:off x="6532474" y="4383634"/>
            <a:ext cx="285293" cy="285293"/>
          </a:xfrm>
          <a:prstGeom prst="rect">
            <a:avLst/>
          </a:prstGeom>
        </p:spPr>
      </p:pic>
      <p:sp>
        <p:nvSpPr>
          <p:cNvPr id="25" name="text-300"/>
          <p:cNvSpPr txBox="1"/>
          <p:nvPr/>
        </p:nvSpPr>
        <p:spPr>
          <a:xfrm>
            <a:off x="7132320" y="4325112"/>
            <a:ext cx="41148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Capacity</a:t>
            </a:r>
            <a:endParaRPr lang="en-US" sz="1800" dirty="0"/>
          </a:p>
        </p:txBody>
      </p:sp>
      <p:sp>
        <p:nvSpPr>
          <p:cNvPr id="26" name="text-301"/>
          <p:cNvSpPr txBox="1"/>
          <p:nvPr/>
        </p:nvSpPr>
        <p:spPr>
          <a:xfrm>
            <a:off x="6400800" y="4892040"/>
            <a:ext cx="4846320" cy="640080"/>
          </a:xfrm>
          <a:prstGeom prst="rect">
            <a:avLst/>
          </a:prstGeom>
          <a:noFill/>
          <a:ln/>
        </p:spPr>
        <p:txBody>
          <a:bodyPr wrap="square" lIns="0" tIns="0" rIns="0" bIns="0" rtlCol="0" anchor="t"/>
          <a:lstStyle/>
          <a:p>
            <a:pPr indent="0" marL="0">
              <a:buNone/>
            </a:pPr>
            <a:r>
              <a:rPr lang="en-US" sz="1400" dirty="0">
                <a:solidFill>
                  <a:schemeClr val="tx2"/>
                </a:solidFill>
              </a:rPr>
              <a:t>Two founders run sales and delivery. Systems carry a lot, but not everything.</a:t>
            </a:r>
            <a:endParaRPr lang="en-US" sz="1400" dirty="0"/>
          </a:p>
        </p:txBody>
      </p:sp>
      <p:sp>
        <p:nvSpPr>
          <p:cNvPr id="27" name="text-302"/>
          <p:cNvSpPr txBox="1"/>
          <p:nvPr/>
        </p:nvSpPr>
        <p:spPr>
          <a:xfrm>
            <a:off x="6400800" y="5513832"/>
            <a:ext cx="4846320" cy="365760"/>
          </a:xfrm>
          <a:prstGeom prst="rect">
            <a:avLst/>
          </a:prstGeom>
          <a:noFill/>
          <a:ln/>
        </p:spPr>
        <p:txBody>
          <a:bodyPr wrap="square" lIns="0" tIns="0" rIns="0" bIns="0" rtlCol="0" anchor="t"/>
          <a:lstStyle/>
          <a:p>
            <a:pPr indent="0" marL="0">
              <a:buNone/>
            </a:pPr>
            <a:r>
              <a:rPr lang="en-US" sz="1400" b="1" i="1" dirty="0">
                <a:solidFill>
                  <a:schemeClr val="accent5"/>
                </a:solidFill>
              </a:rPr>
              <a:t>How many clients before we hire, and who first?</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How we could work together</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A proposal to shape together on Monday. Nothing here is fixed.</a:t>
            </a:r>
            <a:endParaRPr lang="en-US" sz="1600" dirty="0"/>
          </a:p>
        </p:txBody>
      </p:sp>
      <p:sp>
        <p:nvSpPr>
          <p:cNvPr id="4" name="card-303"/>
          <p:cNvSpPr/>
          <p:nvPr/>
        </p:nvSpPr>
        <p:spPr>
          <a:xfrm>
            <a:off x="548640" y="1783080"/>
            <a:ext cx="3520440" cy="3291840"/>
          </a:xfrm>
          <a:prstGeom prst="roundRect">
            <a:avLst>
              <a:gd name="adj" fmla="val 2222"/>
            </a:avLst>
          </a:prstGeom>
          <a:solidFill>
            <a:schemeClr val="bg2"/>
          </a:solidFill>
          <a:ln w="12700">
            <a:solidFill>
              <a:schemeClr val="bg2"/>
            </a:solidFill>
            <a:prstDash val="solid"/>
          </a:ln>
        </p:spPr>
      </p:sp>
      <p:sp>
        <p:nvSpPr>
          <p:cNvPr id="5" name="text-304"/>
          <p:cNvSpPr txBox="1"/>
          <p:nvPr/>
        </p:nvSpPr>
        <p:spPr>
          <a:xfrm>
            <a:off x="868680" y="2011680"/>
            <a:ext cx="1828800" cy="320040"/>
          </a:xfrm>
          <a:prstGeom prst="rect">
            <a:avLst/>
          </a:prstGeom>
          <a:noFill/>
          <a:ln/>
        </p:spPr>
        <p:txBody>
          <a:bodyPr wrap="square" lIns="0" tIns="0" rIns="0" bIns="0" rtlCol="0" anchor="t"/>
          <a:lstStyle/>
          <a:p>
            <a:pPr indent="0" marL="0">
              <a:buNone/>
            </a:pPr>
            <a:r>
              <a:rPr lang="en-US" sz="1200" b="1" spc="200" kern="0" dirty="0">
                <a:solidFill>
                  <a:schemeClr val="accent5"/>
                </a:solidFill>
              </a:rPr>
              <a:t>OPTION A</a:t>
            </a:r>
            <a:endParaRPr lang="en-US" sz="1200" dirty="0"/>
          </a:p>
        </p:txBody>
      </p:sp>
      <p:sp>
        <p:nvSpPr>
          <p:cNvPr id="6" name="icon-bg-305"/>
          <p:cNvSpPr/>
          <p:nvPr/>
        </p:nvSpPr>
        <p:spPr>
          <a:xfrm>
            <a:off x="3154680" y="1965960"/>
            <a:ext cx="594360" cy="594360"/>
          </a:xfrm>
          <a:prstGeom prst="ellipse">
            <a:avLst/>
          </a:prstGeom>
          <a:solidFill>
            <a:schemeClr val="accent1"/>
          </a:solidFill>
          <a:ln w="12700">
            <a:solidFill>
              <a:schemeClr val="accent1"/>
            </a:solidFill>
            <a:prstDash val="solid"/>
          </a:ln>
        </p:spPr>
      </p:sp>
      <p:pic>
        <p:nvPicPr>
          <p:cNvPr id="7" name="icon-306" descr="preencoded.png">    </p:cNvPr>
          <p:cNvPicPr>
            <a:picLocks noChangeAspect="1"/>
          </p:cNvPicPr>
          <p:nvPr/>
        </p:nvPicPr>
        <p:blipFill>
          <a:blip r:embed="rId1"/>
          <a:stretch>
            <a:fillRect/>
          </a:stretch>
        </p:blipFill>
        <p:spPr>
          <a:xfrm>
            <a:off x="3297326" y="2108606"/>
            <a:ext cx="309067" cy="309067"/>
          </a:xfrm>
          <a:prstGeom prst="rect">
            <a:avLst/>
          </a:prstGeom>
        </p:spPr>
      </p:pic>
      <p:sp>
        <p:nvSpPr>
          <p:cNvPr id="8" name="text-307"/>
          <p:cNvSpPr txBox="1"/>
          <p:nvPr/>
        </p:nvSpPr>
        <p:spPr>
          <a:xfrm>
            <a:off x="86868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Referral partner</a:t>
            </a:r>
            <a:endParaRPr lang="en-US" sz="2000" dirty="0"/>
          </a:p>
        </p:txBody>
      </p:sp>
      <p:sp>
        <p:nvSpPr>
          <p:cNvPr id="9" name="text-308"/>
          <p:cNvSpPr txBox="1"/>
          <p:nvPr/>
        </p:nvSpPr>
        <p:spPr>
          <a:xfrm>
            <a:off x="868680" y="3200400"/>
            <a:ext cx="2926080" cy="1005840"/>
          </a:xfrm>
          <a:prstGeom prst="rect">
            <a:avLst/>
          </a:prstGeom>
          <a:noFill/>
          <a:ln/>
        </p:spPr>
        <p:txBody>
          <a:bodyPr wrap="square" lIns="0" tIns="0" rIns="0" bIns="0" rtlCol="0" anchor="t"/>
          <a:lstStyle/>
          <a:p>
            <a:pPr indent="0" marL="0">
              <a:buNone/>
            </a:pPr>
            <a:r>
              <a:rPr lang="en-US" sz="1400" dirty="0">
                <a:solidFill>
                  <a:schemeClr val="tx2"/>
                </a:solidFill>
              </a:rPr>
              <a:t>A share of the fees from every client you introduce, for their first year.</a:t>
            </a:r>
            <a:endParaRPr lang="en-US" sz="1400" dirty="0"/>
          </a:p>
        </p:txBody>
      </p:sp>
      <p:sp>
        <p:nvSpPr>
          <p:cNvPr id="10" name="text-309"/>
          <p:cNvSpPr txBox="1"/>
          <p:nvPr/>
        </p:nvSpPr>
        <p:spPr>
          <a:xfrm>
            <a:off x="868680" y="4251960"/>
            <a:ext cx="2926080" cy="731520"/>
          </a:xfrm>
          <a:prstGeom prst="rect">
            <a:avLst/>
          </a:prstGeom>
          <a:noFill/>
          <a:ln/>
        </p:spPr>
        <p:txBody>
          <a:bodyPr wrap="square" lIns="0" tIns="0" rIns="0" bIns="0" rtlCol="0" anchor="t"/>
          <a:lstStyle/>
          <a:p>
            <a:pPr indent="0" marL="0">
              <a:buNone/>
            </a:pPr>
            <a:r>
              <a:rPr lang="en-US" sz="1350" i="1" dirty="0">
                <a:solidFill>
                  <a:schemeClr val="accent5"/>
                </a:solidFill>
              </a:rPr>
              <a:t>Simple, no fixed cost, pays only on results.</a:t>
            </a:r>
            <a:endParaRPr lang="en-US" sz="1350" dirty="0"/>
          </a:p>
        </p:txBody>
      </p:sp>
      <p:sp>
        <p:nvSpPr>
          <p:cNvPr id="11" name="card-310"/>
          <p:cNvSpPr/>
          <p:nvPr/>
        </p:nvSpPr>
        <p:spPr>
          <a:xfrm>
            <a:off x="4297680" y="1783080"/>
            <a:ext cx="3520440" cy="3291840"/>
          </a:xfrm>
          <a:prstGeom prst="roundRect">
            <a:avLst>
              <a:gd name="adj" fmla="val 2222"/>
            </a:avLst>
          </a:prstGeom>
          <a:solidFill>
            <a:schemeClr val="bg2"/>
          </a:solidFill>
          <a:ln w="12700">
            <a:solidFill>
              <a:schemeClr val="bg2"/>
            </a:solidFill>
            <a:prstDash val="solid"/>
          </a:ln>
        </p:spPr>
      </p:sp>
      <p:sp>
        <p:nvSpPr>
          <p:cNvPr id="12" name="text-311"/>
          <p:cNvSpPr txBox="1"/>
          <p:nvPr/>
        </p:nvSpPr>
        <p:spPr>
          <a:xfrm>
            <a:off x="4617720" y="2011680"/>
            <a:ext cx="1828800" cy="320040"/>
          </a:xfrm>
          <a:prstGeom prst="rect">
            <a:avLst/>
          </a:prstGeom>
          <a:noFill/>
          <a:ln/>
        </p:spPr>
        <p:txBody>
          <a:bodyPr wrap="square" lIns="0" tIns="0" rIns="0" bIns="0" rtlCol="0" anchor="t"/>
          <a:lstStyle/>
          <a:p>
            <a:pPr indent="0" marL="0">
              <a:buNone/>
            </a:pPr>
            <a:r>
              <a:rPr lang="en-US" sz="1200" b="1" spc="200" kern="0" dirty="0">
                <a:solidFill>
                  <a:schemeClr val="accent5"/>
                </a:solidFill>
              </a:rPr>
              <a:t>OPTION B</a:t>
            </a:r>
            <a:endParaRPr lang="en-US" sz="1200" dirty="0"/>
          </a:p>
        </p:txBody>
      </p:sp>
      <p:sp>
        <p:nvSpPr>
          <p:cNvPr id="13" name="icon-bg-312"/>
          <p:cNvSpPr/>
          <p:nvPr/>
        </p:nvSpPr>
        <p:spPr>
          <a:xfrm>
            <a:off x="6903720" y="1965960"/>
            <a:ext cx="594360" cy="594360"/>
          </a:xfrm>
          <a:prstGeom prst="ellipse">
            <a:avLst/>
          </a:prstGeom>
          <a:solidFill>
            <a:schemeClr val="accent1"/>
          </a:solidFill>
          <a:ln w="12700">
            <a:solidFill>
              <a:schemeClr val="accent1"/>
            </a:solidFill>
            <a:prstDash val="solid"/>
          </a:ln>
        </p:spPr>
      </p:sp>
      <p:pic>
        <p:nvPicPr>
          <p:cNvPr id="14" name="icon-313" descr="preencoded.png">    </p:cNvPr>
          <p:cNvPicPr>
            <a:picLocks noChangeAspect="1"/>
          </p:cNvPicPr>
          <p:nvPr/>
        </p:nvPicPr>
        <p:blipFill>
          <a:blip r:embed="rId2"/>
          <a:stretch>
            <a:fillRect/>
          </a:stretch>
        </p:blipFill>
        <p:spPr>
          <a:xfrm>
            <a:off x="7046366" y="2108606"/>
            <a:ext cx="309067" cy="309067"/>
          </a:xfrm>
          <a:prstGeom prst="rect">
            <a:avLst/>
          </a:prstGeom>
        </p:spPr>
      </p:pic>
      <p:sp>
        <p:nvSpPr>
          <p:cNvPr id="15" name="text-314"/>
          <p:cNvSpPr txBox="1"/>
          <p:nvPr/>
        </p:nvSpPr>
        <p:spPr>
          <a:xfrm>
            <a:off x="461772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Advisor</a:t>
            </a:r>
            <a:endParaRPr lang="en-US" sz="2000" dirty="0"/>
          </a:p>
        </p:txBody>
      </p:sp>
      <p:sp>
        <p:nvSpPr>
          <p:cNvPr id="16" name="text-315"/>
          <p:cNvSpPr txBox="1"/>
          <p:nvPr/>
        </p:nvSpPr>
        <p:spPr>
          <a:xfrm>
            <a:off x="4617720" y="3200400"/>
            <a:ext cx="2926080" cy="1005840"/>
          </a:xfrm>
          <a:prstGeom prst="rect">
            <a:avLst/>
          </a:prstGeom>
          <a:noFill/>
          <a:ln/>
        </p:spPr>
        <p:txBody>
          <a:bodyPr wrap="square" lIns="0" tIns="0" rIns="0" bIns="0" rtlCol="0" anchor="t"/>
          <a:lstStyle/>
          <a:p>
            <a:pPr indent="0" marL="0">
              <a:buNone/>
            </a:pPr>
            <a:r>
              <a:rPr lang="en-US" sz="1400" dirty="0">
                <a:solidFill>
                  <a:schemeClr val="tx2"/>
                </a:solidFill>
              </a:rPr>
              <a:t>A set number of hours a month, plus a smaller success fee on introduced clients.</a:t>
            </a:r>
            <a:endParaRPr lang="en-US" sz="1400" dirty="0"/>
          </a:p>
        </p:txBody>
      </p:sp>
      <p:sp>
        <p:nvSpPr>
          <p:cNvPr id="17" name="text-316"/>
          <p:cNvSpPr txBox="1"/>
          <p:nvPr/>
        </p:nvSpPr>
        <p:spPr>
          <a:xfrm>
            <a:off x="4617720" y="4251960"/>
            <a:ext cx="2926080" cy="731520"/>
          </a:xfrm>
          <a:prstGeom prst="rect">
            <a:avLst/>
          </a:prstGeom>
          <a:noFill/>
          <a:ln/>
        </p:spPr>
        <p:txBody>
          <a:bodyPr wrap="square" lIns="0" tIns="0" rIns="0" bIns="0" rtlCol="0" anchor="t"/>
          <a:lstStyle/>
          <a:p>
            <a:pPr indent="0" marL="0">
              <a:buNone/>
            </a:pPr>
            <a:r>
              <a:rPr lang="en-US" sz="1350" i="1" dirty="0">
                <a:solidFill>
                  <a:schemeClr val="accent5"/>
                </a:solidFill>
              </a:rPr>
              <a:t>Regular rhythm; good if advice is the main value.</a:t>
            </a:r>
            <a:endParaRPr lang="en-US" sz="1350" dirty="0"/>
          </a:p>
        </p:txBody>
      </p:sp>
      <p:sp>
        <p:nvSpPr>
          <p:cNvPr id="18" name="card-317"/>
          <p:cNvSpPr/>
          <p:nvPr/>
        </p:nvSpPr>
        <p:spPr>
          <a:xfrm>
            <a:off x="8046720" y="1783080"/>
            <a:ext cx="3520440" cy="3291840"/>
          </a:xfrm>
          <a:prstGeom prst="roundRect">
            <a:avLst>
              <a:gd name="adj" fmla="val 2222"/>
            </a:avLst>
          </a:prstGeom>
          <a:solidFill>
            <a:schemeClr val="bg2"/>
          </a:solidFill>
          <a:ln w="12700">
            <a:solidFill>
              <a:schemeClr val="bg2"/>
            </a:solidFill>
            <a:prstDash val="solid"/>
          </a:ln>
        </p:spPr>
      </p:sp>
      <p:sp>
        <p:nvSpPr>
          <p:cNvPr id="19" name="text-318"/>
          <p:cNvSpPr txBox="1"/>
          <p:nvPr/>
        </p:nvSpPr>
        <p:spPr>
          <a:xfrm>
            <a:off x="8366760" y="2011680"/>
            <a:ext cx="1828800" cy="320040"/>
          </a:xfrm>
          <a:prstGeom prst="rect">
            <a:avLst/>
          </a:prstGeom>
          <a:noFill/>
          <a:ln/>
        </p:spPr>
        <p:txBody>
          <a:bodyPr wrap="square" lIns="0" tIns="0" rIns="0" bIns="0" rtlCol="0" anchor="t"/>
          <a:lstStyle/>
          <a:p>
            <a:pPr indent="0" marL="0">
              <a:buNone/>
            </a:pPr>
            <a:r>
              <a:rPr lang="en-US" sz="1200" b="1" spc="200" kern="0" dirty="0">
                <a:solidFill>
                  <a:schemeClr val="accent5"/>
                </a:solidFill>
              </a:rPr>
              <a:t>OPTION C</a:t>
            </a:r>
            <a:endParaRPr lang="en-US" sz="1200" dirty="0"/>
          </a:p>
        </p:txBody>
      </p:sp>
      <p:sp>
        <p:nvSpPr>
          <p:cNvPr id="20" name="icon-bg-319"/>
          <p:cNvSpPr/>
          <p:nvPr/>
        </p:nvSpPr>
        <p:spPr>
          <a:xfrm>
            <a:off x="10652760" y="1965960"/>
            <a:ext cx="594360" cy="594360"/>
          </a:xfrm>
          <a:prstGeom prst="ellipse">
            <a:avLst/>
          </a:prstGeom>
          <a:solidFill>
            <a:schemeClr val="accent1"/>
          </a:solidFill>
          <a:ln w="12700">
            <a:solidFill>
              <a:schemeClr val="accent1"/>
            </a:solidFill>
            <a:prstDash val="solid"/>
          </a:ln>
        </p:spPr>
      </p:sp>
      <p:pic>
        <p:nvPicPr>
          <p:cNvPr id="21" name="icon-320" descr="preencoded.png">    </p:cNvPr>
          <p:cNvPicPr>
            <a:picLocks noChangeAspect="1"/>
          </p:cNvPicPr>
          <p:nvPr/>
        </p:nvPicPr>
        <p:blipFill>
          <a:blip r:embed="rId3"/>
          <a:stretch>
            <a:fillRect/>
          </a:stretch>
        </p:blipFill>
        <p:spPr>
          <a:xfrm>
            <a:off x="10795406" y="2108606"/>
            <a:ext cx="309067" cy="309067"/>
          </a:xfrm>
          <a:prstGeom prst="rect">
            <a:avLst/>
          </a:prstGeom>
        </p:spPr>
      </p:pic>
      <p:sp>
        <p:nvSpPr>
          <p:cNvPr id="22" name="text-321"/>
          <p:cNvSpPr txBox="1"/>
          <p:nvPr/>
        </p:nvSpPr>
        <p:spPr>
          <a:xfrm>
            <a:off x="8366760" y="2697480"/>
            <a:ext cx="292608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Strategic advisor</a:t>
            </a:r>
            <a:endParaRPr lang="en-US" sz="2000" dirty="0"/>
          </a:p>
        </p:txBody>
      </p:sp>
      <p:sp>
        <p:nvSpPr>
          <p:cNvPr id="23" name="text-322"/>
          <p:cNvSpPr txBox="1"/>
          <p:nvPr/>
        </p:nvSpPr>
        <p:spPr>
          <a:xfrm>
            <a:off x="8366760" y="3200400"/>
            <a:ext cx="2926080" cy="1005840"/>
          </a:xfrm>
          <a:prstGeom prst="rect">
            <a:avLst/>
          </a:prstGeom>
          <a:noFill/>
          <a:ln/>
        </p:spPr>
        <p:txBody>
          <a:bodyPr wrap="square" lIns="0" tIns="0" rIns="0" bIns="0" rtlCol="0" anchor="t"/>
          <a:lstStyle/>
          <a:p>
            <a:pPr indent="0" marL="0">
              <a:buNone/>
            </a:pPr>
            <a:r>
              <a:rPr lang="en-US" sz="1400" dirty="0">
                <a:solidFill>
                  <a:schemeClr val="tx2"/>
                </a:solidFill>
              </a:rPr>
              <a:t>A small equity stake, vesting over time, once the fit is proven.</a:t>
            </a:r>
            <a:endParaRPr lang="en-US" sz="1400" dirty="0"/>
          </a:p>
        </p:txBody>
      </p:sp>
      <p:sp>
        <p:nvSpPr>
          <p:cNvPr id="24" name="text-323"/>
          <p:cNvSpPr txBox="1"/>
          <p:nvPr/>
        </p:nvSpPr>
        <p:spPr>
          <a:xfrm>
            <a:off x="8366760" y="4251960"/>
            <a:ext cx="2926080" cy="731520"/>
          </a:xfrm>
          <a:prstGeom prst="rect">
            <a:avLst/>
          </a:prstGeom>
          <a:noFill/>
          <a:ln/>
        </p:spPr>
        <p:txBody>
          <a:bodyPr wrap="square" lIns="0" tIns="0" rIns="0" bIns="0" rtlCol="0" anchor="t"/>
          <a:lstStyle/>
          <a:p>
            <a:pPr indent="0" marL="0">
              <a:buNone/>
            </a:pPr>
            <a:r>
              <a:rPr lang="en-US" sz="1350" i="1" dirty="0">
                <a:solidFill>
                  <a:schemeClr val="accent5"/>
                </a:solidFill>
              </a:rPr>
              <a:t>Long-term alignment with where Extol is going.</a:t>
            </a:r>
            <a:endParaRPr lang="en-US" sz="1350" dirty="0"/>
          </a:p>
        </p:txBody>
      </p:sp>
      <p:sp>
        <p:nvSpPr>
          <p:cNvPr id="25" name="card-324"/>
          <p:cNvSpPr/>
          <p:nvPr/>
        </p:nvSpPr>
        <p:spPr>
          <a:xfrm>
            <a:off x="548640" y="5303520"/>
            <a:ext cx="11064240" cy="822960"/>
          </a:xfrm>
          <a:prstGeom prst="roundRect">
            <a:avLst>
              <a:gd name="adj" fmla="val 8889"/>
            </a:avLst>
          </a:prstGeom>
          <a:solidFill>
            <a:schemeClr val="tx2"/>
          </a:solidFill>
          <a:ln w="12700">
            <a:solidFill>
              <a:schemeClr val="tx2"/>
            </a:solidFill>
            <a:prstDash val="solid"/>
          </a:ln>
        </p:spPr>
      </p:sp>
      <p:sp>
        <p:nvSpPr>
          <p:cNvPr id="26" name="icon-bg-325"/>
          <p:cNvSpPr/>
          <p:nvPr/>
        </p:nvSpPr>
        <p:spPr>
          <a:xfrm>
            <a:off x="777240" y="5440680"/>
            <a:ext cx="548640" cy="548640"/>
          </a:xfrm>
          <a:prstGeom prst="ellipse">
            <a:avLst/>
          </a:prstGeom>
          <a:solidFill>
            <a:schemeClr val="accent2"/>
          </a:solidFill>
          <a:ln w="12700">
            <a:solidFill>
              <a:schemeClr val="accent2"/>
            </a:solidFill>
            <a:prstDash val="solid"/>
          </a:ln>
        </p:spPr>
      </p:sp>
      <p:pic>
        <p:nvPicPr>
          <p:cNvPr id="27" name="icon-326" descr="preencoded.png">    </p:cNvPr>
          <p:cNvPicPr>
            <a:picLocks noChangeAspect="1"/>
          </p:cNvPicPr>
          <p:nvPr/>
        </p:nvPicPr>
        <p:blipFill>
          <a:blip r:embed="rId4"/>
          <a:stretch>
            <a:fillRect/>
          </a:stretch>
        </p:blipFill>
        <p:spPr>
          <a:xfrm>
            <a:off x="908914" y="5572354"/>
            <a:ext cx="285293" cy="285293"/>
          </a:xfrm>
          <a:prstGeom prst="rect">
            <a:avLst/>
          </a:prstGeom>
        </p:spPr>
      </p:pic>
      <p:sp>
        <p:nvSpPr>
          <p:cNvPr id="28" name="text-327"/>
          <p:cNvSpPr txBox="1"/>
          <p:nvPr/>
        </p:nvSpPr>
        <p:spPr>
          <a:xfrm>
            <a:off x="1508760" y="5303520"/>
            <a:ext cx="9875520" cy="822960"/>
          </a:xfrm>
          <a:prstGeom prst="rect">
            <a:avLst/>
          </a:prstGeom>
          <a:noFill/>
          <a:ln/>
        </p:spPr>
        <p:txBody>
          <a:bodyPr wrap="square" lIns="0" tIns="0" rIns="0" bIns="0" rtlCol="0" anchor="ctr"/>
          <a:lstStyle/>
          <a:p>
            <a:pPr indent="0" marL="0">
              <a:buNone/>
            </a:pPr>
            <a:r>
              <a:rPr lang="en-US" sz="1500" dirty="0">
                <a:solidFill>
                  <a:schemeClr val="bg2"/>
                </a:solidFill>
              </a:rPr>
              <a:t>Our suggestion: start as a referral partner for 90 days, then review together and move to B or C if it’s working for both sides.</a:t>
            </a:r>
            <a:endParaRPr lang="en-US" sz="15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b"/>
          <a:lstStyle/>
          <a:p>
            <a:pPr algn="l" indent="0" marL="0">
              <a:buNone/>
            </a:pPr>
            <a:r>
              <a:rPr lang="en-US" sz="3400" b="1" dirty="0">
                <a:solidFill>
                  <a:schemeClr val="tx1"/>
                </a:solidFill>
                <a:latin typeface="Cambria" pitchFamily="34" charset="0"/>
                <a:ea typeface="Cambria" pitchFamily="34" charset="-122"/>
                <a:cs typeface="Cambria" pitchFamily="34" charset="-120"/>
              </a:rPr>
              <a:t>The first 90 days together</a:t>
            </a:r>
            <a:endParaRPr lang="en-US" sz="3400" dirty="0"/>
          </a:p>
        </p:txBody>
      </p:sp>
      <p:sp>
        <p:nvSpPr>
          <p:cNvPr id="3" name="Text 0"/>
          <p:cNvSpPr/>
          <p:nvPr>
            <p:ph idx="101" type="body" hasCustomPrompt="1"/>
          </p:nvPr>
        </p:nvSpPr>
        <p:spPr>
          <a:xfrm>
            <a:off x="548640" y="1097280"/>
            <a:ext cx="11064240" cy="411480"/>
          </a:xfrm>
          <a:prstGeom prst="rect">
            <a:avLst/>
          </a:prstGeom>
          <a:noFill/>
          <a:ln/>
        </p:spPr>
        <p:txBody>
          <a:bodyPr wrap="square" lIns="0" tIns="0" rIns="0" bIns="0" rtlCol="0" anchor="t"/>
          <a:lstStyle/>
          <a:p>
            <a:pPr indent="0" marL="0">
              <a:buNone/>
            </a:pPr>
            <a:r>
              <a:rPr lang="en-US" sz="1600" i="1" dirty="0">
                <a:solidFill>
                  <a:schemeClr val="accent5"/>
                </a:solidFill>
              </a:rPr>
              <a:t>Small, concrete steps, so we both know quickly whether this works.</a:t>
            </a:r>
            <a:endParaRPr lang="en-US" sz="1600" dirty="0"/>
          </a:p>
        </p:txBody>
      </p:sp>
      <p:sp>
        <p:nvSpPr>
          <p:cNvPr id="4" name="timeline-328"/>
          <p:cNvSpPr/>
          <p:nvPr/>
        </p:nvSpPr>
        <p:spPr>
          <a:xfrm>
            <a:off x="914400" y="2331720"/>
            <a:ext cx="8412480" cy="0"/>
          </a:xfrm>
          <a:prstGeom prst="line">
            <a:avLst/>
          </a:prstGeom>
          <a:noFill/>
          <a:ln w="25400">
            <a:solidFill>
              <a:schemeClr val="accent3"/>
            </a:solidFill>
            <a:prstDash val="solid"/>
          </a:ln>
        </p:spPr>
      </p:sp>
      <p:sp>
        <p:nvSpPr>
          <p:cNvPr id="5" name="dot-329"/>
          <p:cNvSpPr/>
          <p:nvPr/>
        </p:nvSpPr>
        <p:spPr>
          <a:xfrm>
            <a:off x="685800" y="2103120"/>
            <a:ext cx="457200" cy="457200"/>
          </a:xfrm>
          <a:prstGeom prst="ellipse">
            <a:avLst/>
          </a:prstGeom>
          <a:solidFill>
            <a:schemeClr val="accent1"/>
          </a:solidFill>
          <a:ln w="25400">
            <a:solidFill>
              <a:schemeClr val="bg1"/>
            </a:solidFill>
            <a:prstDash val="solid"/>
          </a:ln>
        </p:spPr>
      </p:sp>
      <p:sp>
        <p:nvSpPr>
          <p:cNvPr id="6" name="text-330"/>
          <p:cNvSpPr txBox="1"/>
          <p:nvPr/>
        </p:nvSpPr>
        <p:spPr>
          <a:xfrm>
            <a:off x="548640" y="2743200"/>
            <a:ext cx="2606040"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WEEK 1</a:t>
            </a:r>
            <a:endParaRPr lang="en-US" sz="1300" dirty="0"/>
          </a:p>
        </p:txBody>
      </p:sp>
      <p:sp>
        <p:nvSpPr>
          <p:cNvPr id="7" name="card-331"/>
          <p:cNvSpPr/>
          <p:nvPr/>
        </p:nvSpPr>
        <p:spPr>
          <a:xfrm>
            <a:off x="548640" y="3154680"/>
            <a:ext cx="2606040" cy="2011680"/>
          </a:xfrm>
          <a:prstGeom prst="roundRect">
            <a:avLst>
              <a:gd name="adj" fmla="val 3636"/>
            </a:avLst>
          </a:prstGeom>
          <a:solidFill>
            <a:schemeClr val="bg2"/>
          </a:solidFill>
          <a:ln w="12700">
            <a:solidFill>
              <a:schemeClr val="bg2"/>
            </a:solidFill>
            <a:prstDash val="solid"/>
          </a:ln>
        </p:spPr>
      </p:sp>
      <p:sp>
        <p:nvSpPr>
          <p:cNvPr id="8" name="text-332"/>
          <p:cNvSpPr txBox="1"/>
          <p:nvPr/>
        </p:nvSpPr>
        <p:spPr>
          <a:xfrm>
            <a:off x="777240" y="3337560"/>
            <a:ext cx="219456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Agree the role</a:t>
            </a:r>
            <a:endParaRPr lang="en-US" sz="1800" dirty="0"/>
          </a:p>
        </p:txBody>
      </p:sp>
      <p:sp>
        <p:nvSpPr>
          <p:cNvPr id="9" name="text-333"/>
          <p:cNvSpPr txBox="1"/>
          <p:nvPr/>
        </p:nvSpPr>
        <p:spPr>
          <a:xfrm>
            <a:off x="777240" y="3840480"/>
            <a:ext cx="2194560" cy="1234440"/>
          </a:xfrm>
          <a:prstGeom prst="rect">
            <a:avLst/>
          </a:prstGeom>
          <a:noFill/>
          <a:ln/>
        </p:spPr>
        <p:txBody>
          <a:bodyPr wrap="square" lIns="0" tIns="0" rIns="0" bIns="0" rtlCol="0" anchor="t"/>
          <a:lstStyle/>
          <a:p>
            <a:pPr indent="0" marL="0">
              <a:buNone/>
            </a:pPr>
            <a:r>
              <a:rPr lang="en-US" sz="1400" dirty="0">
                <a:solidFill>
                  <a:schemeClr val="tx2"/>
                </a:solidFill>
              </a:rPr>
              <a:t>Role, terms and a monthly hour in the diary. NDA both ways.</a:t>
            </a:r>
            <a:endParaRPr lang="en-US" sz="1400" dirty="0"/>
          </a:p>
        </p:txBody>
      </p:sp>
      <p:sp>
        <p:nvSpPr>
          <p:cNvPr id="10" name="dot-334"/>
          <p:cNvSpPr/>
          <p:nvPr/>
        </p:nvSpPr>
        <p:spPr>
          <a:xfrm>
            <a:off x="3497580" y="2103120"/>
            <a:ext cx="457200" cy="457200"/>
          </a:xfrm>
          <a:prstGeom prst="ellipse">
            <a:avLst/>
          </a:prstGeom>
          <a:solidFill>
            <a:schemeClr val="accent1"/>
          </a:solidFill>
          <a:ln w="25400">
            <a:solidFill>
              <a:schemeClr val="bg1"/>
            </a:solidFill>
            <a:prstDash val="solid"/>
          </a:ln>
        </p:spPr>
      </p:sp>
      <p:sp>
        <p:nvSpPr>
          <p:cNvPr id="11" name="text-335"/>
          <p:cNvSpPr txBox="1"/>
          <p:nvPr/>
        </p:nvSpPr>
        <p:spPr>
          <a:xfrm>
            <a:off x="3360420" y="2743200"/>
            <a:ext cx="2606040"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DAY 30</a:t>
            </a:r>
            <a:endParaRPr lang="en-US" sz="1300" dirty="0"/>
          </a:p>
        </p:txBody>
      </p:sp>
      <p:sp>
        <p:nvSpPr>
          <p:cNvPr id="12" name="card-336"/>
          <p:cNvSpPr/>
          <p:nvPr/>
        </p:nvSpPr>
        <p:spPr>
          <a:xfrm>
            <a:off x="3360420" y="3154680"/>
            <a:ext cx="2606040" cy="2011680"/>
          </a:xfrm>
          <a:prstGeom prst="roundRect">
            <a:avLst>
              <a:gd name="adj" fmla="val 3636"/>
            </a:avLst>
          </a:prstGeom>
          <a:solidFill>
            <a:schemeClr val="bg2"/>
          </a:solidFill>
          <a:ln w="12700">
            <a:solidFill>
              <a:schemeClr val="bg2"/>
            </a:solidFill>
            <a:prstDash val="solid"/>
          </a:ln>
        </p:spPr>
      </p:sp>
      <p:sp>
        <p:nvSpPr>
          <p:cNvPr id="13" name="text-337"/>
          <p:cNvSpPr txBox="1"/>
          <p:nvPr/>
        </p:nvSpPr>
        <p:spPr>
          <a:xfrm>
            <a:off x="3589020" y="3337560"/>
            <a:ext cx="219456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Pick the market</a:t>
            </a:r>
            <a:endParaRPr lang="en-US" sz="1800" dirty="0"/>
          </a:p>
        </p:txBody>
      </p:sp>
      <p:sp>
        <p:nvSpPr>
          <p:cNvPr id="14" name="text-338"/>
          <p:cNvSpPr txBox="1"/>
          <p:nvPr/>
        </p:nvSpPr>
        <p:spPr>
          <a:xfrm>
            <a:off x="3589020" y="3840480"/>
            <a:ext cx="2194560" cy="1234440"/>
          </a:xfrm>
          <a:prstGeom prst="rect">
            <a:avLst/>
          </a:prstGeom>
          <a:noFill/>
          <a:ln/>
        </p:spPr>
        <p:txBody>
          <a:bodyPr wrap="square" lIns="0" tIns="0" rIns="0" bIns="0" rtlCol="0" anchor="t"/>
          <a:lstStyle/>
          <a:p>
            <a:pPr indent="0" marL="0">
              <a:buNone/>
            </a:pPr>
            <a:r>
              <a:rPr lang="en-US" sz="1400" dirty="0">
                <a:solidFill>
                  <a:schemeClr val="tx2"/>
                </a:solidFill>
              </a:rPr>
              <a:t>One market to lead with. A shortlist of 10 people you could introduce.</a:t>
            </a:r>
            <a:endParaRPr lang="en-US" sz="1400" dirty="0"/>
          </a:p>
        </p:txBody>
      </p:sp>
      <p:sp>
        <p:nvSpPr>
          <p:cNvPr id="15" name="dot-339"/>
          <p:cNvSpPr/>
          <p:nvPr/>
        </p:nvSpPr>
        <p:spPr>
          <a:xfrm>
            <a:off x="6309360" y="2103120"/>
            <a:ext cx="457200" cy="457200"/>
          </a:xfrm>
          <a:prstGeom prst="ellipse">
            <a:avLst/>
          </a:prstGeom>
          <a:solidFill>
            <a:schemeClr val="accent1"/>
          </a:solidFill>
          <a:ln w="25400">
            <a:solidFill>
              <a:schemeClr val="bg1"/>
            </a:solidFill>
            <a:prstDash val="solid"/>
          </a:ln>
        </p:spPr>
      </p:sp>
      <p:sp>
        <p:nvSpPr>
          <p:cNvPr id="16" name="text-340"/>
          <p:cNvSpPr txBox="1"/>
          <p:nvPr/>
        </p:nvSpPr>
        <p:spPr>
          <a:xfrm>
            <a:off x="6172200" y="2743200"/>
            <a:ext cx="2606040"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DAY 60</a:t>
            </a:r>
            <a:endParaRPr lang="en-US" sz="1300" dirty="0"/>
          </a:p>
        </p:txBody>
      </p:sp>
      <p:sp>
        <p:nvSpPr>
          <p:cNvPr id="17" name="card-341"/>
          <p:cNvSpPr/>
          <p:nvPr/>
        </p:nvSpPr>
        <p:spPr>
          <a:xfrm>
            <a:off x="6172200" y="3154680"/>
            <a:ext cx="2606040" cy="2011680"/>
          </a:xfrm>
          <a:prstGeom prst="roundRect">
            <a:avLst>
              <a:gd name="adj" fmla="val 3636"/>
            </a:avLst>
          </a:prstGeom>
          <a:solidFill>
            <a:schemeClr val="bg2"/>
          </a:solidFill>
          <a:ln w="12700">
            <a:solidFill>
              <a:schemeClr val="bg2"/>
            </a:solidFill>
            <a:prstDash val="solid"/>
          </a:ln>
        </p:spPr>
      </p:sp>
      <p:sp>
        <p:nvSpPr>
          <p:cNvPr id="18" name="text-342"/>
          <p:cNvSpPr txBox="1"/>
          <p:nvPr/>
        </p:nvSpPr>
        <p:spPr>
          <a:xfrm>
            <a:off x="6400800" y="3337560"/>
            <a:ext cx="219456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First intros</a:t>
            </a:r>
            <a:endParaRPr lang="en-US" sz="1800" dirty="0"/>
          </a:p>
        </p:txBody>
      </p:sp>
      <p:sp>
        <p:nvSpPr>
          <p:cNvPr id="19" name="text-343"/>
          <p:cNvSpPr txBox="1"/>
          <p:nvPr/>
        </p:nvSpPr>
        <p:spPr>
          <a:xfrm>
            <a:off x="6400800" y="3840480"/>
            <a:ext cx="2194560" cy="1234440"/>
          </a:xfrm>
          <a:prstGeom prst="rect">
            <a:avLst/>
          </a:prstGeom>
          <a:noFill/>
          <a:ln/>
        </p:spPr>
        <p:txBody>
          <a:bodyPr wrap="square" lIns="0" tIns="0" rIns="0" bIns="0" rtlCol="0" anchor="t"/>
          <a:lstStyle/>
          <a:p>
            <a:pPr indent="0" marL="0">
              <a:buNone/>
            </a:pPr>
            <a:r>
              <a:rPr lang="en-US" sz="1400" dirty="0">
                <a:solidFill>
                  <a:schemeClr val="tx2"/>
                </a:solidFill>
              </a:rPr>
              <a:t>First warm intros and calls, with you in the room where it helps.</a:t>
            </a:r>
            <a:endParaRPr lang="en-US" sz="1400" dirty="0"/>
          </a:p>
        </p:txBody>
      </p:sp>
      <p:sp>
        <p:nvSpPr>
          <p:cNvPr id="20" name="dot-344"/>
          <p:cNvSpPr/>
          <p:nvPr/>
        </p:nvSpPr>
        <p:spPr>
          <a:xfrm>
            <a:off x="9121140" y="2103120"/>
            <a:ext cx="457200" cy="457200"/>
          </a:xfrm>
          <a:prstGeom prst="ellipse">
            <a:avLst/>
          </a:prstGeom>
          <a:solidFill>
            <a:schemeClr val="tx2"/>
          </a:solidFill>
          <a:ln w="25400">
            <a:solidFill>
              <a:schemeClr val="bg1"/>
            </a:solidFill>
            <a:prstDash val="solid"/>
          </a:ln>
        </p:spPr>
      </p:sp>
      <p:sp>
        <p:nvSpPr>
          <p:cNvPr id="21" name="text-345"/>
          <p:cNvSpPr txBox="1"/>
          <p:nvPr/>
        </p:nvSpPr>
        <p:spPr>
          <a:xfrm>
            <a:off x="8983980" y="2743200"/>
            <a:ext cx="2606040"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DAY 90</a:t>
            </a:r>
            <a:endParaRPr lang="en-US" sz="1300" dirty="0"/>
          </a:p>
        </p:txBody>
      </p:sp>
      <p:sp>
        <p:nvSpPr>
          <p:cNvPr id="22" name="card-346"/>
          <p:cNvSpPr/>
          <p:nvPr/>
        </p:nvSpPr>
        <p:spPr>
          <a:xfrm>
            <a:off x="8983980" y="3154680"/>
            <a:ext cx="2606040" cy="2011680"/>
          </a:xfrm>
          <a:prstGeom prst="roundRect">
            <a:avLst>
              <a:gd name="adj" fmla="val 3636"/>
            </a:avLst>
          </a:prstGeom>
          <a:solidFill>
            <a:schemeClr val="bg2"/>
          </a:solidFill>
          <a:ln w="12700">
            <a:solidFill>
              <a:schemeClr val="bg2"/>
            </a:solidFill>
            <a:prstDash val="solid"/>
          </a:ln>
        </p:spPr>
      </p:sp>
      <p:sp>
        <p:nvSpPr>
          <p:cNvPr id="23" name="text-347"/>
          <p:cNvSpPr txBox="1"/>
          <p:nvPr/>
        </p:nvSpPr>
        <p:spPr>
          <a:xfrm>
            <a:off x="9212580" y="3337560"/>
            <a:ext cx="219456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Review</a:t>
            </a:r>
            <a:endParaRPr lang="en-US" sz="1800" dirty="0"/>
          </a:p>
        </p:txBody>
      </p:sp>
      <p:sp>
        <p:nvSpPr>
          <p:cNvPr id="24" name="text-348"/>
          <p:cNvSpPr txBox="1"/>
          <p:nvPr/>
        </p:nvSpPr>
        <p:spPr>
          <a:xfrm>
            <a:off x="9212580" y="3840480"/>
            <a:ext cx="2194560" cy="1234440"/>
          </a:xfrm>
          <a:prstGeom prst="rect">
            <a:avLst/>
          </a:prstGeom>
          <a:noFill/>
          <a:ln/>
        </p:spPr>
        <p:txBody>
          <a:bodyPr wrap="square" lIns="0" tIns="0" rIns="0" bIns="0" rtlCol="0" anchor="t"/>
          <a:lstStyle/>
          <a:p>
            <a:pPr indent="0" marL="0">
              <a:buNone/>
            </a:pPr>
            <a:r>
              <a:rPr lang="en-US" sz="1400" dirty="0">
                <a:solidFill>
                  <a:schemeClr val="tx2"/>
                </a:solidFill>
              </a:rPr>
              <a:t>First referred client signed or in proposal. Decide the long-term model.</a:t>
            </a:r>
            <a:endParaRPr lang="en-US" sz="1400" dirty="0"/>
          </a:p>
        </p:txBody>
      </p:sp>
      <p:sp>
        <p:nvSpPr>
          <p:cNvPr id="25" name="card-349"/>
          <p:cNvSpPr/>
          <p:nvPr/>
        </p:nvSpPr>
        <p:spPr>
          <a:xfrm>
            <a:off x="548640" y="5394960"/>
            <a:ext cx="11064240" cy="777240"/>
          </a:xfrm>
          <a:prstGeom prst="roundRect">
            <a:avLst>
              <a:gd name="adj" fmla="val 9412"/>
            </a:avLst>
          </a:prstGeom>
          <a:solidFill>
            <a:schemeClr val="tx2"/>
          </a:solidFill>
          <a:ln w="12700">
            <a:solidFill>
              <a:schemeClr val="tx2"/>
            </a:solidFill>
            <a:prstDash val="solid"/>
          </a:ln>
        </p:spPr>
      </p:sp>
      <p:sp>
        <p:nvSpPr>
          <p:cNvPr id="26" name="icon-bg-350"/>
          <p:cNvSpPr/>
          <p:nvPr/>
        </p:nvSpPr>
        <p:spPr>
          <a:xfrm>
            <a:off x="777240" y="5504688"/>
            <a:ext cx="548640" cy="548640"/>
          </a:xfrm>
          <a:prstGeom prst="ellipse">
            <a:avLst/>
          </a:prstGeom>
          <a:solidFill>
            <a:schemeClr val="accent2"/>
          </a:solidFill>
          <a:ln w="12700">
            <a:solidFill>
              <a:schemeClr val="accent2"/>
            </a:solidFill>
            <a:prstDash val="solid"/>
          </a:ln>
        </p:spPr>
      </p:sp>
      <p:pic>
        <p:nvPicPr>
          <p:cNvPr id="27" name="icon-351" descr="preencoded.png">    </p:cNvPr>
          <p:cNvPicPr>
            <a:picLocks noChangeAspect="1"/>
          </p:cNvPicPr>
          <p:nvPr/>
        </p:nvPicPr>
        <p:blipFill>
          <a:blip r:embed="rId1"/>
          <a:stretch>
            <a:fillRect/>
          </a:stretch>
        </p:blipFill>
        <p:spPr>
          <a:xfrm>
            <a:off x="908914" y="5636362"/>
            <a:ext cx="285293" cy="285293"/>
          </a:xfrm>
          <a:prstGeom prst="rect">
            <a:avLst/>
          </a:prstGeom>
        </p:spPr>
      </p:pic>
      <p:sp>
        <p:nvSpPr>
          <p:cNvPr id="28" name="text-352"/>
          <p:cNvSpPr txBox="1"/>
          <p:nvPr/>
        </p:nvSpPr>
        <p:spPr>
          <a:xfrm>
            <a:off x="1508760" y="5394960"/>
            <a:ext cx="9875520" cy="777240"/>
          </a:xfrm>
          <a:prstGeom prst="rect">
            <a:avLst/>
          </a:prstGeom>
          <a:noFill/>
          <a:ln/>
        </p:spPr>
        <p:txBody>
          <a:bodyPr wrap="square" lIns="0" tIns="0" rIns="0" bIns="0" rtlCol="0" anchor="ctr"/>
          <a:lstStyle/>
          <a:p>
            <a:pPr indent="0" marL="0">
              <a:buNone/>
            </a:pPr>
            <a:r>
              <a:rPr lang="en-US" sz="1500" b="1" dirty="0">
                <a:solidFill>
                  <a:schemeClr val="bg2"/>
                </a:solidFill>
              </a:rPr>
              <a:t>Questions for you today: which market do you know best? Who comes to mind first? What would make this a clear yes for you?</a:t>
            </a:r>
            <a:endParaRPr lang="en-US" sz="15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457200"/>
          </a:xfrm>
          <a:prstGeom prst="rect">
            <a:avLst/>
          </a:prstGeom>
          <a:noFill/>
          <a:ln/>
        </p:spPr>
        <p:txBody>
          <a:bodyPr wrap="square" lIns="0" tIns="0" rIns="0" bIns="0" rtlCol="0" anchor="t"/>
          <a:lstStyle/>
          <a:p>
            <a:pPr indent="0" marL="0">
              <a:buNone/>
            </a:pPr>
            <a:r>
              <a:rPr lang="en-US" sz="1400" b="1" spc="300" kern="0" dirty="0">
                <a:solidFill>
                  <a:schemeClr val="accent3"/>
                </a:solidFill>
              </a:rPr>
              <a:t>THANK YOU</a:t>
            </a:r>
            <a:endParaRPr lang="en-US" sz="1400" dirty="0"/>
          </a:p>
        </p:txBody>
      </p:sp>
      <p:sp>
        <p:nvSpPr>
          <p:cNvPr id="3" name="Text 0"/>
          <p:cNvSpPr/>
          <p:nvPr>
            <p:ph idx="101" type="title" hasCustomPrompt="1"/>
          </p:nvPr>
        </p:nvSpPr>
        <p:spPr>
          <a:xfrm>
            <a:off x="731520" y="1737360"/>
            <a:ext cx="10698480" cy="1737360"/>
          </a:xfrm>
          <a:prstGeom prst="rect">
            <a:avLst/>
          </a:prstGeom>
          <a:noFill/>
          <a:ln/>
        </p:spPr>
        <p:txBody>
          <a:bodyPr wrap="square" lIns="0" tIns="0" rIns="0" bIns="0" rtlCol="0" anchor="t"/>
          <a:lstStyle/>
          <a:p>
            <a:pPr algn="l" indent="0" marL="0">
              <a:buNone/>
            </a:pPr>
            <a:r>
              <a:rPr lang="en-US" sz="4800" b="1" dirty="0">
                <a:solidFill>
                  <a:schemeClr val="bg2"/>
                </a:solidFill>
                <a:latin typeface="Cambria" pitchFamily="34" charset="0"/>
                <a:ea typeface="Cambria" pitchFamily="34" charset="-122"/>
                <a:cs typeface="Cambria" pitchFamily="34" charset="-120"/>
              </a:rPr>
              <a:t>You know the rooms.</a:t>
            </a:r>
            <a:endParaRPr lang="en-US" sz="4800" dirty="0"/>
          </a:p>
          <a:p>
            <a:pPr algn="l" indent="0" marL="0">
              <a:buNone/>
            </a:pPr>
            <a:r>
              <a:rPr lang="en-US" sz="4800" b="1" dirty="0">
                <a:solidFill>
                  <a:schemeClr val="bg2"/>
                </a:solidFill>
                <a:latin typeface="Cambria" pitchFamily="34" charset="0"/>
                <a:ea typeface="Cambria" pitchFamily="34" charset="-122"/>
                <a:cs typeface="Cambria" pitchFamily="34" charset="-120"/>
              </a:rPr>
              <a:t>We build the engine.</a:t>
            </a:r>
            <a:endParaRPr lang="en-US" sz="4800" dirty="0"/>
          </a:p>
        </p:txBody>
      </p:sp>
      <p:sp>
        <p:nvSpPr>
          <p:cNvPr id="4" name="Text 0"/>
          <p:cNvSpPr/>
          <p:nvPr>
            <p:ph idx="102" type="body" hasCustomPrompt="1"/>
          </p:nvPr>
        </p:nvSpPr>
        <p:spPr>
          <a:xfrm>
            <a:off x="731520" y="3611880"/>
            <a:ext cx="9601200" cy="1097280"/>
          </a:xfrm>
          <a:prstGeom prst="rect">
            <a:avLst/>
          </a:prstGeom>
          <a:noFill/>
          <a:ln/>
        </p:spPr>
        <p:txBody>
          <a:bodyPr wrap="square" lIns="0" tIns="0" rIns="0" bIns="0" rtlCol="0" anchor="t"/>
          <a:lstStyle/>
          <a:p>
            <a:pPr indent="0" marL="0">
              <a:buNone/>
            </a:pPr>
            <a:r>
              <a:rPr lang="en-US" sz="2200" dirty="0">
                <a:solidFill>
                  <a:schemeClr val="accent4"/>
                </a:solidFill>
              </a:rPr>
              <a:t>Together: the right clients, a system that delivers for them, and proof that compounds.</a:t>
            </a:r>
            <a:endParaRPr lang="en-US" sz="2200" dirty="0"/>
          </a:p>
        </p:txBody>
      </p:sp>
      <p:sp>
        <p:nvSpPr>
          <p:cNvPr id="5" name="Text 0"/>
          <p:cNvSpPr/>
          <p:nvPr>
            <p:ph idx="103" type="body" hasCustomPrompt="1"/>
          </p:nvPr>
        </p:nvSpPr>
        <p:spPr>
          <a:xfrm>
            <a:off x="731520" y="5669280"/>
            <a:ext cx="10698480" cy="548640"/>
          </a:xfrm>
          <a:prstGeom prst="rect">
            <a:avLst/>
          </a:prstGeom>
          <a:noFill/>
          <a:ln/>
        </p:spPr>
        <p:txBody>
          <a:bodyPr wrap="square" lIns="0" tIns="0" rIns="0" bIns="0" rtlCol="0" anchor="t"/>
          <a:lstStyle/>
          <a:p>
            <a:pPr indent="0" marL="0">
              <a:buNone/>
            </a:pPr>
            <a:r>
              <a:rPr lang="en-US" sz="1400" dirty="0">
                <a:solidFill>
                  <a:schemeClr val="accent3"/>
                </a:solidFill>
              </a:rPr>
              <a:t>Devasya Dwivedi  ·  Anshul Mikita Prajapati  ·  admin@extolaffiliates.com  ·  extolaffiliates.com</a:t>
            </a:r>
            <a:endParaRPr lang="en-US" sz="1400" dirty="0"/>
          </a:p>
        </p:txBody>
      </p:sp>
    </p:spTree>
  </p:cSld>
  <p:clrMapOvr>
    <a:masterClrMapping/>
  </p:clrMapOvr>
</p:sld>
</file>

<file path=ppt/theme/theme1.xml><?xml version="1.0" encoding="utf-8"?>
<a:theme xmlns:a="http://schemas.openxmlformats.org/drawingml/2006/main" name="Extol Affiliates">
  <a:themeElements>
    <a:clrScheme name="Extol Affiliates">
      <a:dk1>
        <a:srgbClr val="101F14"/>
      </a:dk1>
      <a:lt1>
        <a:srgbClr val="FFFFFF"/>
      </a:lt1>
      <a:dk2>
        <a:srgbClr val="1D3524"/>
      </a:dk2>
      <a:lt2>
        <a:srgbClr val="E9F0C9"/>
      </a:lt2>
      <a:accent1>
        <a:srgbClr val="2B4A34"/>
      </a:accent1>
      <a:accent2>
        <a:srgbClr val="7E9C6B"/>
      </a:accent2>
      <a:accent3>
        <a:srgbClr val="9EBB80"/>
      </a:accent3>
      <a:accent4>
        <a:srgbClr val="C6DE9F"/>
      </a:accent4>
      <a:accent5>
        <a:srgbClr val="4E6E45"/>
      </a:accent5>
      <a:accent6>
        <a:srgbClr val="F3F7E4"/>
      </a:accent6>
      <a:hlink>
        <a:srgbClr val="2B4A34"/>
      </a:hlink>
      <a:folHlink>
        <a:srgbClr val="7E9C6B"/>
      </a:folHlink>
    </a:clrScheme>
    <a:fontScheme name="Extol Affiliate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Extol Affiliates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Extol Affiliates x David Samuel</dc:title>
  <dc:subject>PptxGenJS Presentation</dc:subject>
  <dc:creator>Extol Affiliates</dc:creator>
  <cp:lastModifiedBy>Extol Affiliates</cp:lastModifiedBy>
  <cp:revision>1</cp:revision>
  <dcterms:created xsi:type="dcterms:W3CDTF">2026-10-23T13:30:25Z</dcterms:created>
  <dcterms:modified xsi:type="dcterms:W3CDTF">2026-10-23T13:30:25Z</dcterms:modified>
</cp:coreProperties>
</file>